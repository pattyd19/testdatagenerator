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12.xml" ContentType="application/vnd.openxmlformats-officedocument.presentationml.slide+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7" r:id="rId1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  <Relationship Id="rId18" Type="http://schemas.openxmlformats.org/officeDocument/2006/relationships/slide" Target="slides/slide12.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TDG generates and loads realistic media libraries onto real devices, so apps that scan the gallery can be tested at scale.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gap is not media — it is media with the right metadata, at an exact size, that can be removed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downstream — the loaders, the manifest, the pairing code — follows from this constraint.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generator is Python; the control plane imports it directly and runs each build as a subprocess so cancel is a real kill and resume is free.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Exactness, believable metadata, reproducibility, reversibility, format fidelity, and self-verification.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things compound: a bigger seed pool, more variation per file, and a perceptual-hash gate that redraws a still landing too close to one already in the pack.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found three real bugs on first run, including one in the iOS loader that lost 300 MB of completed transfer.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Primary use case is backup and sync, but anything that scans a gallery benefits.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of the plan's six conformance devices are covered, including two physical handsets. The S24 and the iPhone 15 Pro are the runs that matter — everything else is a simulator.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is the one that blocks anything beyond a trusted lab network.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Summary: capability is done, hardening is what remains.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443A"/>
        </a:solidFill>
      </p:bgPr>
    </p:bg>
    <p:spTree>
      <p:nvGrpSpPr>
        <p:cNvPr id="1" name=""/>
        <p:cNvGrpSpPr/>
        <p:nvPr/>
      </p:nvGrpSpPr>
      <p:grpSpPr>
        <a:xfrm>
          <a:off x="0" y="0"/>
          <a:ext cx="0" cy="0"/>
          <a:chOff x="0" y="0"/>
          <a:chExt cx="0" cy="0"/>
        </a:xfrm>
      </p:grpSpPr>
      <p:pic>
        <p:nvPicPr>
          <p:cNvPr id="2" name="Image 0" descr="/Users/pdoran/Documents/Claude/TestDataGenerator/assets/logo-1024.png">    </p:cNvPr>
          <p:cNvPicPr>
            <a:picLocks noChangeAspect="1"/>
          </p:cNvPicPr>
          <p:nvPr/>
        </p:nvPicPr>
        <p:blipFill>
          <a:blip r:embed="rId1"/>
          <a:stretch>
            <a:fillRect/>
          </a:stretch>
        </p:blipFill>
        <p:spPr>
          <a:xfrm>
            <a:off x="548640" y="1417320"/>
            <a:ext cx="1508760" cy="1508760"/>
          </a:xfrm>
          <a:prstGeom prst="rect">
            <a:avLst/>
          </a:prstGeom>
        </p:spPr>
      </p:pic>
      <p:sp>
        <p:nvSpPr>
          <p:cNvPr id="3" name="Text 0"/>
          <p:cNvSpPr txBox="1"/>
          <p:nvPr/>
        </p:nvSpPr>
        <p:spPr>
          <a:xfrm>
            <a:off x="548640" y="3154680"/>
            <a:ext cx="7315200" cy="822960"/>
          </a:xfrm>
          <a:prstGeom prst="rect">
            <a:avLst/>
          </a:prstGeom>
          <a:noFill/>
          <a:ln/>
        </p:spPr>
        <p:txBody>
          <a:bodyPr wrap="square" lIns="0" tIns="0" rIns="0" bIns="0" rtlCol="0" anchor="ctr"/>
          <a:lstStyle/>
          <a:p>
            <a:pPr indent="0" marL="0">
              <a:buNone/>
            </a:pPr>
            <a:r>
              <a:rPr lang="en-US" sz="6000" b="1" dirty="0">
                <a:solidFill>
                  <a:srgbClr val="FFFFFF"/>
                </a:solidFill>
                <a:latin typeface="Cambria" pitchFamily="34" charset="0"/>
                <a:ea typeface="Cambria" pitchFamily="34" charset="-122"/>
                <a:cs typeface="Cambria" pitchFamily="34" charset="-120"/>
              </a:rPr>
              <a:t>TDG</a:t>
            </a:r>
            <a:endParaRPr lang="en-US" sz="6000" dirty="0"/>
          </a:p>
        </p:txBody>
      </p:sp>
      <p:sp>
        <p:nvSpPr>
          <p:cNvPr id="4" name="Text 1"/>
          <p:cNvSpPr txBox="1"/>
          <p:nvPr/>
        </p:nvSpPr>
        <p:spPr>
          <a:xfrm>
            <a:off x="548640" y="3977640"/>
            <a:ext cx="8229600" cy="457200"/>
          </a:xfrm>
          <a:prstGeom prst="rect">
            <a:avLst/>
          </a:prstGeom>
          <a:noFill/>
          <a:ln/>
        </p:spPr>
        <p:txBody>
          <a:bodyPr wrap="square" lIns="0" tIns="0" rIns="0" bIns="0" rtlCol="0" anchor="ctr"/>
          <a:lstStyle/>
          <a:p>
            <a:pPr indent="0" marL="0">
              <a:buNone/>
            </a:pPr>
            <a:r>
              <a:rPr lang="en-US" sz="2500" dirty="0">
                <a:solidFill>
                  <a:srgbClr val="AACABD"/>
                </a:solidFill>
                <a:latin typeface="Cambria" pitchFamily="34" charset="0"/>
                <a:ea typeface="Cambria" pitchFamily="34" charset="-122"/>
                <a:cs typeface="Cambria" pitchFamily="34" charset="-120"/>
              </a:rPr>
              <a:t>Mobile Test Data Generator</a:t>
            </a:r>
            <a:endParaRPr lang="en-US" sz="2500" dirty="0"/>
          </a:p>
        </p:txBody>
      </p:sp>
      <p:sp>
        <p:nvSpPr>
          <p:cNvPr id="5" name="Text 2"/>
          <p:cNvSpPr txBox="1"/>
          <p:nvPr/>
        </p:nvSpPr>
        <p:spPr>
          <a:xfrm>
            <a:off x="548640" y="4572000"/>
            <a:ext cx="7863840" cy="822960"/>
          </a:xfrm>
          <a:prstGeom prst="rect">
            <a:avLst/>
          </a:prstGeom>
          <a:noFill/>
          <a:ln/>
        </p:spPr>
        <p:txBody>
          <a:bodyPr wrap="square" lIns="0" tIns="0" rIns="0" bIns="0" rtlCol="0" anchor="ctr"/>
          <a:lstStyle/>
          <a:p>
            <a:pPr indent="0" marL="0">
              <a:lnSpc>
                <a:spcPts val="2200"/>
              </a:lnSpc>
              <a:buNone/>
            </a:pPr>
            <a:r>
              <a:rPr lang="en-US" sz="1450" dirty="0">
                <a:solidFill>
                  <a:srgbClr val="C9DBD3"/>
                </a:solidFill>
                <a:latin typeface="Calibri" pitchFamily="34" charset="0"/>
                <a:ea typeface="Calibri" pitchFamily="34" charset="-122"/>
                <a:cs typeface="Calibri" pitchFamily="34" charset="-120"/>
              </a:rPr>
              <a:t>Fill any iPhone or Android device with N gigabytes of realistic photos and video —</a:t>
            </a:r>
            <a:endParaRPr lang="en-US" sz="1450" dirty="0"/>
          </a:p>
          <a:p>
            <a:pPr indent="0" marL="0">
              <a:lnSpc>
                <a:spcPts val="2200"/>
              </a:lnSpc>
              <a:buNone/>
            </a:pPr>
            <a:r>
              <a:rPr lang="en-US" sz="1450" dirty="0">
                <a:solidFill>
                  <a:srgbClr val="C9DBD3"/>
                </a:solidFill>
                <a:latin typeface="Calibri" pitchFamily="34" charset="0"/>
                <a:ea typeface="Calibri" pitchFamily="34" charset="-122"/>
                <a:cs typeface="Calibri" pitchFamily="34" charset="-120"/>
              </a:rPr>
              <a:t>in the native camera roll, with believable metadata — and wipe it again on demand.</a:t>
            </a:r>
            <a:endParaRPr lang="en-US" sz="1450" dirty="0"/>
          </a:p>
        </p:txBody>
      </p:sp>
      <p:sp>
        <p:nvSpPr>
          <p:cNvPr id="6" name="Text 3"/>
          <p:cNvSpPr txBox="1"/>
          <p:nvPr/>
        </p:nvSpPr>
        <p:spPr>
          <a:xfrm>
            <a:off x="8686800" y="1572768"/>
            <a:ext cx="2926080" cy="566928"/>
          </a:xfrm>
          <a:prstGeom prst="rect">
            <a:avLst/>
          </a:prstGeom>
          <a:noFill/>
          <a:ln/>
        </p:spPr>
        <p:txBody>
          <a:bodyPr wrap="square" lIns="0" tIns="0" rIns="0" bIns="0" rtlCol="0" anchor="ctr"/>
          <a:lstStyle/>
          <a:p>
            <a:pPr algn="r" indent="0" marL="0">
              <a:buNone/>
            </a:pPr>
            <a:r>
              <a:rPr lang="en-US" sz="3400" b="1" dirty="0">
                <a:solidFill>
                  <a:srgbClr val="FFFFFF"/>
                </a:solidFill>
                <a:latin typeface="Cambria" pitchFamily="34" charset="0"/>
                <a:ea typeface="Cambria" pitchFamily="34" charset="-122"/>
                <a:cs typeface="Cambria" pitchFamily="34" charset="-120"/>
              </a:rPr>
              <a:t>7</a:t>
            </a:r>
            <a:endParaRPr lang="en-US" sz="3400" dirty="0"/>
          </a:p>
        </p:txBody>
      </p:sp>
      <p:sp>
        <p:nvSpPr>
          <p:cNvPr id="7" name="Text 4"/>
          <p:cNvSpPr txBox="1"/>
          <p:nvPr/>
        </p:nvSpPr>
        <p:spPr>
          <a:xfrm>
            <a:off x="8686800" y="2121408"/>
            <a:ext cx="2926080" cy="310896"/>
          </a:xfrm>
          <a:prstGeom prst="rect">
            <a:avLst/>
          </a:prstGeom>
          <a:noFill/>
          <a:ln/>
        </p:spPr>
        <p:txBody>
          <a:bodyPr wrap="square" lIns="0" tIns="0" rIns="0" bIns="0" rtlCol="0" anchor="ctr"/>
          <a:lstStyle/>
          <a:p>
            <a:pPr algn="r" indent="0" marL="0">
              <a:buNone/>
            </a:pPr>
            <a:r>
              <a:rPr lang="en-US" sz="1400" dirty="0">
                <a:solidFill>
                  <a:srgbClr val="AACABD"/>
                </a:solidFill>
                <a:latin typeface="Calibri" pitchFamily="34" charset="0"/>
                <a:ea typeface="Calibri" pitchFamily="34" charset="-122"/>
                <a:cs typeface="Calibri" pitchFamily="34" charset="-120"/>
              </a:rPr>
              <a:t>phases built</a:t>
            </a:r>
            <a:endParaRPr lang="en-US" sz="1400" dirty="0"/>
          </a:p>
        </p:txBody>
      </p:sp>
      <p:sp>
        <p:nvSpPr>
          <p:cNvPr id="8" name="Text 5"/>
          <p:cNvSpPr txBox="1"/>
          <p:nvPr/>
        </p:nvSpPr>
        <p:spPr>
          <a:xfrm>
            <a:off x="8686800" y="2798064"/>
            <a:ext cx="2926080" cy="566928"/>
          </a:xfrm>
          <a:prstGeom prst="rect">
            <a:avLst/>
          </a:prstGeom>
          <a:noFill/>
          <a:ln/>
        </p:spPr>
        <p:txBody>
          <a:bodyPr wrap="square" lIns="0" tIns="0" rIns="0" bIns="0" rtlCol="0" anchor="ctr"/>
          <a:lstStyle/>
          <a:p>
            <a:pPr algn="r" indent="0" marL="0">
              <a:buNone/>
            </a:pPr>
            <a:r>
              <a:rPr lang="en-US" sz="3400" b="1" dirty="0">
                <a:solidFill>
                  <a:srgbClr val="FFFFFF"/>
                </a:solidFill>
                <a:latin typeface="Cambria" pitchFamily="34" charset="0"/>
                <a:ea typeface="Cambria" pitchFamily="34" charset="-122"/>
                <a:cs typeface="Cambria" pitchFamily="34" charset="-120"/>
              </a:rPr>
              <a:t>4 of 6</a:t>
            </a:r>
            <a:endParaRPr lang="en-US" sz="3400" dirty="0"/>
          </a:p>
        </p:txBody>
      </p:sp>
      <p:sp>
        <p:nvSpPr>
          <p:cNvPr id="9" name="Text 6"/>
          <p:cNvSpPr txBox="1"/>
          <p:nvPr/>
        </p:nvSpPr>
        <p:spPr>
          <a:xfrm>
            <a:off x="8686800" y="3346704"/>
            <a:ext cx="2926080" cy="310896"/>
          </a:xfrm>
          <a:prstGeom prst="rect">
            <a:avLst/>
          </a:prstGeom>
          <a:noFill/>
          <a:ln/>
        </p:spPr>
        <p:txBody>
          <a:bodyPr wrap="square" lIns="0" tIns="0" rIns="0" bIns="0" rtlCol="0" anchor="ctr"/>
          <a:lstStyle/>
          <a:p>
            <a:pPr algn="r" indent="0" marL="0">
              <a:buNone/>
            </a:pPr>
            <a:r>
              <a:rPr lang="en-US" sz="1400" dirty="0">
                <a:solidFill>
                  <a:srgbClr val="AACABD"/>
                </a:solidFill>
                <a:latin typeface="Calibri" pitchFamily="34" charset="0"/>
                <a:ea typeface="Calibri" pitchFamily="34" charset="-122"/>
                <a:cs typeface="Calibri" pitchFamily="34" charset="-120"/>
              </a:rPr>
              <a:t>devices verified</a:t>
            </a:r>
            <a:endParaRPr lang="en-US" sz="1400" dirty="0"/>
          </a:p>
        </p:txBody>
      </p:sp>
      <p:sp>
        <p:nvSpPr>
          <p:cNvPr id="10" name="Text 7"/>
          <p:cNvSpPr txBox="1"/>
          <p:nvPr/>
        </p:nvSpPr>
        <p:spPr>
          <a:xfrm>
            <a:off x="8686800" y="4023360"/>
            <a:ext cx="2926080" cy="566928"/>
          </a:xfrm>
          <a:prstGeom prst="rect">
            <a:avLst/>
          </a:prstGeom>
          <a:noFill/>
          <a:ln/>
        </p:spPr>
        <p:txBody>
          <a:bodyPr wrap="square" lIns="0" tIns="0" rIns="0" bIns="0" rtlCol="0" anchor="ctr"/>
          <a:lstStyle/>
          <a:p>
            <a:pPr algn="r" indent="0" marL="0">
              <a:buNone/>
            </a:pPr>
            <a:r>
              <a:rPr lang="en-US" sz="3400" b="1" dirty="0">
                <a:solidFill>
                  <a:srgbClr val="FFFFFF"/>
                </a:solidFill>
                <a:latin typeface="Cambria" pitchFamily="34" charset="0"/>
                <a:ea typeface="Cambria" pitchFamily="34" charset="-122"/>
                <a:cs typeface="Cambria" pitchFamily="34" charset="-120"/>
              </a:rPr>
              <a:t>205</a:t>
            </a:r>
            <a:endParaRPr lang="en-US" sz="3400" dirty="0"/>
          </a:p>
        </p:txBody>
      </p:sp>
      <p:sp>
        <p:nvSpPr>
          <p:cNvPr id="11" name="Text 8"/>
          <p:cNvSpPr txBox="1"/>
          <p:nvPr/>
        </p:nvSpPr>
        <p:spPr>
          <a:xfrm>
            <a:off x="8686800" y="4572000"/>
            <a:ext cx="2926080" cy="310896"/>
          </a:xfrm>
          <a:prstGeom prst="rect">
            <a:avLst/>
          </a:prstGeom>
          <a:noFill/>
          <a:ln/>
        </p:spPr>
        <p:txBody>
          <a:bodyPr wrap="square" lIns="0" tIns="0" rIns="0" bIns="0" rtlCol="0" anchor="ctr"/>
          <a:lstStyle/>
          <a:p>
            <a:pPr algn="r" indent="0" marL="0">
              <a:buNone/>
            </a:pPr>
            <a:r>
              <a:rPr lang="en-US" sz="1400" dirty="0">
                <a:solidFill>
                  <a:srgbClr val="AACABD"/>
                </a:solidFill>
                <a:latin typeface="Calibri" pitchFamily="34" charset="0"/>
                <a:ea typeface="Calibri" pitchFamily="34" charset="-122"/>
                <a:cs typeface="Calibri" pitchFamily="34" charset="-120"/>
              </a:rPr>
              <a:t>automated checks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274320"/>
            <a:ext cx="11064240" cy="274320"/>
          </a:xfrm>
          <a:prstGeom prst="rect">
            <a:avLst/>
          </a:prstGeom>
          <a:noFill/>
          <a:ln/>
        </p:spPr>
        <p:txBody>
          <a:bodyPr wrap="square" lIns="0" tIns="0" rIns="0" bIns="0" rtlCol="0" anchor="ctr"/>
          <a:lstStyle/>
          <a:p>
            <a:pPr indent="0" marL="0">
              <a:buNone/>
            </a:pPr>
            <a:r>
              <a:rPr lang="en-US" sz="1400" b="1" spc="200" kern="0" dirty="0">
                <a:solidFill>
                  <a:srgbClr val="2F5D50"/>
                </a:solidFill>
                <a:latin typeface="Calibri" pitchFamily="34" charset="0"/>
                <a:ea typeface="Calibri" pitchFamily="34" charset="-122"/>
                <a:cs typeface="Calibri" pitchFamily="34" charset="-120"/>
              </a:rPr>
              <a:t>THE PROBLEM</a:t>
            </a:r>
            <a:endParaRPr lang="en-US" sz="1400" dirty="0"/>
          </a:p>
        </p:txBody>
      </p:sp>
      <p:sp>
        <p:nvSpPr>
          <p:cNvPr id="3" name="Text 1"/>
          <p:cNvSpPr txBox="1"/>
          <p:nvPr/>
        </p:nvSpPr>
        <p:spPr>
          <a:xfrm>
            <a:off x="548640" y="585216"/>
            <a:ext cx="11064240" cy="713232"/>
          </a:xfrm>
          <a:prstGeom prst="rect">
            <a:avLst/>
          </a:prstGeom>
          <a:noFill/>
          <a:ln/>
        </p:spPr>
        <p:txBody>
          <a:bodyPr wrap="square" lIns="0" tIns="0" rIns="0" bIns="0" rtlCol="0" anchor="ctr"/>
          <a:lstStyle/>
          <a:p>
            <a:pPr indent="0" marL="0">
              <a:buNone/>
            </a:pPr>
            <a:r>
              <a:rPr lang="en-US" sz="3200" b="1" dirty="0">
                <a:solidFill>
                  <a:srgbClr val="1B1A18"/>
                </a:solidFill>
                <a:latin typeface="Cambria" pitchFamily="34" charset="0"/>
                <a:ea typeface="Cambria" pitchFamily="34" charset="-122"/>
                <a:cs typeface="Cambria" pitchFamily="34" charset="-120"/>
              </a:rPr>
              <a:t>Testing a gallery app needs a gallery</a:t>
            </a:r>
            <a:endParaRPr lang="en-US" sz="3200" dirty="0"/>
          </a:p>
        </p:txBody>
      </p:sp>
      <p:sp>
        <p:nvSpPr>
          <p:cNvPr id="4" name="Text 2"/>
          <p:cNvSpPr txBox="1"/>
          <p:nvPr/>
        </p:nvSpPr>
        <p:spPr>
          <a:xfrm>
            <a:off x="548640" y="1554480"/>
            <a:ext cx="6309360" cy="3657600"/>
          </a:xfrm>
          <a:prstGeom prst="rect">
            <a:avLst/>
          </a:prstGeom>
          <a:noFill/>
          <a:ln/>
        </p:spPr>
        <p:txBody>
          <a:bodyPr wrap="square" lIns="0" tIns="0" rIns="0" bIns="0" rtlCol="0" anchor="t"/>
          <a:lstStyle/>
          <a:p>
            <a:pPr indent="0" marL="0">
              <a:lnSpc>
                <a:spcPts val="2100"/>
              </a:lnSpc>
              <a:spcAft>
                <a:spcPts val="1000"/>
              </a:spcAft>
              <a:buNone/>
            </a:pPr>
            <a:r>
              <a:rPr lang="en-US" sz="1450" dirty="0">
                <a:solidFill>
                  <a:srgbClr val="1B1A18"/>
                </a:solidFill>
                <a:latin typeface="Calibri" pitchFamily="34" charset="0"/>
                <a:ea typeface="Calibri" pitchFamily="34" charset="-122"/>
                <a:cs typeface="Calibri" pitchFamily="34" charset="-120"/>
              </a:rPr>
              <a:t>Backup clients, dedupe engines, timeline and album grouping, migration tools — all of them are only as good as the library you point them at.</a:t>
            </a:r>
            <a:endParaRPr lang="en-US" sz="1450" dirty="0"/>
          </a:p>
          <a:p>
            <a:pPr indent="0" marL="0">
              <a:lnSpc>
                <a:spcPts val="2100"/>
              </a:lnSpc>
              <a:spcAft>
                <a:spcPts val="1000"/>
              </a:spcAft>
              <a:buNone/>
            </a:pPr>
            <a:r>
              <a:rPr lang="en-US" sz="1450" dirty="0">
                <a:solidFill>
                  <a:srgbClr val="1B1A18"/>
                </a:solidFill>
                <a:latin typeface="Calibri" pitchFamily="34" charset="0"/>
                <a:ea typeface="Calibri" pitchFamily="34" charset="-122"/>
                <a:cs typeface="Calibri" pitchFamily="34" charset="-120"/>
              </a:rPr>
              <a:t>And a realistic library is hard to come by:</a:t>
            </a:r>
            <a:endParaRPr lang="en-US" sz="1450" dirty="0"/>
          </a:p>
          <a:p>
            <a:pPr marL="342900" indent="-342900">
              <a:lnSpc>
                <a:spcPts val="2100"/>
              </a:lnSpc>
              <a:spcAft>
                <a:spcPts val="600"/>
              </a:spcAft>
              <a:buSzPct val="100000"/>
              <a:buChar char="•"/>
            </a:pPr>
            <a:r>
              <a:rPr lang="en-US" sz="1450" dirty="0">
                <a:solidFill>
                  <a:srgbClr val="1B1A18"/>
                </a:solidFill>
                <a:latin typeface="Calibri" pitchFamily="34" charset="0"/>
                <a:ea typeface="Calibri" pitchFamily="34" charset="-122"/>
                <a:cs typeface="Calibri" pitchFamily="34" charset="-120"/>
              </a:rPr>
              <a:t>hand-curating thousands of assets is impractical, and nobody wants to test against real customer photos</a:t>
            </a:r>
            <a:endParaRPr lang="en-US" sz="1450" dirty="0"/>
          </a:p>
          <a:p>
            <a:pPr marL="342900" indent="-342900">
              <a:lnSpc>
                <a:spcPts val="2100"/>
              </a:lnSpc>
              <a:spcAft>
                <a:spcPts val="600"/>
              </a:spcAft>
              <a:buSzPct val="100000"/>
              <a:buChar char="•"/>
            </a:pPr>
            <a:r>
              <a:rPr lang="en-US" sz="1450" dirty="0">
                <a:solidFill>
                  <a:srgbClr val="1B1A18"/>
                </a:solidFill>
                <a:latin typeface="Calibri" pitchFamily="34" charset="0"/>
                <a:ea typeface="Calibri" pitchFamily="34" charset="-122"/>
                <a:cs typeface="Calibri" pitchFamily="34" charset="-120"/>
              </a:rPr>
              <a:t>copied files are not enough — a gallery indexes metadata, not bytes on disk</a:t>
            </a:r>
            <a:endParaRPr lang="en-US" sz="1450" dirty="0"/>
          </a:p>
          <a:p>
            <a:pPr marL="342900" indent="-342900">
              <a:lnSpc>
                <a:spcPts val="2100"/>
              </a:lnSpc>
              <a:spcAft>
                <a:spcPts val="600"/>
              </a:spcAft>
              <a:buSzPct val="100000"/>
              <a:buChar char="•"/>
            </a:pPr>
            <a:r>
              <a:rPr lang="en-US" sz="1450" dirty="0">
                <a:solidFill>
                  <a:srgbClr val="1B1A18"/>
                </a:solidFill>
                <a:latin typeface="Calibri" pitchFamily="34" charset="0"/>
                <a:ea typeface="Calibri" pitchFamily="34" charset="-122"/>
                <a:cs typeface="Calibri" pitchFamily="34" charset="-120"/>
              </a:rPr>
              <a:t>"about 25 GB" is not a test — storage and quota bugs live at exact boundaries</a:t>
            </a:r>
            <a:endParaRPr lang="en-US" sz="1450" dirty="0"/>
          </a:p>
          <a:p>
            <a:pPr marL="342900" indent="-342900">
              <a:lnSpc>
                <a:spcPts val="2100"/>
              </a:lnSpc>
              <a:buSzPct val="100000"/>
              <a:buChar char="•"/>
            </a:pPr>
            <a:r>
              <a:rPr lang="en-US" sz="1450" dirty="0">
                <a:solidFill>
                  <a:srgbClr val="1B1A18"/>
                </a:solidFill>
                <a:latin typeface="Calibri" pitchFamily="34" charset="0"/>
                <a:ea typeface="Calibri" pitchFamily="34" charset="-122"/>
                <a:cs typeface="Calibri" pitchFamily="34" charset="-120"/>
              </a:rPr>
              <a:t>and whatever you put on the device, you have to get back off it</a:t>
            </a:r>
            <a:endParaRPr lang="en-US" sz="1450" dirty="0"/>
          </a:p>
        </p:txBody>
      </p:sp>
      <p:sp>
        <p:nvSpPr>
          <p:cNvPr id="5" name="Shape 3"/>
          <p:cNvSpPr/>
          <p:nvPr/>
        </p:nvSpPr>
        <p:spPr>
          <a:xfrm>
            <a:off x="7223760" y="1572768"/>
            <a:ext cx="4389120" cy="1097280"/>
          </a:xfrm>
          <a:prstGeom prst="roundRect">
            <a:avLst>
              <a:gd name="adj" fmla="val 7500"/>
            </a:avLst>
          </a:prstGeom>
          <a:solidFill>
            <a:srgbClr val="E4EEE9"/>
          </a:solidFill>
          <a:ln w="12700">
            <a:solidFill>
              <a:srgbClr val="E4EEE9"/>
            </a:solidFill>
            <a:prstDash val="solid"/>
          </a:ln>
        </p:spPr>
      </p:sp>
      <p:sp>
        <p:nvSpPr>
          <p:cNvPr id="6" name="Text 4"/>
          <p:cNvSpPr txBox="1"/>
          <p:nvPr/>
        </p:nvSpPr>
        <p:spPr>
          <a:xfrm>
            <a:off x="7498080" y="1709928"/>
            <a:ext cx="3840480" cy="347472"/>
          </a:xfrm>
          <a:prstGeom prst="rect">
            <a:avLst/>
          </a:prstGeom>
          <a:noFill/>
          <a:ln/>
        </p:spPr>
        <p:txBody>
          <a:bodyPr wrap="square" lIns="0" tIns="0" rIns="0" bIns="0" rtlCol="0" anchor="ctr"/>
          <a:lstStyle/>
          <a:p>
            <a:pPr indent="0" marL="0">
              <a:buNone/>
            </a:pPr>
            <a:r>
              <a:rPr lang="en-US" sz="1800" b="1" dirty="0">
                <a:solidFill>
                  <a:srgbClr val="2F5D50"/>
                </a:solidFill>
                <a:latin typeface="Cambria" pitchFamily="34" charset="0"/>
                <a:ea typeface="Cambria" pitchFamily="34" charset="-122"/>
                <a:cs typeface="Cambria" pitchFamily="34" charset="-120"/>
              </a:rPr>
              <a:t>Exact</a:t>
            </a:r>
            <a:endParaRPr lang="en-US" sz="1800" dirty="0"/>
          </a:p>
        </p:txBody>
      </p:sp>
      <p:sp>
        <p:nvSpPr>
          <p:cNvPr id="7" name="Text 5"/>
          <p:cNvSpPr txBox="1"/>
          <p:nvPr/>
        </p:nvSpPr>
        <p:spPr>
          <a:xfrm>
            <a:off x="7498080" y="2084832"/>
            <a:ext cx="3931920" cy="475488"/>
          </a:xfrm>
          <a:prstGeom prst="rect">
            <a:avLst/>
          </a:prstGeom>
          <a:noFill/>
          <a:ln/>
        </p:spPr>
        <p:txBody>
          <a:bodyPr wrap="square" lIns="0" tIns="0" rIns="0" bIns="0" rtlCol="0" anchor="t"/>
          <a:lstStyle/>
          <a:p>
            <a:pPr indent="0" marL="0">
              <a:buNone/>
            </a:pPr>
            <a:r>
              <a:rPr lang="en-US" sz="1400" dirty="0">
                <a:solidFill>
                  <a:srgbClr val="6D6A64"/>
                </a:solidFill>
                <a:latin typeface="Calibri" pitchFamily="34" charset="0"/>
                <a:ea typeface="Calibri" pitchFamily="34" charset="-122"/>
                <a:cs typeface="Calibri" pitchFamily="34" charset="-120"/>
              </a:rPr>
              <a:t>byte-accurate size targets, not estimates</a:t>
            </a:r>
            <a:endParaRPr lang="en-US" sz="1400" dirty="0"/>
          </a:p>
        </p:txBody>
      </p:sp>
      <p:sp>
        <p:nvSpPr>
          <p:cNvPr id="8" name="Shape 6"/>
          <p:cNvSpPr/>
          <p:nvPr/>
        </p:nvSpPr>
        <p:spPr>
          <a:xfrm>
            <a:off x="7223760" y="2852928"/>
            <a:ext cx="4389120" cy="1097280"/>
          </a:xfrm>
          <a:prstGeom prst="roundRect">
            <a:avLst>
              <a:gd name="adj" fmla="val 7500"/>
            </a:avLst>
          </a:prstGeom>
          <a:solidFill>
            <a:srgbClr val="E4EEE9"/>
          </a:solidFill>
          <a:ln w="12700">
            <a:solidFill>
              <a:srgbClr val="E4EEE9"/>
            </a:solidFill>
            <a:prstDash val="solid"/>
          </a:ln>
        </p:spPr>
      </p:sp>
      <p:sp>
        <p:nvSpPr>
          <p:cNvPr id="9" name="Text 7"/>
          <p:cNvSpPr txBox="1"/>
          <p:nvPr/>
        </p:nvSpPr>
        <p:spPr>
          <a:xfrm>
            <a:off x="7498080" y="2990088"/>
            <a:ext cx="3840480" cy="347472"/>
          </a:xfrm>
          <a:prstGeom prst="rect">
            <a:avLst/>
          </a:prstGeom>
          <a:noFill/>
          <a:ln/>
        </p:spPr>
        <p:txBody>
          <a:bodyPr wrap="square" lIns="0" tIns="0" rIns="0" bIns="0" rtlCol="0" anchor="ctr"/>
          <a:lstStyle/>
          <a:p>
            <a:pPr indent="0" marL="0">
              <a:buNone/>
            </a:pPr>
            <a:r>
              <a:rPr lang="en-US" sz="1800" b="1" dirty="0">
                <a:solidFill>
                  <a:srgbClr val="2F5D50"/>
                </a:solidFill>
                <a:latin typeface="Cambria" pitchFamily="34" charset="0"/>
                <a:ea typeface="Cambria" pitchFamily="34" charset="-122"/>
                <a:cs typeface="Cambria" pitchFamily="34" charset="-120"/>
              </a:rPr>
              <a:t>Real</a:t>
            </a:r>
            <a:endParaRPr lang="en-US" sz="1800" dirty="0"/>
          </a:p>
        </p:txBody>
      </p:sp>
      <p:sp>
        <p:nvSpPr>
          <p:cNvPr id="10" name="Text 8"/>
          <p:cNvSpPr txBox="1"/>
          <p:nvPr/>
        </p:nvSpPr>
        <p:spPr>
          <a:xfrm>
            <a:off x="7498080" y="3364992"/>
            <a:ext cx="3931920" cy="475488"/>
          </a:xfrm>
          <a:prstGeom prst="rect">
            <a:avLst/>
          </a:prstGeom>
          <a:noFill/>
          <a:ln/>
        </p:spPr>
        <p:txBody>
          <a:bodyPr wrap="square" lIns="0" tIns="0" rIns="0" bIns="0" rtlCol="0" anchor="t"/>
          <a:lstStyle/>
          <a:p>
            <a:pPr indent="0" marL="0">
              <a:buNone/>
            </a:pPr>
            <a:r>
              <a:rPr lang="en-US" sz="1400" dirty="0">
                <a:solidFill>
                  <a:srgbClr val="6D6A64"/>
                </a:solidFill>
                <a:latin typeface="Calibri" pitchFamily="34" charset="0"/>
                <a:ea typeface="Calibri" pitchFamily="34" charset="-122"/>
                <a:cs typeface="Calibri" pitchFamily="34" charset="-120"/>
              </a:rPr>
              <a:t>metadata a gallery will actually index</a:t>
            </a:r>
            <a:endParaRPr lang="en-US" sz="1400" dirty="0"/>
          </a:p>
        </p:txBody>
      </p:sp>
      <p:sp>
        <p:nvSpPr>
          <p:cNvPr id="11" name="Shape 9"/>
          <p:cNvSpPr/>
          <p:nvPr/>
        </p:nvSpPr>
        <p:spPr>
          <a:xfrm>
            <a:off x="7223760" y="4133088"/>
            <a:ext cx="4389120" cy="1097280"/>
          </a:xfrm>
          <a:prstGeom prst="roundRect">
            <a:avLst>
              <a:gd name="adj" fmla="val 7500"/>
            </a:avLst>
          </a:prstGeom>
          <a:solidFill>
            <a:srgbClr val="E4EEE9"/>
          </a:solidFill>
          <a:ln w="12700">
            <a:solidFill>
              <a:srgbClr val="E4EEE9"/>
            </a:solidFill>
            <a:prstDash val="solid"/>
          </a:ln>
        </p:spPr>
      </p:sp>
      <p:sp>
        <p:nvSpPr>
          <p:cNvPr id="12" name="Text 10"/>
          <p:cNvSpPr txBox="1"/>
          <p:nvPr/>
        </p:nvSpPr>
        <p:spPr>
          <a:xfrm>
            <a:off x="7498080" y="4270248"/>
            <a:ext cx="3840480" cy="347472"/>
          </a:xfrm>
          <a:prstGeom prst="rect">
            <a:avLst/>
          </a:prstGeom>
          <a:noFill/>
          <a:ln/>
        </p:spPr>
        <p:txBody>
          <a:bodyPr wrap="square" lIns="0" tIns="0" rIns="0" bIns="0" rtlCol="0" anchor="ctr"/>
          <a:lstStyle/>
          <a:p>
            <a:pPr indent="0" marL="0">
              <a:buNone/>
            </a:pPr>
            <a:r>
              <a:rPr lang="en-US" sz="1800" b="1" dirty="0">
                <a:solidFill>
                  <a:srgbClr val="2F5D50"/>
                </a:solidFill>
                <a:latin typeface="Cambria" pitchFamily="34" charset="0"/>
                <a:ea typeface="Cambria" pitchFamily="34" charset="-122"/>
                <a:cs typeface="Cambria" pitchFamily="34" charset="-120"/>
              </a:rPr>
              <a:t>Reversible</a:t>
            </a:r>
            <a:endParaRPr lang="en-US" sz="1800" dirty="0"/>
          </a:p>
        </p:txBody>
      </p:sp>
      <p:sp>
        <p:nvSpPr>
          <p:cNvPr id="13" name="Text 11"/>
          <p:cNvSpPr txBox="1"/>
          <p:nvPr/>
        </p:nvSpPr>
        <p:spPr>
          <a:xfrm>
            <a:off x="7498080" y="4645152"/>
            <a:ext cx="3931920" cy="475488"/>
          </a:xfrm>
          <a:prstGeom prst="rect">
            <a:avLst/>
          </a:prstGeom>
          <a:noFill/>
          <a:ln/>
        </p:spPr>
        <p:txBody>
          <a:bodyPr wrap="square" lIns="0" tIns="0" rIns="0" bIns="0" rtlCol="0" anchor="t"/>
          <a:lstStyle/>
          <a:p>
            <a:pPr indent="0" marL="0">
              <a:buNone/>
            </a:pPr>
            <a:r>
              <a:rPr lang="en-US" sz="1400" dirty="0">
                <a:solidFill>
                  <a:srgbClr val="6D6A64"/>
                </a:solidFill>
                <a:latin typeface="Calibri" pitchFamily="34" charset="0"/>
                <a:ea typeface="Calibri" pitchFamily="34" charset="-122"/>
                <a:cs typeface="Calibri" pitchFamily="34" charset="-120"/>
              </a:rPr>
              <a:t>every asset removable on demand</a:t>
            </a:r>
            <a:endParaRPr lang="en-US" sz="1400" dirty="0"/>
          </a:p>
        </p:txBody>
      </p:sp>
      <p:sp>
        <p:nvSpPr>
          <p:cNvPr id="14" name="Text 12"/>
          <p:cNvSpPr txBox="1"/>
          <p:nvPr/>
        </p:nvSpPr>
        <p:spPr>
          <a:xfrm>
            <a:off x="548640" y="5577840"/>
            <a:ext cx="11064240" cy="384048"/>
          </a:xfrm>
          <a:prstGeom prst="rect">
            <a:avLst/>
          </a:prstGeom>
          <a:noFill/>
          <a:ln/>
        </p:spPr>
        <p:txBody>
          <a:bodyPr wrap="square" lIns="0" tIns="0" rIns="0" bIns="0" rtlCol="0" anchor="ctr"/>
          <a:lstStyle/>
          <a:p>
            <a:pPr indent="0" marL="0">
              <a:buNone/>
            </a:pPr>
            <a:r>
              <a:rPr lang="en-US" sz="1600" i="1" dirty="0">
                <a:solidFill>
                  <a:srgbClr val="9C4A32"/>
                </a:solidFill>
                <a:latin typeface="Cambria" pitchFamily="34" charset="0"/>
                <a:ea typeface="Cambria" pitchFamily="34" charset="-122"/>
                <a:cs typeface="Cambria" pitchFamily="34" charset="-120"/>
              </a:rPr>
              <a:t>A test you cannot undo is a test you run once.</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274320"/>
            <a:ext cx="11064240" cy="274320"/>
          </a:xfrm>
          <a:prstGeom prst="rect">
            <a:avLst/>
          </a:prstGeom>
          <a:noFill/>
          <a:ln/>
        </p:spPr>
        <p:txBody>
          <a:bodyPr wrap="square" lIns="0" tIns="0" rIns="0" bIns="0" rtlCol="0" anchor="ctr"/>
          <a:lstStyle/>
          <a:p>
            <a:pPr indent="0" marL="0">
              <a:buNone/>
            </a:pPr>
            <a:r>
              <a:rPr lang="en-US" sz="1400" b="1" spc="200" kern="0" dirty="0">
                <a:solidFill>
                  <a:srgbClr val="2F5D50"/>
                </a:solidFill>
                <a:latin typeface="Calibri" pitchFamily="34" charset="0"/>
                <a:ea typeface="Calibri" pitchFamily="34" charset="-122"/>
                <a:cs typeface="Calibri" pitchFamily="34" charset="-120"/>
              </a:rPr>
              <a:t>THE CONSTRAINT THAT SHAPES EVERYTHING</a:t>
            </a:r>
            <a:endParaRPr lang="en-US" sz="1400" dirty="0"/>
          </a:p>
        </p:txBody>
      </p:sp>
      <p:sp>
        <p:nvSpPr>
          <p:cNvPr id="3" name="Text 1"/>
          <p:cNvSpPr txBox="1"/>
          <p:nvPr/>
        </p:nvSpPr>
        <p:spPr>
          <a:xfrm>
            <a:off x="548640" y="585216"/>
            <a:ext cx="11064240" cy="713232"/>
          </a:xfrm>
          <a:prstGeom prst="rect">
            <a:avLst/>
          </a:prstGeom>
          <a:noFill/>
          <a:ln/>
        </p:spPr>
        <p:txBody>
          <a:bodyPr wrap="square" lIns="0" tIns="0" rIns="0" bIns="0" rtlCol="0" anchor="ctr"/>
          <a:lstStyle/>
          <a:p>
            <a:pPr indent="0" marL="0">
              <a:buNone/>
            </a:pPr>
            <a:r>
              <a:rPr lang="en-US" sz="3200" b="1" dirty="0">
                <a:solidFill>
                  <a:srgbClr val="1B1A18"/>
                </a:solidFill>
                <a:latin typeface="Cambria" pitchFamily="34" charset="0"/>
                <a:ea typeface="Cambria" pitchFamily="34" charset="-122"/>
                <a:cs typeface="Cambria" pitchFamily="34" charset="-120"/>
              </a:rPr>
              <a:t>A browser cannot write to the camera roll</a:t>
            </a:r>
            <a:endParaRPr lang="en-US" sz="3200" dirty="0"/>
          </a:p>
        </p:txBody>
      </p:sp>
      <p:sp>
        <p:nvSpPr>
          <p:cNvPr id="4" name="Text 2"/>
          <p:cNvSpPr txBox="1"/>
          <p:nvPr/>
        </p:nvSpPr>
        <p:spPr>
          <a:xfrm>
            <a:off x="548640" y="1426464"/>
            <a:ext cx="11064240" cy="329184"/>
          </a:xfrm>
          <a:prstGeom prst="rect">
            <a:avLst/>
          </a:prstGeom>
          <a:noFill/>
          <a:ln/>
        </p:spPr>
        <p:txBody>
          <a:bodyPr wrap="square" lIns="0" tIns="0" rIns="0" bIns="0" rtlCol="0" anchor="ctr"/>
          <a:lstStyle/>
          <a:p>
            <a:pPr indent="0" marL="0">
              <a:buNone/>
            </a:pPr>
            <a:r>
              <a:rPr lang="en-US" sz="1400" dirty="0">
                <a:solidFill>
                  <a:srgbClr val="6D6A64"/>
                </a:solidFill>
                <a:latin typeface="Calibri" pitchFamily="34" charset="0"/>
                <a:ea typeface="Calibri" pitchFamily="34" charset="-122"/>
                <a:cs typeface="Calibri" pitchFamily="34" charset="-120"/>
              </a:rPr>
              <a:t>This single fact determines the whole architecture. Downloads land in a sandbox, not the gallery.</a:t>
            </a:r>
            <a:endParaRPr lang="en-US" sz="1400" dirty="0"/>
          </a:p>
        </p:txBody>
      </p:sp>
      <p:sp>
        <p:nvSpPr>
          <p:cNvPr id="5" name="Shape 3"/>
          <p:cNvSpPr/>
          <p:nvPr/>
        </p:nvSpPr>
        <p:spPr>
          <a:xfrm>
            <a:off x="548640" y="1938528"/>
            <a:ext cx="11064240" cy="1005840"/>
          </a:xfrm>
          <a:prstGeom prst="roundRect">
            <a:avLst>
              <a:gd name="adj" fmla="val 8182"/>
            </a:avLst>
          </a:prstGeom>
          <a:solidFill>
            <a:srgbClr val="E4EEE9"/>
          </a:solidFill>
          <a:ln w="12700">
            <a:solidFill>
              <a:srgbClr val="E4EEE9"/>
            </a:solidFill>
            <a:prstDash val="solid"/>
          </a:ln>
        </p:spPr>
      </p:sp>
      <p:sp>
        <p:nvSpPr>
          <p:cNvPr id="6" name="Text 4"/>
          <p:cNvSpPr txBox="1"/>
          <p:nvPr/>
        </p:nvSpPr>
        <p:spPr>
          <a:xfrm>
            <a:off x="868680" y="2084832"/>
            <a:ext cx="2011680" cy="713232"/>
          </a:xfrm>
          <a:prstGeom prst="rect">
            <a:avLst/>
          </a:prstGeom>
          <a:noFill/>
          <a:ln/>
        </p:spPr>
        <p:txBody>
          <a:bodyPr wrap="square" lIns="0" tIns="0" rIns="0" bIns="0" rtlCol="0" anchor="ctr"/>
          <a:lstStyle/>
          <a:p>
            <a:pPr indent="0" marL="0">
              <a:buNone/>
            </a:pPr>
            <a:r>
              <a:rPr lang="en-US" sz="1700" b="1" dirty="0">
                <a:solidFill>
                  <a:srgbClr val="2F5D50"/>
                </a:solidFill>
                <a:latin typeface="Cambria" pitchFamily="34" charset="0"/>
                <a:ea typeface="Cambria" pitchFamily="34" charset="-122"/>
                <a:cs typeface="Cambria" pitchFamily="34" charset="-120"/>
              </a:rPr>
              <a:t>Android</a:t>
            </a:r>
            <a:endParaRPr lang="en-US" sz="1700" dirty="0"/>
          </a:p>
        </p:txBody>
      </p:sp>
      <p:sp>
        <p:nvSpPr>
          <p:cNvPr id="7" name="Text 5"/>
          <p:cNvSpPr txBox="1"/>
          <p:nvPr/>
        </p:nvSpPr>
        <p:spPr>
          <a:xfrm>
            <a:off x="2926080" y="2084832"/>
            <a:ext cx="4114800" cy="713232"/>
          </a:xfrm>
          <a:prstGeom prst="rect">
            <a:avLst/>
          </a:prstGeom>
          <a:noFill/>
          <a:ln/>
        </p:spPr>
        <p:txBody>
          <a:bodyPr wrap="square" lIns="0" tIns="0" rIns="0" bIns="0" rtlCol="0" anchor="ctr"/>
          <a:lstStyle/>
          <a:p>
            <a:pPr indent="0" marL="0">
              <a:lnSpc>
                <a:spcPts val="1800"/>
              </a:lnSpc>
              <a:buNone/>
            </a:pPr>
            <a:r>
              <a:rPr lang="en-US" sz="1400" dirty="0">
                <a:solidFill>
                  <a:srgbClr val="6D6A64"/>
                </a:solidFill>
                <a:latin typeface="Calibri" pitchFamily="34" charset="0"/>
                <a:ea typeface="Calibri" pitchFamily="34" charset="-122"/>
                <a:cs typeface="Calibri" pitchFamily="34" charset="-120"/>
              </a:rPr>
              <a:t>Downloads reach /Download. Whether the gallery ever indexes them is the OEM's choice.</a:t>
            </a:r>
            <a:endParaRPr lang="en-US" sz="1400" dirty="0"/>
          </a:p>
        </p:txBody>
      </p:sp>
      <p:sp>
        <p:nvSpPr>
          <p:cNvPr id="8" name="Text 6"/>
          <p:cNvSpPr txBox="1"/>
          <p:nvPr/>
        </p:nvSpPr>
        <p:spPr>
          <a:xfrm>
            <a:off x="7269480" y="2084832"/>
            <a:ext cx="4069080" cy="713232"/>
          </a:xfrm>
          <a:prstGeom prst="rect">
            <a:avLst/>
          </a:prstGeom>
          <a:noFill/>
          <a:ln/>
        </p:spPr>
        <p:txBody>
          <a:bodyPr wrap="square" lIns="0" tIns="0" rIns="0" bIns="0" rtlCol="0" anchor="ctr"/>
          <a:lstStyle/>
          <a:p>
            <a:pPr indent="0" marL="0">
              <a:lnSpc>
                <a:spcPts val="1800"/>
              </a:lnSpc>
              <a:buNone/>
            </a:pPr>
            <a:r>
              <a:rPr lang="en-US" sz="1400" b="1" dirty="0">
                <a:solidFill>
                  <a:srgbClr val="1B1A18"/>
                </a:solidFill>
                <a:latin typeface="Calibri" pitchFamily="34" charset="0"/>
                <a:ea typeface="Calibri" pitchFamily="34" charset="-122"/>
                <a:cs typeface="Calibri" pitchFamily="34" charset="-120"/>
              </a:rPr>
              <a:t>MediaStore.insert() from a native app — no storage permission needed</a:t>
            </a:r>
            <a:endParaRPr lang="en-US" sz="1400" dirty="0"/>
          </a:p>
        </p:txBody>
      </p:sp>
      <p:sp>
        <p:nvSpPr>
          <p:cNvPr id="9" name="Shape 7"/>
          <p:cNvSpPr/>
          <p:nvPr/>
        </p:nvSpPr>
        <p:spPr>
          <a:xfrm>
            <a:off x="548640" y="3108960"/>
            <a:ext cx="11064240" cy="1005840"/>
          </a:xfrm>
          <a:prstGeom prst="roundRect">
            <a:avLst>
              <a:gd name="adj" fmla="val 8182"/>
            </a:avLst>
          </a:prstGeom>
          <a:solidFill>
            <a:srgbClr val="E4EEE9"/>
          </a:solidFill>
          <a:ln w="12700">
            <a:solidFill>
              <a:srgbClr val="E4EEE9"/>
            </a:solidFill>
            <a:prstDash val="solid"/>
          </a:ln>
        </p:spPr>
      </p:sp>
      <p:sp>
        <p:nvSpPr>
          <p:cNvPr id="10" name="Text 8"/>
          <p:cNvSpPr txBox="1"/>
          <p:nvPr/>
        </p:nvSpPr>
        <p:spPr>
          <a:xfrm>
            <a:off x="868680" y="3255264"/>
            <a:ext cx="2011680" cy="713232"/>
          </a:xfrm>
          <a:prstGeom prst="rect">
            <a:avLst/>
          </a:prstGeom>
          <a:noFill/>
          <a:ln/>
        </p:spPr>
        <p:txBody>
          <a:bodyPr wrap="square" lIns="0" tIns="0" rIns="0" bIns="0" rtlCol="0" anchor="ctr"/>
          <a:lstStyle/>
          <a:p>
            <a:pPr indent="0" marL="0">
              <a:buNone/>
            </a:pPr>
            <a:r>
              <a:rPr lang="en-US" sz="1700" b="1" dirty="0">
                <a:solidFill>
                  <a:srgbClr val="2F5D50"/>
                </a:solidFill>
                <a:latin typeface="Cambria" pitchFamily="34" charset="0"/>
                <a:ea typeface="Cambria" pitchFamily="34" charset="-122"/>
                <a:cs typeface="Cambria" pitchFamily="34" charset="-120"/>
              </a:rPr>
              <a:t>iOS</a:t>
            </a:r>
            <a:endParaRPr lang="en-US" sz="1700" dirty="0"/>
          </a:p>
        </p:txBody>
      </p:sp>
      <p:sp>
        <p:nvSpPr>
          <p:cNvPr id="11" name="Text 9"/>
          <p:cNvSpPr txBox="1"/>
          <p:nvPr/>
        </p:nvSpPr>
        <p:spPr>
          <a:xfrm>
            <a:off x="2926080" y="3255264"/>
            <a:ext cx="4114800" cy="713232"/>
          </a:xfrm>
          <a:prstGeom prst="rect">
            <a:avLst/>
          </a:prstGeom>
          <a:noFill/>
          <a:ln/>
        </p:spPr>
        <p:txBody>
          <a:bodyPr wrap="square" lIns="0" tIns="0" rIns="0" bIns="0" rtlCol="0" anchor="ctr"/>
          <a:lstStyle/>
          <a:p>
            <a:pPr indent="0" marL="0">
              <a:lnSpc>
                <a:spcPts val="1800"/>
              </a:lnSpc>
              <a:buNone/>
            </a:pPr>
            <a:r>
              <a:rPr lang="en-US" sz="1400" dirty="0">
                <a:solidFill>
                  <a:srgbClr val="6D6A64"/>
                </a:solidFill>
                <a:latin typeface="Calibri" pitchFamily="34" charset="0"/>
                <a:ea typeface="Calibri" pitchFamily="34" charset="-122"/>
                <a:cs typeface="Calibri" pitchFamily="34" charset="-120"/>
              </a:rPr>
              <a:t>Safari saves to Files. "Save to Photos" is one asset at a time, by hand.</a:t>
            </a:r>
            <a:endParaRPr lang="en-US" sz="1400" dirty="0"/>
          </a:p>
        </p:txBody>
      </p:sp>
      <p:sp>
        <p:nvSpPr>
          <p:cNvPr id="12" name="Text 10"/>
          <p:cNvSpPr txBox="1"/>
          <p:nvPr/>
        </p:nvSpPr>
        <p:spPr>
          <a:xfrm>
            <a:off x="7269480" y="3255264"/>
            <a:ext cx="4069080" cy="713232"/>
          </a:xfrm>
          <a:prstGeom prst="rect">
            <a:avLst/>
          </a:prstGeom>
          <a:noFill/>
          <a:ln/>
        </p:spPr>
        <p:txBody>
          <a:bodyPr wrap="square" lIns="0" tIns="0" rIns="0" bIns="0" rtlCol="0" anchor="ctr"/>
          <a:lstStyle/>
          <a:p>
            <a:pPr indent="0" marL="0">
              <a:lnSpc>
                <a:spcPts val="1800"/>
              </a:lnSpc>
              <a:buNone/>
            </a:pPr>
            <a:r>
              <a:rPr lang="en-US" sz="1400" b="1" dirty="0">
                <a:solidFill>
                  <a:srgbClr val="1B1A18"/>
                </a:solidFill>
                <a:latin typeface="Calibri" pitchFamily="34" charset="0"/>
                <a:ea typeface="Calibri" pitchFamily="34" charset="-122"/>
                <a:cs typeface="Calibri" pitchFamily="34" charset="-120"/>
              </a:rPr>
              <a:t>PHAssetCreationRequest from a native app — add-only permission</a:t>
            </a:r>
            <a:endParaRPr lang="en-US" sz="1400" dirty="0"/>
          </a:p>
        </p:txBody>
      </p:sp>
      <p:sp>
        <p:nvSpPr>
          <p:cNvPr id="13" name="Shape 11"/>
          <p:cNvSpPr/>
          <p:nvPr/>
        </p:nvSpPr>
        <p:spPr>
          <a:xfrm>
            <a:off x="548640" y="4279392"/>
            <a:ext cx="11064240" cy="1005840"/>
          </a:xfrm>
          <a:prstGeom prst="roundRect">
            <a:avLst>
              <a:gd name="adj" fmla="val 8182"/>
            </a:avLst>
          </a:prstGeom>
          <a:solidFill>
            <a:srgbClr val="F3E6E2"/>
          </a:solidFill>
          <a:ln w="12700">
            <a:solidFill>
              <a:srgbClr val="F3E6E2"/>
            </a:solidFill>
            <a:prstDash val="solid"/>
          </a:ln>
        </p:spPr>
      </p:sp>
      <p:sp>
        <p:nvSpPr>
          <p:cNvPr id="14" name="Text 12"/>
          <p:cNvSpPr txBox="1"/>
          <p:nvPr/>
        </p:nvSpPr>
        <p:spPr>
          <a:xfrm>
            <a:off x="868680" y="4425696"/>
            <a:ext cx="2011680" cy="713232"/>
          </a:xfrm>
          <a:prstGeom prst="rect">
            <a:avLst/>
          </a:prstGeom>
          <a:noFill/>
          <a:ln/>
        </p:spPr>
        <p:txBody>
          <a:bodyPr wrap="square" lIns="0" tIns="0" rIns="0" bIns="0" rtlCol="0" anchor="ctr"/>
          <a:lstStyle/>
          <a:p>
            <a:pPr indent="0" marL="0">
              <a:buNone/>
            </a:pPr>
            <a:r>
              <a:rPr lang="en-US" sz="1700" b="1" dirty="0">
                <a:solidFill>
                  <a:srgbClr val="9C4A32"/>
                </a:solidFill>
                <a:latin typeface="Cambria" pitchFamily="34" charset="0"/>
                <a:ea typeface="Cambria" pitchFamily="34" charset="-122"/>
                <a:cs typeface="Cambria" pitchFamily="34" charset="-120"/>
              </a:rPr>
              <a:t>iOS over AFC</a:t>
            </a:r>
            <a:endParaRPr lang="en-US" sz="1700" dirty="0"/>
          </a:p>
        </p:txBody>
      </p:sp>
      <p:sp>
        <p:nvSpPr>
          <p:cNvPr id="15" name="Text 13"/>
          <p:cNvSpPr txBox="1"/>
          <p:nvPr/>
        </p:nvSpPr>
        <p:spPr>
          <a:xfrm>
            <a:off x="2926080" y="4425696"/>
            <a:ext cx="4114800" cy="713232"/>
          </a:xfrm>
          <a:prstGeom prst="rect">
            <a:avLst/>
          </a:prstGeom>
          <a:noFill/>
          <a:ln/>
        </p:spPr>
        <p:txBody>
          <a:bodyPr wrap="square" lIns="0" tIns="0" rIns="0" bIns="0" rtlCol="0" anchor="ctr"/>
          <a:lstStyle/>
          <a:p>
            <a:pPr indent="0" marL="0">
              <a:lnSpc>
                <a:spcPts val="1800"/>
              </a:lnSpc>
              <a:buNone/>
            </a:pPr>
            <a:r>
              <a:rPr lang="en-US" sz="1400" dirty="0">
                <a:solidFill>
                  <a:srgbClr val="6D6A64"/>
                </a:solidFill>
                <a:latin typeface="Calibri" pitchFamily="34" charset="0"/>
                <a:ea typeface="Calibri" pitchFamily="34" charset="-122"/>
                <a:cs typeface="Calibri" pitchFamily="34" charset="-120"/>
              </a:rPr>
              <a:t>Files copied into DCIM are never indexed by the Photos database.</a:t>
            </a:r>
            <a:endParaRPr lang="en-US" sz="1400" dirty="0"/>
          </a:p>
        </p:txBody>
      </p:sp>
      <p:sp>
        <p:nvSpPr>
          <p:cNvPr id="16" name="Text 14"/>
          <p:cNvSpPr txBox="1"/>
          <p:nvPr/>
        </p:nvSpPr>
        <p:spPr>
          <a:xfrm>
            <a:off x="7269480" y="4425696"/>
            <a:ext cx="4069080" cy="713232"/>
          </a:xfrm>
          <a:prstGeom prst="rect">
            <a:avLst/>
          </a:prstGeom>
          <a:noFill/>
          <a:ln/>
        </p:spPr>
        <p:txBody>
          <a:bodyPr wrap="square" lIns="0" tIns="0" rIns="0" bIns="0" rtlCol="0" anchor="ctr"/>
          <a:lstStyle/>
          <a:p>
            <a:pPr indent="0" marL="0">
              <a:lnSpc>
                <a:spcPts val="1800"/>
              </a:lnSpc>
              <a:buNone/>
            </a:pPr>
            <a:r>
              <a:rPr lang="en-US" sz="1400" b="1" dirty="0">
                <a:solidFill>
                  <a:srgbClr val="1B1A18"/>
                </a:solidFill>
                <a:latin typeface="Calibri" pitchFamily="34" charset="0"/>
                <a:ea typeface="Calibri" pitchFamily="34" charset="-122"/>
                <a:cs typeface="Calibri" pitchFamily="34" charset="-120"/>
              </a:rPr>
              <a:t>A known dead end — do not build on it</a:t>
            </a:r>
            <a:endParaRPr lang="en-US" sz="1400" dirty="0"/>
          </a:p>
        </p:txBody>
      </p:sp>
      <p:sp>
        <p:nvSpPr>
          <p:cNvPr id="17" name="Text 15"/>
          <p:cNvSpPr txBox="1"/>
          <p:nvPr/>
        </p:nvSpPr>
        <p:spPr>
          <a:xfrm>
            <a:off x="548640" y="5669280"/>
            <a:ext cx="11064240" cy="384048"/>
          </a:xfrm>
          <a:prstGeom prst="rect">
            <a:avLst/>
          </a:prstGeom>
          <a:noFill/>
          <a:ln/>
        </p:spPr>
        <p:txBody>
          <a:bodyPr wrap="square" lIns="0" tIns="0" rIns="0" bIns="0" rtlCol="0" anchor="ctr"/>
          <a:lstStyle/>
          <a:p>
            <a:pPr indent="0" marL="0">
              <a:buNone/>
            </a:pPr>
            <a:r>
              <a:rPr lang="en-US" sz="1500" i="1" dirty="0">
                <a:solidFill>
                  <a:srgbClr val="2F5D50"/>
                </a:solidFill>
                <a:latin typeface="Cambria" pitchFamily="34" charset="0"/>
                <a:ea typeface="Cambria" pitchFamily="34" charset="-122"/>
                <a:cs typeface="Cambria" pitchFamily="34" charset="-120"/>
              </a:rPr>
              <a:t>So: a web control plane does 95% of the work, and a thin native loader on each platform does the one thing only it can.</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274320"/>
            <a:ext cx="11064240" cy="274320"/>
          </a:xfrm>
          <a:prstGeom prst="rect">
            <a:avLst/>
          </a:prstGeom>
          <a:noFill/>
          <a:ln/>
        </p:spPr>
        <p:txBody>
          <a:bodyPr wrap="square" lIns="0" tIns="0" rIns="0" bIns="0" rtlCol="0" anchor="ctr"/>
          <a:lstStyle/>
          <a:p>
            <a:pPr indent="0" marL="0">
              <a:buNone/>
            </a:pPr>
            <a:r>
              <a:rPr lang="en-US" sz="1400" b="1" spc="200" kern="0" dirty="0">
                <a:solidFill>
                  <a:srgbClr val="2F5D50"/>
                </a:solidFill>
                <a:latin typeface="Calibri" pitchFamily="34" charset="0"/>
                <a:ea typeface="Calibri" pitchFamily="34" charset="-122"/>
                <a:cs typeface="Calibri" pitchFamily="34" charset="-120"/>
              </a:rPr>
              <a:t>ARCHITECTURE</a:t>
            </a:r>
            <a:endParaRPr lang="en-US" sz="1400" dirty="0"/>
          </a:p>
        </p:txBody>
      </p:sp>
      <p:sp>
        <p:nvSpPr>
          <p:cNvPr id="3" name="Text 1"/>
          <p:cNvSpPr txBox="1"/>
          <p:nvPr/>
        </p:nvSpPr>
        <p:spPr>
          <a:xfrm>
            <a:off x="548640" y="585216"/>
            <a:ext cx="11064240" cy="713232"/>
          </a:xfrm>
          <a:prstGeom prst="rect">
            <a:avLst/>
          </a:prstGeom>
          <a:noFill/>
          <a:ln/>
        </p:spPr>
        <p:txBody>
          <a:bodyPr wrap="square" lIns="0" tIns="0" rIns="0" bIns="0" rtlCol="0" anchor="ctr"/>
          <a:lstStyle/>
          <a:p>
            <a:pPr indent="0" marL="0">
              <a:buNone/>
            </a:pPr>
            <a:r>
              <a:rPr lang="en-US" sz="3200" b="1" dirty="0">
                <a:solidFill>
                  <a:srgbClr val="1B1A18"/>
                </a:solidFill>
                <a:latin typeface="Cambria" pitchFamily="34" charset="0"/>
                <a:ea typeface="Cambria" pitchFamily="34" charset="-122"/>
                <a:cs typeface="Cambria" pitchFamily="34" charset="-120"/>
              </a:rPr>
              <a:t>Control plane, generator, thin loaders</a:t>
            </a:r>
            <a:endParaRPr lang="en-US" sz="3200" dirty="0"/>
          </a:p>
        </p:txBody>
      </p:sp>
      <p:sp>
        <p:nvSpPr>
          <p:cNvPr id="4" name="Shape 2"/>
          <p:cNvSpPr/>
          <p:nvPr/>
        </p:nvSpPr>
        <p:spPr>
          <a:xfrm>
            <a:off x="2651760" y="1417320"/>
            <a:ext cx="6858000" cy="1024128"/>
          </a:xfrm>
          <a:prstGeom prst="roundRect">
            <a:avLst>
              <a:gd name="adj" fmla="val 8036"/>
            </a:avLst>
          </a:prstGeom>
          <a:solidFill>
            <a:srgbClr val="E4EEE9"/>
          </a:solidFill>
          <a:ln w="12700">
            <a:solidFill>
              <a:srgbClr val="E4EEE9"/>
            </a:solidFill>
            <a:prstDash val="solid"/>
          </a:ln>
        </p:spPr>
      </p:sp>
      <p:sp>
        <p:nvSpPr>
          <p:cNvPr id="5" name="Text 3"/>
          <p:cNvSpPr txBox="1"/>
          <p:nvPr/>
        </p:nvSpPr>
        <p:spPr>
          <a:xfrm>
            <a:off x="2834640" y="1517904"/>
            <a:ext cx="6492240" cy="310896"/>
          </a:xfrm>
          <a:prstGeom prst="rect">
            <a:avLst/>
          </a:prstGeom>
          <a:noFill/>
          <a:ln/>
        </p:spPr>
        <p:txBody>
          <a:bodyPr wrap="square" lIns="0" tIns="0" rIns="0" bIns="0" rtlCol="0" anchor="ctr"/>
          <a:lstStyle/>
          <a:p>
            <a:pPr algn="ctr" indent="0" marL="0">
              <a:buNone/>
            </a:pPr>
            <a:r>
              <a:rPr lang="en-US" sz="1600" b="1" dirty="0">
                <a:solidFill>
                  <a:srgbClr val="2F5D50"/>
                </a:solidFill>
                <a:latin typeface="Cambria" pitchFamily="34" charset="0"/>
                <a:ea typeface="Cambria" pitchFamily="34" charset="-122"/>
                <a:cs typeface="Cambria" pitchFamily="34" charset="-120"/>
              </a:rPr>
              <a:t>WEB CONTROL PLANE</a:t>
            </a:r>
            <a:endParaRPr lang="en-US" sz="1600" dirty="0"/>
          </a:p>
        </p:txBody>
      </p:sp>
      <p:sp>
        <p:nvSpPr>
          <p:cNvPr id="6" name="Text 4"/>
          <p:cNvSpPr txBox="1"/>
          <p:nvPr/>
        </p:nvSpPr>
        <p:spPr>
          <a:xfrm>
            <a:off x="2834640" y="1865376"/>
            <a:ext cx="6492240" cy="457200"/>
          </a:xfrm>
          <a:prstGeom prst="rect">
            <a:avLst/>
          </a:prstGeom>
          <a:noFill/>
          <a:ln/>
        </p:spPr>
        <p:txBody>
          <a:bodyPr wrap="square" lIns="0" tIns="0" rIns="0" bIns="0" rtlCol="0" anchor="t"/>
          <a:lstStyle/>
          <a:p>
            <a:pPr algn="ctr" indent="0" marL="0">
              <a:lnSpc>
                <a:spcPts val="1800"/>
              </a:lnSpc>
              <a:buNone/>
            </a:pPr>
            <a:r>
              <a:rPr lang="en-US" sz="1400" dirty="0">
                <a:solidFill>
                  <a:srgbClr val="6D6A64"/>
                </a:solidFill>
                <a:latin typeface="Calibri" pitchFamily="34" charset="0"/>
                <a:ea typeface="Calibri" pitchFamily="34" charset="-122"/>
                <a:cs typeface="Calibri" pitchFamily="34" charset="-120"/>
              </a:rPr>
              <a:t>size · photo/video mix · formats · dates · device persona → a job and a 6-digit code</a:t>
            </a:r>
            <a:endParaRPr lang="en-US" sz="1400" dirty="0"/>
          </a:p>
        </p:txBody>
      </p:sp>
      <p:sp>
        <p:nvSpPr>
          <p:cNvPr id="7" name="Shape 5"/>
          <p:cNvSpPr/>
          <p:nvPr/>
        </p:nvSpPr>
        <p:spPr>
          <a:xfrm>
            <a:off x="6080760" y="2441448"/>
            <a:ext cx="0" cy="274320"/>
          </a:xfrm>
          <a:prstGeom prst="line">
            <a:avLst/>
          </a:prstGeom>
          <a:noFill/>
          <a:ln w="25400">
            <a:solidFill>
              <a:srgbClr val="AACABD"/>
            </a:solidFill>
            <a:prstDash val="solid"/>
          </a:ln>
        </p:spPr>
      </p:sp>
      <p:sp>
        <p:nvSpPr>
          <p:cNvPr id="8" name="Shape 6"/>
          <p:cNvSpPr/>
          <p:nvPr/>
        </p:nvSpPr>
        <p:spPr>
          <a:xfrm>
            <a:off x="1737360" y="2715768"/>
            <a:ext cx="8686800" cy="1216152"/>
          </a:xfrm>
          <a:prstGeom prst="roundRect">
            <a:avLst>
              <a:gd name="adj" fmla="val 6767"/>
            </a:avLst>
          </a:prstGeom>
          <a:solidFill>
            <a:srgbClr val="E4EEE9"/>
          </a:solidFill>
          <a:ln w="12700">
            <a:solidFill>
              <a:srgbClr val="E4EEE9"/>
            </a:solidFill>
            <a:prstDash val="solid"/>
          </a:ln>
        </p:spPr>
      </p:sp>
      <p:sp>
        <p:nvSpPr>
          <p:cNvPr id="9" name="Text 7"/>
          <p:cNvSpPr txBox="1"/>
          <p:nvPr/>
        </p:nvSpPr>
        <p:spPr>
          <a:xfrm>
            <a:off x="1920240" y="2807208"/>
            <a:ext cx="8321040" cy="310896"/>
          </a:xfrm>
          <a:prstGeom prst="rect">
            <a:avLst/>
          </a:prstGeom>
          <a:noFill/>
          <a:ln/>
        </p:spPr>
        <p:txBody>
          <a:bodyPr wrap="square" lIns="0" tIns="0" rIns="0" bIns="0" rtlCol="0" anchor="ctr"/>
          <a:lstStyle/>
          <a:p>
            <a:pPr algn="ctr" indent="0" marL="0">
              <a:buNone/>
            </a:pPr>
            <a:r>
              <a:rPr lang="en-US" sz="1600" b="1" dirty="0">
                <a:solidFill>
                  <a:srgbClr val="2F5D50"/>
                </a:solidFill>
                <a:latin typeface="Cambria" pitchFamily="34" charset="0"/>
                <a:ea typeface="Cambria" pitchFamily="34" charset="-122"/>
                <a:cs typeface="Cambria" pitchFamily="34" charset="-120"/>
              </a:rPr>
              <a:t>GENERATOR</a:t>
            </a:r>
            <a:endParaRPr lang="en-US" sz="1600" dirty="0"/>
          </a:p>
        </p:txBody>
      </p:sp>
      <p:sp>
        <p:nvSpPr>
          <p:cNvPr id="10" name="Text 8"/>
          <p:cNvSpPr txBox="1"/>
          <p:nvPr/>
        </p:nvSpPr>
        <p:spPr>
          <a:xfrm>
            <a:off x="1920240" y="3154680"/>
            <a:ext cx="8321040" cy="310896"/>
          </a:xfrm>
          <a:prstGeom prst="rect">
            <a:avLst/>
          </a:prstGeom>
          <a:noFill/>
          <a:ln/>
        </p:spPr>
        <p:txBody>
          <a:bodyPr wrap="square" lIns="0" tIns="0" rIns="0" bIns="0" rtlCol="0" anchor="ctr"/>
          <a:lstStyle/>
          <a:p>
            <a:pPr algn="ctr" indent="0" marL="0">
              <a:buNone/>
            </a:pPr>
            <a:r>
              <a:rPr lang="en-US" sz="1400" dirty="0">
                <a:solidFill>
                  <a:srgbClr val="1B1A18"/>
                </a:solidFill>
                <a:latin typeface="Calibri" pitchFamily="34" charset="0"/>
                <a:ea typeface="Calibri" pitchFamily="34" charset="-122"/>
                <a:cs typeface="Calibri" pitchFamily="34" charset="-120"/>
              </a:rPr>
              <a:t>seed pool  ·  amplifier (Pillow + ffmpeg)  ·  byte-accurate size planner  ·  manifest</a:t>
            </a:r>
            <a:endParaRPr lang="en-US" sz="1400" dirty="0"/>
          </a:p>
        </p:txBody>
      </p:sp>
      <p:sp>
        <p:nvSpPr>
          <p:cNvPr id="11" name="Text 9"/>
          <p:cNvSpPr txBox="1"/>
          <p:nvPr/>
        </p:nvSpPr>
        <p:spPr>
          <a:xfrm>
            <a:off x="1920240" y="3483864"/>
            <a:ext cx="8321040" cy="310896"/>
          </a:xfrm>
          <a:prstGeom prst="rect">
            <a:avLst/>
          </a:prstGeom>
          <a:noFill/>
          <a:ln/>
        </p:spPr>
        <p:txBody>
          <a:bodyPr wrap="square" lIns="0" tIns="0" rIns="0" bIns="0" rtlCol="0" anchor="ctr"/>
          <a:lstStyle/>
          <a:p>
            <a:pPr algn="ctr" indent="0" marL="0">
              <a:buNone/>
            </a:pPr>
            <a:r>
              <a:rPr lang="en-US" sz="1400" i="1" dirty="0">
                <a:solidFill>
                  <a:srgbClr val="6D6A64"/>
                </a:solidFill>
                <a:latin typeface="Calibri" pitchFamily="34" charset="0"/>
                <a:ea typeface="Calibri" pitchFamily="34" charset="-122"/>
                <a:cs typeface="Calibri" pitchFamily="34" charset="-120"/>
              </a:rPr>
              <a:t>manifest.json is the contract: bytes, sha256, capture time, GPS, and a URL per asset</a:t>
            </a:r>
            <a:endParaRPr lang="en-US" sz="1400" dirty="0"/>
          </a:p>
        </p:txBody>
      </p:sp>
      <p:sp>
        <p:nvSpPr>
          <p:cNvPr id="12" name="Shape 10"/>
          <p:cNvSpPr/>
          <p:nvPr/>
        </p:nvSpPr>
        <p:spPr>
          <a:xfrm>
            <a:off x="2926080" y="3931920"/>
            <a:ext cx="0" cy="457200"/>
          </a:xfrm>
          <a:prstGeom prst="line">
            <a:avLst/>
          </a:prstGeom>
          <a:noFill/>
          <a:ln w="25400">
            <a:solidFill>
              <a:srgbClr val="AACABD"/>
            </a:solidFill>
            <a:prstDash val="solid"/>
          </a:ln>
        </p:spPr>
      </p:sp>
      <p:sp>
        <p:nvSpPr>
          <p:cNvPr id="13" name="Shape 11"/>
          <p:cNvSpPr/>
          <p:nvPr/>
        </p:nvSpPr>
        <p:spPr>
          <a:xfrm>
            <a:off x="6080760" y="3931920"/>
            <a:ext cx="0" cy="457200"/>
          </a:xfrm>
          <a:prstGeom prst="line">
            <a:avLst/>
          </a:prstGeom>
          <a:noFill/>
          <a:ln w="25400">
            <a:solidFill>
              <a:srgbClr val="AACABD"/>
            </a:solidFill>
            <a:prstDash val="solid"/>
          </a:ln>
        </p:spPr>
      </p:sp>
      <p:sp>
        <p:nvSpPr>
          <p:cNvPr id="14" name="Shape 12"/>
          <p:cNvSpPr/>
          <p:nvPr/>
        </p:nvSpPr>
        <p:spPr>
          <a:xfrm>
            <a:off x="9235440" y="3931920"/>
            <a:ext cx="0" cy="457200"/>
          </a:xfrm>
          <a:prstGeom prst="line">
            <a:avLst/>
          </a:prstGeom>
          <a:noFill/>
          <a:ln w="25400">
            <a:solidFill>
              <a:srgbClr val="AACABD"/>
            </a:solidFill>
            <a:prstDash val="solid"/>
          </a:ln>
        </p:spPr>
      </p:sp>
      <p:sp>
        <p:nvSpPr>
          <p:cNvPr id="15" name="Shape 13"/>
          <p:cNvSpPr/>
          <p:nvPr/>
        </p:nvSpPr>
        <p:spPr>
          <a:xfrm>
            <a:off x="548640" y="4389120"/>
            <a:ext cx="3447288" cy="1298448"/>
          </a:xfrm>
          <a:prstGeom prst="roundRect">
            <a:avLst>
              <a:gd name="adj" fmla="val 6338"/>
            </a:avLst>
          </a:prstGeom>
          <a:solidFill>
            <a:srgbClr val="E4EEE9"/>
          </a:solidFill>
          <a:ln w="12700">
            <a:solidFill>
              <a:srgbClr val="E4EEE9"/>
            </a:solidFill>
            <a:prstDash val="solid"/>
          </a:ln>
        </p:spPr>
      </p:sp>
      <p:sp>
        <p:nvSpPr>
          <p:cNvPr id="16" name="Text 14"/>
          <p:cNvSpPr txBox="1"/>
          <p:nvPr/>
        </p:nvSpPr>
        <p:spPr>
          <a:xfrm>
            <a:off x="768096" y="4517136"/>
            <a:ext cx="3017520" cy="310896"/>
          </a:xfrm>
          <a:prstGeom prst="rect">
            <a:avLst/>
          </a:prstGeom>
          <a:noFill/>
          <a:ln/>
        </p:spPr>
        <p:txBody>
          <a:bodyPr wrap="square" lIns="0" tIns="0" rIns="0" bIns="0" rtlCol="0" anchor="ctr"/>
          <a:lstStyle/>
          <a:p>
            <a:pPr indent="0" marL="0">
              <a:buNone/>
            </a:pPr>
            <a:r>
              <a:rPr lang="en-US" sz="1600" b="1" dirty="0">
                <a:solidFill>
                  <a:srgbClr val="2F5D50"/>
                </a:solidFill>
                <a:latin typeface="Cambria" pitchFamily="34" charset="0"/>
                <a:ea typeface="Cambria" pitchFamily="34" charset="-122"/>
                <a:cs typeface="Cambria" pitchFamily="34" charset="-120"/>
              </a:rPr>
              <a:t>CLI  ·  CI</a:t>
            </a:r>
            <a:endParaRPr lang="en-US" sz="1600" dirty="0"/>
          </a:p>
        </p:txBody>
      </p:sp>
      <p:sp>
        <p:nvSpPr>
          <p:cNvPr id="17" name="Text 15"/>
          <p:cNvSpPr txBox="1"/>
          <p:nvPr/>
        </p:nvSpPr>
        <p:spPr>
          <a:xfrm>
            <a:off x="768096" y="4846320"/>
            <a:ext cx="3017520" cy="274320"/>
          </a:xfrm>
          <a:prstGeom prst="rect">
            <a:avLst/>
          </a:prstGeom>
          <a:noFill/>
          <a:ln/>
        </p:spPr>
        <p:txBody>
          <a:bodyPr wrap="square" lIns="0" tIns="0" rIns="0" bIns="0" rtlCol="0" anchor="ctr"/>
          <a:lstStyle/>
          <a:p>
            <a:pPr indent="0" marL="0">
              <a:buNone/>
            </a:pPr>
            <a:r>
              <a:rPr lang="en-US" sz="1400" dirty="0">
                <a:solidFill>
                  <a:srgbClr val="1B1A18"/>
                </a:solidFill>
                <a:latin typeface="Calibri" pitchFamily="34" charset="0"/>
                <a:ea typeface="Calibri" pitchFamily="34" charset="-122"/>
                <a:cs typeface="Calibri" pitchFamily="34" charset="-120"/>
              </a:rPr>
              <a:t>folder, simulator, emulator</a:t>
            </a:r>
            <a:endParaRPr lang="en-US" sz="1400" dirty="0"/>
          </a:p>
        </p:txBody>
      </p:sp>
      <p:sp>
        <p:nvSpPr>
          <p:cNvPr id="18" name="Text 16"/>
          <p:cNvSpPr txBox="1"/>
          <p:nvPr/>
        </p:nvSpPr>
        <p:spPr>
          <a:xfrm>
            <a:off x="768096" y="5138928"/>
            <a:ext cx="3017520" cy="457200"/>
          </a:xfrm>
          <a:prstGeom prst="rect">
            <a:avLst/>
          </a:prstGeom>
          <a:noFill/>
          <a:ln/>
        </p:spPr>
        <p:txBody>
          <a:bodyPr wrap="square" lIns="0" tIns="0" rIns="0" bIns="0" rtlCol="0" anchor="t"/>
          <a:lstStyle/>
          <a:p>
            <a:pPr indent="0" marL="0">
              <a:lnSpc>
                <a:spcPts val="1800"/>
              </a:lnSpc>
              <a:buNone/>
            </a:pPr>
            <a:r>
              <a:rPr lang="en-US" sz="1400" dirty="0">
                <a:solidFill>
                  <a:srgbClr val="6D6A64"/>
                </a:solidFill>
                <a:latin typeface="Calibri" pitchFamily="34" charset="0"/>
                <a:ea typeface="Calibri" pitchFamily="34" charset="-122"/>
                <a:cs typeface="Calibri" pitchFamily="34" charset="-120"/>
              </a:rPr>
              <a:t>simctl / adb + MediaStore scan</a:t>
            </a:r>
            <a:endParaRPr lang="en-US" sz="1400" dirty="0"/>
          </a:p>
        </p:txBody>
      </p:sp>
      <p:sp>
        <p:nvSpPr>
          <p:cNvPr id="19" name="Shape 17"/>
          <p:cNvSpPr/>
          <p:nvPr/>
        </p:nvSpPr>
        <p:spPr>
          <a:xfrm>
            <a:off x="4361688" y="4389120"/>
            <a:ext cx="3447288" cy="1298448"/>
          </a:xfrm>
          <a:prstGeom prst="roundRect">
            <a:avLst>
              <a:gd name="adj" fmla="val 6338"/>
            </a:avLst>
          </a:prstGeom>
          <a:solidFill>
            <a:srgbClr val="E4EEE9"/>
          </a:solidFill>
          <a:ln w="12700">
            <a:solidFill>
              <a:srgbClr val="E4EEE9"/>
            </a:solidFill>
            <a:prstDash val="solid"/>
          </a:ln>
        </p:spPr>
      </p:sp>
      <p:sp>
        <p:nvSpPr>
          <p:cNvPr id="20" name="Text 18"/>
          <p:cNvSpPr txBox="1"/>
          <p:nvPr/>
        </p:nvSpPr>
        <p:spPr>
          <a:xfrm>
            <a:off x="4581144" y="4517136"/>
            <a:ext cx="3017520" cy="310896"/>
          </a:xfrm>
          <a:prstGeom prst="rect">
            <a:avLst/>
          </a:prstGeom>
          <a:noFill/>
          <a:ln/>
        </p:spPr>
        <p:txBody>
          <a:bodyPr wrap="square" lIns="0" tIns="0" rIns="0" bIns="0" rtlCol="0" anchor="ctr"/>
          <a:lstStyle/>
          <a:p>
            <a:pPr indent="0" marL="0">
              <a:buNone/>
            </a:pPr>
            <a:r>
              <a:rPr lang="en-US" sz="1600" b="1" dirty="0">
                <a:solidFill>
                  <a:srgbClr val="2F5D50"/>
                </a:solidFill>
                <a:latin typeface="Cambria" pitchFamily="34" charset="0"/>
                <a:ea typeface="Cambria" pitchFamily="34" charset="-122"/>
                <a:cs typeface="Cambria" pitchFamily="34" charset="-120"/>
              </a:rPr>
              <a:t>Android app</a:t>
            </a:r>
            <a:endParaRPr lang="en-US" sz="1600" dirty="0"/>
          </a:p>
        </p:txBody>
      </p:sp>
      <p:sp>
        <p:nvSpPr>
          <p:cNvPr id="21" name="Text 19"/>
          <p:cNvSpPr txBox="1"/>
          <p:nvPr/>
        </p:nvSpPr>
        <p:spPr>
          <a:xfrm>
            <a:off x="4581144" y="4846320"/>
            <a:ext cx="3017520" cy="274320"/>
          </a:xfrm>
          <a:prstGeom prst="rect">
            <a:avLst/>
          </a:prstGeom>
          <a:noFill/>
          <a:ln/>
        </p:spPr>
        <p:txBody>
          <a:bodyPr wrap="square" lIns="0" tIns="0" rIns="0" bIns="0" rtlCol="0" anchor="ctr"/>
          <a:lstStyle/>
          <a:p>
            <a:pPr indent="0" marL="0">
              <a:buNone/>
            </a:pPr>
            <a:r>
              <a:rPr lang="en-US" sz="1400" dirty="0">
                <a:solidFill>
                  <a:srgbClr val="1B1A18"/>
                </a:solidFill>
                <a:latin typeface="Calibri" pitchFamily="34" charset="0"/>
                <a:ea typeface="Calibri" pitchFamily="34" charset="-122"/>
                <a:cs typeface="Calibri" pitchFamily="34" charset="-120"/>
              </a:rPr>
              <a:t>Kotlin, minSdk 30</a:t>
            </a:r>
            <a:endParaRPr lang="en-US" sz="1400" dirty="0"/>
          </a:p>
        </p:txBody>
      </p:sp>
      <p:sp>
        <p:nvSpPr>
          <p:cNvPr id="22" name="Text 20"/>
          <p:cNvSpPr txBox="1"/>
          <p:nvPr/>
        </p:nvSpPr>
        <p:spPr>
          <a:xfrm>
            <a:off x="4581144" y="5138928"/>
            <a:ext cx="3017520" cy="457200"/>
          </a:xfrm>
          <a:prstGeom prst="rect">
            <a:avLst/>
          </a:prstGeom>
          <a:noFill/>
          <a:ln/>
        </p:spPr>
        <p:txBody>
          <a:bodyPr wrap="square" lIns="0" tIns="0" rIns="0" bIns="0" rtlCol="0" anchor="t"/>
          <a:lstStyle/>
          <a:p>
            <a:pPr indent="0" marL="0">
              <a:lnSpc>
                <a:spcPts val="1800"/>
              </a:lnSpc>
              <a:buNone/>
            </a:pPr>
            <a:r>
              <a:rPr lang="en-US" sz="1400" dirty="0">
                <a:solidFill>
                  <a:srgbClr val="6D6A64"/>
                </a:solidFill>
                <a:latin typeface="Calibri" pitchFamily="34" charset="0"/>
                <a:ea typeface="Calibri" pitchFamily="34" charset="-122"/>
                <a:cs typeface="Calibri" pitchFamily="34" charset="-120"/>
              </a:rPr>
              <a:t>MediaStore.insert, foreground service</a:t>
            </a:r>
            <a:endParaRPr lang="en-US" sz="1400" dirty="0"/>
          </a:p>
        </p:txBody>
      </p:sp>
      <p:sp>
        <p:nvSpPr>
          <p:cNvPr id="23" name="Shape 21"/>
          <p:cNvSpPr/>
          <p:nvPr/>
        </p:nvSpPr>
        <p:spPr>
          <a:xfrm>
            <a:off x="8174736" y="4389120"/>
            <a:ext cx="3447288" cy="1298448"/>
          </a:xfrm>
          <a:prstGeom prst="roundRect">
            <a:avLst>
              <a:gd name="adj" fmla="val 6338"/>
            </a:avLst>
          </a:prstGeom>
          <a:solidFill>
            <a:srgbClr val="E4EEE9"/>
          </a:solidFill>
          <a:ln w="12700">
            <a:solidFill>
              <a:srgbClr val="E4EEE9"/>
            </a:solidFill>
            <a:prstDash val="solid"/>
          </a:ln>
        </p:spPr>
      </p:sp>
      <p:sp>
        <p:nvSpPr>
          <p:cNvPr id="24" name="Text 22"/>
          <p:cNvSpPr txBox="1"/>
          <p:nvPr/>
        </p:nvSpPr>
        <p:spPr>
          <a:xfrm>
            <a:off x="8394192" y="4517136"/>
            <a:ext cx="3017520" cy="310896"/>
          </a:xfrm>
          <a:prstGeom prst="rect">
            <a:avLst/>
          </a:prstGeom>
          <a:noFill/>
          <a:ln/>
        </p:spPr>
        <p:txBody>
          <a:bodyPr wrap="square" lIns="0" tIns="0" rIns="0" bIns="0" rtlCol="0" anchor="ctr"/>
          <a:lstStyle/>
          <a:p>
            <a:pPr indent="0" marL="0">
              <a:buNone/>
            </a:pPr>
            <a:r>
              <a:rPr lang="en-US" sz="1600" b="1" dirty="0">
                <a:solidFill>
                  <a:srgbClr val="2F5D50"/>
                </a:solidFill>
                <a:latin typeface="Cambria" pitchFamily="34" charset="0"/>
                <a:ea typeface="Cambria" pitchFamily="34" charset="-122"/>
                <a:cs typeface="Cambria" pitchFamily="34" charset="-120"/>
              </a:rPr>
              <a:t>iOS app</a:t>
            </a:r>
            <a:endParaRPr lang="en-US" sz="1600" dirty="0"/>
          </a:p>
        </p:txBody>
      </p:sp>
      <p:sp>
        <p:nvSpPr>
          <p:cNvPr id="25" name="Text 23"/>
          <p:cNvSpPr txBox="1"/>
          <p:nvPr/>
        </p:nvSpPr>
        <p:spPr>
          <a:xfrm>
            <a:off x="8394192" y="4846320"/>
            <a:ext cx="3017520" cy="274320"/>
          </a:xfrm>
          <a:prstGeom prst="rect">
            <a:avLst/>
          </a:prstGeom>
          <a:noFill/>
          <a:ln/>
        </p:spPr>
        <p:txBody>
          <a:bodyPr wrap="square" lIns="0" tIns="0" rIns="0" bIns="0" rtlCol="0" anchor="ctr"/>
          <a:lstStyle/>
          <a:p>
            <a:pPr indent="0" marL="0">
              <a:buNone/>
            </a:pPr>
            <a:r>
              <a:rPr lang="en-US" sz="1400" dirty="0">
                <a:solidFill>
                  <a:srgbClr val="1B1A18"/>
                </a:solidFill>
                <a:latin typeface="Calibri" pitchFamily="34" charset="0"/>
                <a:ea typeface="Calibri" pitchFamily="34" charset="-122"/>
                <a:cs typeface="Calibri" pitchFamily="34" charset="-120"/>
              </a:rPr>
              <a:t>SwiftUI, iOS 17 floor</a:t>
            </a:r>
            <a:endParaRPr lang="en-US" sz="1400" dirty="0"/>
          </a:p>
        </p:txBody>
      </p:sp>
      <p:sp>
        <p:nvSpPr>
          <p:cNvPr id="26" name="Text 24"/>
          <p:cNvSpPr txBox="1"/>
          <p:nvPr/>
        </p:nvSpPr>
        <p:spPr>
          <a:xfrm>
            <a:off x="8394192" y="5138928"/>
            <a:ext cx="3017520" cy="457200"/>
          </a:xfrm>
          <a:prstGeom prst="rect">
            <a:avLst/>
          </a:prstGeom>
          <a:noFill/>
          <a:ln/>
        </p:spPr>
        <p:txBody>
          <a:bodyPr wrap="square" lIns="0" tIns="0" rIns="0" bIns="0" rtlCol="0" anchor="t"/>
          <a:lstStyle/>
          <a:p>
            <a:pPr indent="0" marL="0">
              <a:lnSpc>
                <a:spcPts val="1800"/>
              </a:lnSpc>
              <a:buNone/>
            </a:pPr>
            <a:r>
              <a:rPr lang="en-US" sz="1400" dirty="0">
                <a:solidFill>
                  <a:srgbClr val="6D6A64"/>
                </a:solidFill>
                <a:latin typeface="Calibri" pitchFamily="34" charset="0"/>
                <a:ea typeface="Calibri" pitchFamily="34" charset="-122"/>
                <a:cs typeface="Calibri" pitchFamily="34" charset="-120"/>
              </a:rPr>
              <a:t>PHAssetCreationRequest, batched</a:t>
            </a:r>
            <a:endParaRPr lang="en-US" sz="1400" dirty="0"/>
          </a:p>
        </p:txBody>
      </p:sp>
      <p:sp>
        <p:nvSpPr>
          <p:cNvPr id="27" name="Text 25"/>
          <p:cNvSpPr txBox="1"/>
          <p:nvPr/>
        </p:nvSpPr>
        <p:spPr>
          <a:xfrm>
            <a:off x="548640" y="5870448"/>
            <a:ext cx="11064240" cy="384048"/>
          </a:xfrm>
          <a:prstGeom prst="rect">
            <a:avLst/>
          </a:prstGeom>
          <a:noFill/>
          <a:ln/>
        </p:spPr>
        <p:txBody>
          <a:bodyPr wrap="square" lIns="0" tIns="0" rIns="0" bIns="0" rtlCol="0" anchor="ctr"/>
          <a:lstStyle/>
          <a:p>
            <a:pPr indent="0" marL="0">
              <a:buNone/>
            </a:pPr>
            <a:r>
              <a:rPr lang="en-US" sz="1400" dirty="0">
                <a:solidFill>
                  <a:srgbClr val="6D6A64"/>
                </a:solidFill>
                <a:latin typeface="Calibri" pitchFamily="34" charset="0"/>
                <a:ea typeface="Calibri" pitchFamily="34" charset="-122"/>
                <a:cs typeface="Calibri" pitchFamily="34" charset="-120"/>
              </a:rPr>
              <a:t>Every loader keeps a receipt outside the pack — which is what makes a fill resumable and a wipe exact.</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274320"/>
            <a:ext cx="11064240" cy="274320"/>
          </a:xfrm>
          <a:prstGeom prst="rect">
            <a:avLst/>
          </a:prstGeom>
          <a:noFill/>
          <a:ln/>
        </p:spPr>
        <p:txBody>
          <a:bodyPr wrap="square" lIns="0" tIns="0" rIns="0" bIns="0" rtlCol="0" anchor="ctr"/>
          <a:lstStyle/>
          <a:p>
            <a:pPr indent="0" marL="0">
              <a:buNone/>
            </a:pPr>
            <a:r>
              <a:rPr lang="en-US" sz="1400" b="1" spc="200" kern="0" dirty="0">
                <a:solidFill>
                  <a:srgbClr val="2F5D50"/>
                </a:solidFill>
                <a:latin typeface="Calibri" pitchFamily="34" charset="0"/>
                <a:ea typeface="Calibri" pitchFamily="34" charset="-122"/>
                <a:cs typeface="Calibri" pitchFamily="34" charset="-120"/>
              </a:rPr>
              <a:t>MAJOR FEATURES</a:t>
            </a:r>
            <a:endParaRPr lang="en-US" sz="1400" dirty="0"/>
          </a:p>
        </p:txBody>
      </p:sp>
      <p:sp>
        <p:nvSpPr>
          <p:cNvPr id="3" name="Text 1"/>
          <p:cNvSpPr txBox="1"/>
          <p:nvPr/>
        </p:nvSpPr>
        <p:spPr>
          <a:xfrm>
            <a:off x="548640" y="585216"/>
            <a:ext cx="11064240" cy="713232"/>
          </a:xfrm>
          <a:prstGeom prst="rect">
            <a:avLst/>
          </a:prstGeom>
          <a:noFill/>
          <a:ln/>
        </p:spPr>
        <p:txBody>
          <a:bodyPr wrap="square" lIns="0" tIns="0" rIns="0" bIns="0" rtlCol="0" anchor="ctr"/>
          <a:lstStyle/>
          <a:p>
            <a:pPr indent="0" marL="0">
              <a:buNone/>
            </a:pPr>
            <a:r>
              <a:rPr lang="en-US" sz="3200" b="1" dirty="0">
                <a:solidFill>
                  <a:srgbClr val="1B1A18"/>
                </a:solidFill>
                <a:latin typeface="Cambria" pitchFamily="34" charset="0"/>
                <a:ea typeface="Cambria" pitchFamily="34" charset="-122"/>
                <a:cs typeface="Cambria" pitchFamily="34" charset="-120"/>
              </a:rPr>
              <a:t>What makes it more than a file copier</a:t>
            </a:r>
            <a:endParaRPr lang="en-US" sz="3200" dirty="0"/>
          </a:p>
        </p:txBody>
      </p:sp>
      <p:sp>
        <p:nvSpPr>
          <p:cNvPr id="4" name="Shape 2"/>
          <p:cNvSpPr/>
          <p:nvPr/>
        </p:nvSpPr>
        <p:spPr>
          <a:xfrm>
            <a:off x="548640" y="1563624"/>
            <a:ext cx="402336" cy="402336"/>
          </a:xfrm>
          <a:prstGeom prst="ellipse">
            <a:avLst/>
          </a:prstGeom>
          <a:solidFill>
            <a:srgbClr val="2F5D50"/>
          </a:solidFill>
          <a:ln w="12700">
            <a:solidFill>
              <a:srgbClr val="2F5D50"/>
            </a:solidFill>
            <a:prstDash val="solid"/>
          </a:ln>
        </p:spPr>
      </p:sp>
      <p:sp>
        <p:nvSpPr>
          <p:cNvPr id="5" name="Text 3"/>
          <p:cNvSpPr txBox="1"/>
          <p:nvPr/>
        </p:nvSpPr>
        <p:spPr>
          <a:xfrm>
            <a:off x="548640" y="156362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6" name="Text 4"/>
          <p:cNvSpPr txBox="1"/>
          <p:nvPr/>
        </p:nvSpPr>
        <p:spPr>
          <a:xfrm>
            <a:off x="1115568" y="1536192"/>
            <a:ext cx="4663440" cy="329184"/>
          </a:xfrm>
          <a:prstGeom prst="rect">
            <a:avLst/>
          </a:prstGeom>
          <a:noFill/>
          <a:ln/>
        </p:spPr>
        <p:txBody>
          <a:bodyPr wrap="square" lIns="0" tIns="0" rIns="0" bIns="0" rtlCol="0" anchor="ctr"/>
          <a:lstStyle/>
          <a:p>
            <a:pPr indent="0" marL="0">
              <a:buNone/>
            </a:pPr>
            <a:r>
              <a:rPr lang="en-US" sz="1600" b="1" dirty="0">
                <a:solidFill>
                  <a:srgbClr val="1B1A18"/>
                </a:solidFill>
                <a:latin typeface="Cambria" pitchFamily="34" charset="0"/>
                <a:ea typeface="Cambria" pitchFamily="34" charset="-122"/>
                <a:cs typeface="Cambria" pitchFamily="34" charset="-120"/>
              </a:rPr>
              <a:t>Exact to the byte</a:t>
            </a:r>
            <a:endParaRPr lang="en-US" sz="1600" dirty="0"/>
          </a:p>
        </p:txBody>
      </p:sp>
      <p:sp>
        <p:nvSpPr>
          <p:cNvPr id="7" name="Text 5"/>
          <p:cNvSpPr txBox="1"/>
          <p:nvPr/>
        </p:nvSpPr>
        <p:spPr>
          <a:xfrm>
            <a:off x="1115568" y="1883664"/>
            <a:ext cx="4846320" cy="960120"/>
          </a:xfrm>
          <a:prstGeom prst="rect">
            <a:avLst/>
          </a:prstGeom>
          <a:noFill/>
          <a:ln/>
        </p:spPr>
        <p:txBody>
          <a:bodyPr wrap="square" lIns="0" tIns="0" rIns="0" bIns="0" rtlCol="0" anchor="t"/>
          <a:lstStyle/>
          <a:p>
            <a:pPr indent="0" marL="0">
              <a:lnSpc>
                <a:spcPts val="1800"/>
              </a:lnSpc>
              <a:buNone/>
            </a:pPr>
            <a:r>
              <a:rPr lang="en-US" sz="1400" dirty="0">
                <a:solidFill>
                  <a:srgbClr val="6D6A64"/>
                </a:solidFill>
                <a:latin typeface="Calibri" pitchFamily="34" charset="0"/>
                <a:ea typeface="Calibri" pitchFamily="34" charset="-122"/>
                <a:cs typeface="Calibri" pitchFamily="34" charset="-120"/>
              </a:rPr>
              <a:t>Ask for 25 GB and get 25 GB, delta zero. JPEG size is content-dependent, so nothing is estimated twice — video duration and comment padding close the gap.</a:t>
            </a:r>
            <a:endParaRPr lang="en-US" sz="1400" dirty="0"/>
          </a:p>
        </p:txBody>
      </p:sp>
      <p:sp>
        <p:nvSpPr>
          <p:cNvPr id="8" name="Shape 6"/>
          <p:cNvSpPr/>
          <p:nvPr/>
        </p:nvSpPr>
        <p:spPr>
          <a:xfrm>
            <a:off x="6263640" y="1563624"/>
            <a:ext cx="402336" cy="402336"/>
          </a:xfrm>
          <a:prstGeom prst="ellipse">
            <a:avLst/>
          </a:prstGeom>
          <a:solidFill>
            <a:srgbClr val="2F5D50"/>
          </a:solidFill>
          <a:ln w="12700">
            <a:solidFill>
              <a:srgbClr val="2F5D50"/>
            </a:solidFill>
            <a:prstDash val="solid"/>
          </a:ln>
        </p:spPr>
      </p:sp>
      <p:sp>
        <p:nvSpPr>
          <p:cNvPr id="9" name="Text 7"/>
          <p:cNvSpPr txBox="1"/>
          <p:nvPr/>
        </p:nvSpPr>
        <p:spPr>
          <a:xfrm>
            <a:off x="6263640" y="156362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6830568" y="1536192"/>
            <a:ext cx="4663440" cy="329184"/>
          </a:xfrm>
          <a:prstGeom prst="rect">
            <a:avLst/>
          </a:prstGeom>
          <a:noFill/>
          <a:ln/>
        </p:spPr>
        <p:txBody>
          <a:bodyPr wrap="square" lIns="0" tIns="0" rIns="0" bIns="0" rtlCol="0" anchor="ctr"/>
          <a:lstStyle/>
          <a:p>
            <a:pPr indent="0" marL="0">
              <a:buNone/>
            </a:pPr>
            <a:r>
              <a:rPr lang="en-US" sz="1600" b="1" dirty="0">
                <a:solidFill>
                  <a:srgbClr val="1B1A18"/>
                </a:solidFill>
                <a:latin typeface="Cambria" pitchFamily="34" charset="0"/>
                <a:ea typeface="Cambria" pitchFamily="34" charset="-122"/>
                <a:cs typeface="Cambria" pitchFamily="34" charset="-120"/>
              </a:rPr>
              <a:t>Metadata a gallery believes</a:t>
            </a:r>
            <a:endParaRPr lang="en-US" sz="1600" dirty="0"/>
          </a:p>
        </p:txBody>
      </p:sp>
      <p:sp>
        <p:nvSpPr>
          <p:cNvPr id="11" name="Text 9"/>
          <p:cNvSpPr txBox="1"/>
          <p:nvPr/>
        </p:nvSpPr>
        <p:spPr>
          <a:xfrm>
            <a:off x="6830568" y="1883664"/>
            <a:ext cx="4846320" cy="960120"/>
          </a:xfrm>
          <a:prstGeom prst="rect">
            <a:avLst/>
          </a:prstGeom>
          <a:noFill/>
          <a:ln/>
        </p:spPr>
        <p:txBody>
          <a:bodyPr wrap="square" lIns="0" tIns="0" rIns="0" bIns="0" rtlCol="0" anchor="t"/>
          <a:lstStyle/>
          <a:p>
            <a:pPr indent="0" marL="0">
              <a:lnSpc>
                <a:spcPts val="1800"/>
              </a:lnSpc>
              <a:buNone/>
            </a:pPr>
            <a:r>
              <a:rPr lang="en-US" sz="1400" dirty="0">
                <a:solidFill>
                  <a:srgbClr val="6D6A64"/>
                </a:solidFill>
                <a:latin typeface="Calibri" pitchFamily="34" charset="0"/>
                <a:ea typeface="Calibri" pitchFamily="34" charset="-122"/>
                <a:cs typeface="Calibri" pitchFamily="34" charset="-120"/>
              </a:rPr>
              <a:t>Hand-rolled EXIF: make, model, lens, ISO, GPS. Capture times anchored to a city's timezone, so a pack lands at the same instant everywhere.</a:t>
            </a:r>
            <a:endParaRPr lang="en-US" sz="1400" dirty="0"/>
          </a:p>
        </p:txBody>
      </p:sp>
      <p:sp>
        <p:nvSpPr>
          <p:cNvPr id="12" name="Shape 10"/>
          <p:cNvSpPr/>
          <p:nvPr/>
        </p:nvSpPr>
        <p:spPr>
          <a:xfrm>
            <a:off x="548640" y="3026664"/>
            <a:ext cx="402336" cy="402336"/>
          </a:xfrm>
          <a:prstGeom prst="ellipse">
            <a:avLst/>
          </a:prstGeom>
          <a:solidFill>
            <a:srgbClr val="2F5D50"/>
          </a:solidFill>
          <a:ln w="12700">
            <a:solidFill>
              <a:srgbClr val="2F5D50"/>
            </a:solidFill>
            <a:prstDash val="solid"/>
          </a:ln>
        </p:spPr>
      </p:sp>
      <p:sp>
        <p:nvSpPr>
          <p:cNvPr id="13" name="Text 11"/>
          <p:cNvSpPr txBox="1"/>
          <p:nvPr/>
        </p:nvSpPr>
        <p:spPr>
          <a:xfrm>
            <a:off x="548640" y="302666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ext 12"/>
          <p:cNvSpPr txBox="1"/>
          <p:nvPr/>
        </p:nvSpPr>
        <p:spPr>
          <a:xfrm>
            <a:off x="1115568" y="2999232"/>
            <a:ext cx="4663440" cy="329184"/>
          </a:xfrm>
          <a:prstGeom prst="rect">
            <a:avLst/>
          </a:prstGeom>
          <a:noFill/>
          <a:ln/>
        </p:spPr>
        <p:txBody>
          <a:bodyPr wrap="square" lIns="0" tIns="0" rIns="0" bIns="0" rtlCol="0" anchor="ctr"/>
          <a:lstStyle/>
          <a:p>
            <a:pPr indent="0" marL="0">
              <a:buNone/>
            </a:pPr>
            <a:r>
              <a:rPr lang="en-US" sz="1600" b="1" dirty="0">
                <a:solidFill>
                  <a:srgbClr val="1B1A18"/>
                </a:solidFill>
                <a:latin typeface="Cambria" pitchFamily="34" charset="0"/>
                <a:ea typeface="Cambria" pitchFamily="34" charset="-122"/>
                <a:cs typeface="Cambria" pitchFamily="34" charset="-120"/>
              </a:rPr>
              <a:t>Reproducible and resumable</a:t>
            </a:r>
            <a:endParaRPr lang="en-US" sz="1600" dirty="0"/>
          </a:p>
        </p:txBody>
      </p:sp>
      <p:sp>
        <p:nvSpPr>
          <p:cNvPr id="15" name="Text 13"/>
          <p:cNvSpPr txBox="1"/>
          <p:nvPr/>
        </p:nvSpPr>
        <p:spPr>
          <a:xfrm>
            <a:off x="1115568" y="3346704"/>
            <a:ext cx="4846320" cy="960120"/>
          </a:xfrm>
          <a:prstGeom prst="rect">
            <a:avLst/>
          </a:prstGeom>
          <a:noFill/>
          <a:ln/>
        </p:spPr>
        <p:txBody>
          <a:bodyPr wrap="square" lIns="0" tIns="0" rIns="0" bIns="0" rtlCol="0" anchor="t"/>
          <a:lstStyle/>
          <a:p>
            <a:pPr indent="0" marL="0">
              <a:lnSpc>
                <a:spcPts val="1800"/>
              </a:lnSpc>
              <a:buNone/>
            </a:pPr>
            <a:r>
              <a:rPr lang="en-US" sz="1400" dirty="0">
                <a:solidFill>
                  <a:srgbClr val="6D6A64"/>
                </a:solidFill>
                <a:latin typeface="Calibri" pitchFamily="34" charset="0"/>
                <a:ea typeface="Calibri" pitchFamily="34" charset="-122"/>
                <a:cs typeface="Calibri" pitchFamily="34" charset="-120"/>
              </a:rPr>
              <a:t>Same job and seed rebuild a pack byte for byte. A killed build resumes from its checkpoint rather than restarting a two-hour job.</a:t>
            </a:r>
            <a:endParaRPr lang="en-US" sz="1400" dirty="0"/>
          </a:p>
        </p:txBody>
      </p:sp>
      <p:sp>
        <p:nvSpPr>
          <p:cNvPr id="16" name="Shape 14"/>
          <p:cNvSpPr/>
          <p:nvPr/>
        </p:nvSpPr>
        <p:spPr>
          <a:xfrm>
            <a:off x="6263640" y="3026664"/>
            <a:ext cx="402336" cy="402336"/>
          </a:xfrm>
          <a:prstGeom prst="ellipse">
            <a:avLst/>
          </a:prstGeom>
          <a:solidFill>
            <a:srgbClr val="2F5D50"/>
          </a:solidFill>
          <a:ln w="12700">
            <a:solidFill>
              <a:srgbClr val="2F5D50"/>
            </a:solidFill>
            <a:prstDash val="solid"/>
          </a:ln>
        </p:spPr>
      </p:sp>
      <p:sp>
        <p:nvSpPr>
          <p:cNvPr id="17" name="Text 15"/>
          <p:cNvSpPr txBox="1"/>
          <p:nvPr/>
        </p:nvSpPr>
        <p:spPr>
          <a:xfrm>
            <a:off x="6263640" y="302666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8" name="Text 16"/>
          <p:cNvSpPr txBox="1"/>
          <p:nvPr/>
        </p:nvSpPr>
        <p:spPr>
          <a:xfrm>
            <a:off x="6830568" y="2999232"/>
            <a:ext cx="4663440" cy="329184"/>
          </a:xfrm>
          <a:prstGeom prst="rect">
            <a:avLst/>
          </a:prstGeom>
          <a:noFill/>
          <a:ln/>
        </p:spPr>
        <p:txBody>
          <a:bodyPr wrap="square" lIns="0" tIns="0" rIns="0" bIns="0" rtlCol="0" anchor="ctr"/>
          <a:lstStyle/>
          <a:p>
            <a:pPr indent="0" marL="0">
              <a:buNone/>
            </a:pPr>
            <a:r>
              <a:rPr lang="en-US" sz="1600" b="1" dirty="0">
                <a:solidFill>
                  <a:srgbClr val="1B1A18"/>
                </a:solidFill>
                <a:latin typeface="Cambria" pitchFamily="34" charset="0"/>
                <a:ea typeface="Cambria" pitchFamily="34" charset="-122"/>
                <a:cs typeface="Cambria" pitchFamily="34" charset="-120"/>
              </a:rPr>
              <a:t>Wipe is a first-class verb</a:t>
            </a:r>
            <a:endParaRPr lang="en-US" sz="1600" dirty="0"/>
          </a:p>
        </p:txBody>
      </p:sp>
      <p:sp>
        <p:nvSpPr>
          <p:cNvPr id="19" name="Text 17"/>
          <p:cNvSpPr txBox="1"/>
          <p:nvPr/>
        </p:nvSpPr>
        <p:spPr>
          <a:xfrm>
            <a:off x="6830568" y="3346704"/>
            <a:ext cx="4846320" cy="960120"/>
          </a:xfrm>
          <a:prstGeom prst="rect">
            <a:avLst/>
          </a:prstGeom>
          <a:noFill/>
          <a:ln/>
        </p:spPr>
        <p:txBody>
          <a:bodyPr wrap="square" lIns="0" tIns="0" rIns="0" bIns="0" rtlCol="0" anchor="t"/>
          <a:lstStyle/>
          <a:p>
            <a:pPr indent="0" marL="0">
              <a:lnSpc>
                <a:spcPts val="1800"/>
              </a:lnSpc>
              <a:buNone/>
            </a:pPr>
            <a:r>
              <a:rPr lang="en-US" sz="1400" dirty="0">
                <a:solidFill>
                  <a:srgbClr val="6D6A64"/>
                </a:solidFill>
                <a:latin typeface="Calibri" pitchFamily="34" charset="0"/>
                <a:ea typeface="Calibri" pitchFamily="34" charset="-122"/>
                <a:cs typeface="Calibri" pitchFamily="34" charset="-120"/>
              </a:rPr>
              <a:t>Deletion keys off a recorded receipt, never filenames — iOS renames every import. Nothing outside that receipt is ever touched.</a:t>
            </a:r>
            <a:endParaRPr lang="en-US" sz="1400" dirty="0"/>
          </a:p>
        </p:txBody>
      </p:sp>
      <p:sp>
        <p:nvSpPr>
          <p:cNvPr id="20" name="Shape 18"/>
          <p:cNvSpPr/>
          <p:nvPr/>
        </p:nvSpPr>
        <p:spPr>
          <a:xfrm>
            <a:off x="548640" y="4489704"/>
            <a:ext cx="402336" cy="402336"/>
          </a:xfrm>
          <a:prstGeom prst="ellipse">
            <a:avLst/>
          </a:prstGeom>
          <a:solidFill>
            <a:srgbClr val="2F5D50"/>
          </a:solidFill>
          <a:ln w="12700">
            <a:solidFill>
              <a:srgbClr val="2F5D50"/>
            </a:solidFill>
            <a:prstDash val="solid"/>
          </a:ln>
        </p:spPr>
      </p:sp>
      <p:sp>
        <p:nvSpPr>
          <p:cNvPr id="21" name="Text 19"/>
          <p:cNvSpPr txBox="1"/>
          <p:nvPr/>
        </p:nvSpPr>
        <p:spPr>
          <a:xfrm>
            <a:off x="548640" y="448970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2" name="Text 20"/>
          <p:cNvSpPr txBox="1"/>
          <p:nvPr/>
        </p:nvSpPr>
        <p:spPr>
          <a:xfrm>
            <a:off x="1115568" y="4462272"/>
            <a:ext cx="4663440" cy="329184"/>
          </a:xfrm>
          <a:prstGeom prst="rect">
            <a:avLst/>
          </a:prstGeom>
          <a:noFill/>
          <a:ln/>
        </p:spPr>
        <p:txBody>
          <a:bodyPr wrap="square" lIns="0" tIns="0" rIns="0" bIns="0" rtlCol="0" anchor="ctr"/>
          <a:lstStyle/>
          <a:p>
            <a:pPr indent="0" marL="0">
              <a:buNone/>
            </a:pPr>
            <a:r>
              <a:rPr lang="en-US" sz="1600" b="1" dirty="0">
                <a:solidFill>
                  <a:srgbClr val="1B1A18"/>
                </a:solidFill>
                <a:latin typeface="Cambria" pitchFamily="34" charset="0"/>
                <a:ea typeface="Cambria" pitchFamily="34" charset="-122"/>
                <a:cs typeface="Cambria" pitchFamily="34" charset="-120"/>
              </a:rPr>
              <a:t>Formats that match the hardware</a:t>
            </a:r>
            <a:endParaRPr lang="en-US" sz="1600" dirty="0"/>
          </a:p>
        </p:txBody>
      </p:sp>
      <p:sp>
        <p:nvSpPr>
          <p:cNvPr id="23" name="Text 21"/>
          <p:cNvSpPr txBox="1"/>
          <p:nvPr/>
        </p:nvSpPr>
        <p:spPr>
          <a:xfrm>
            <a:off x="1115568" y="4809744"/>
            <a:ext cx="4846320" cy="960120"/>
          </a:xfrm>
          <a:prstGeom prst="rect">
            <a:avLst/>
          </a:prstGeom>
          <a:noFill/>
          <a:ln/>
        </p:spPr>
        <p:txBody>
          <a:bodyPr wrap="square" lIns="0" tIns="0" rIns="0" bIns="0" rtlCol="0" anchor="t"/>
          <a:lstStyle/>
          <a:p>
            <a:pPr indent="0" marL="0">
              <a:lnSpc>
                <a:spcPts val="1800"/>
              </a:lnSpc>
              <a:buNone/>
            </a:pPr>
            <a:r>
              <a:rPr lang="en-US" sz="1400" dirty="0">
                <a:solidFill>
                  <a:srgbClr val="6D6A64"/>
                </a:solidFill>
                <a:latin typeface="Calibri" pitchFamily="34" charset="0"/>
                <a:ea typeface="Calibri" pitchFamily="34" charset="-122"/>
                <a:cs typeface="Calibri" pitchFamily="34" charset="-120"/>
              </a:rPr>
              <a:t>HEIC and HEVC, or mixed libraries. Verified: Android assigns image/heic correctly; iOS keeps creationDate exact.</a:t>
            </a:r>
            <a:endParaRPr lang="en-US" sz="1400" dirty="0"/>
          </a:p>
        </p:txBody>
      </p:sp>
      <p:sp>
        <p:nvSpPr>
          <p:cNvPr id="24" name="Shape 22"/>
          <p:cNvSpPr/>
          <p:nvPr/>
        </p:nvSpPr>
        <p:spPr>
          <a:xfrm>
            <a:off x="6263640" y="4489704"/>
            <a:ext cx="402336" cy="402336"/>
          </a:xfrm>
          <a:prstGeom prst="ellipse">
            <a:avLst/>
          </a:prstGeom>
          <a:solidFill>
            <a:srgbClr val="2F5D50"/>
          </a:solidFill>
          <a:ln w="12700">
            <a:solidFill>
              <a:srgbClr val="2F5D50"/>
            </a:solidFill>
            <a:prstDash val="solid"/>
          </a:ln>
        </p:spPr>
      </p:sp>
      <p:sp>
        <p:nvSpPr>
          <p:cNvPr id="25" name="Text 23"/>
          <p:cNvSpPr txBox="1"/>
          <p:nvPr/>
        </p:nvSpPr>
        <p:spPr>
          <a:xfrm>
            <a:off x="6263640" y="448970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26" name="Text 24"/>
          <p:cNvSpPr txBox="1"/>
          <p:nvPr/>
        </p:nvSpPr>
        <p:spPr>
          <a:xfrm>
            <a:off x="6830568" y="4462272"/>
            <a:ext cx="4663440" cy="329184"/>
          </a:xfrm>
          <a:prstGeom prst="rect">
            <a:avLst/>
          </a:prstGeom>
          <a:noFill/>
          <a:ln/>
        </p:spPr>
        <p:txBody>
          <a:bodyPr wrap="square" lIns="0" tIns="0" rIns="0" bIns="0" rtlCol="0" anchor="ctr"/>
          <a:lstStyle/>
          <a:p>
            <a:pPr indent="0" marL="0">
              <a:buNone/>
            </a:pPr>
            <a:r>
              <a:rPr lang="en-US" sz="1600" b="1" dirty="0">
                <a:solidFill>
                  <a:srgbClr val="1B1A18"/>
                </a:solidFill>
                <a:latin typeface="Cambria" pitchFamily="34" charset="0"/>
                <a:ea typeface="Cambria" pitchFamily="34" charset="-122"/>
                <a:cs typeface="Cambria" pitchFamily="34" charset="-120"/>
              </a:rPr>
              <a:t>It checks its own work</a:t>
            </a:r>
            <a:endParaRPr lang="en-US" sz="1600" dirty="0"/>
          </a:p>
        </p:txBody>
      </p:sp>
      <p:sp>
        <p:nvSpPr>
          <p:cNvPr id="27" name="Text 25"/>
          <p:cNvSpPr txBox="1"/>
          <p:nvPr/>
        </p:nvSpPr>
        <p:spPr>
          <a:xfrm>
            <a:off x="6830568" y="4809744"/>
            <a:ext cx="4846320" cy="960120"/>
          </a:xfrm>
          <a:prstGeom prst="rect">
            <a:avLst/>
          </a:prstGeom>
          <a:noFill/>
          <a:ln/>
        </p:spPr>
        <p:txBody>
          <a:bodyPr wrap="square" lIns="0" tIns="0" rIns="0" bIns="0" rtlCol="0" anchor="t"/>
          <a:lstStyle/>
          <a:p>
            <a:pPr indent="0" marL="0">
              <a:lnSpc>
                <a:spcPts val="1800"/>
              </a:lnSpc>
              <a:buNone/>
            </a:pPr>
            <a:r>
              <a:rPr lang="en-US" sz="1400" dirty="0">
                <a:solidFill>
                  <a:srgbClr val="6D6A64"/>
                </a:solidFill>
                <a:latin typeface="Calibri" pitchFamily="34" charset="0"/>
                <a:ea typeface="Calibri" pitchFamily="34" charset="-122"/>
                <a:cs typeface="Calibri" pitchFamily="34" charset="-120"/>
              </a:rPr>
              <a:t>tdg verify asks the device what the gallery actually indexed — count, capture time, album — and fails CI when they disagree.</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274320"/>
            <a:ext cx="11064240" cy="274320"/>
          </a:xfrm>
          <a:prstGeom prst="rect">
            <a:avLst/>
          </a:prstGeom>
          <a:noFill/>
          <a:ln/>
        </p:spPr>
        <p:txBody>
          <a:bodyPr wrap="square" lIns="0" tIns="0" rIns="0" bIns="0" rtlCol="0" anchor="ctr"/>
          <a:lstStyle/>
          <a:p>
            <a:pPr indent="0" marL="0">
              <a:buNone/>
            </a:pPr>
            <a:r>
              <a:rPr lang="en-US" sz="1400" b="1" spc="200" kern="0" dirty="0">
                <a:solidFill>
                  <a:srgbClr val="2F5D50"/>
                </a:solidFill>
                <a:latin typeface="Calibri" pitchFamily="34" charset="0"/>
                <a:ea typeface="Calibri" pitchFamily="34" charset="-122"/>
                <a:cs typeface="Calibri" pitchFamily="34" charset="-120"/>
              </a:rPr>
              <a:t>UNIQUENESS</a:t>
            </a:r>
            <a:endParaRPr lang="en-US" sz="1400" dirty="0"/>
          </a:p>
        </p:txBody>
      </p:sp>
      <p:sp>
        <p:nvSpPr>
          <p:cNvPr id="3" name="Text 1"/>
          <p:cNvSpPr txBox="1"/>
          <p:nvPr/>
        </p:nvSpPr>
        <p:spPr>
          <a:xfrm>
            <a:off x="548640" y="585216"/>
            <a:ext cx="11064240" cy="713232"/>
          </a:xfrm>
          <a:prstGeom prst="rect">
            <a:avLst/>
          </a:prstGeom>
          <a:noFill/>
          <a:ln/>
        </p:spPr>
        <p:txBody>
          <a:bodyPr wrap="square" lIns="0" tIns="0" rIns="0" bIns="0" rtlCol="0" anchor="ctr"/>
          <a:lstStyle/>
          <a:p>
            <a:pPr indent="0" marL="0">
              <a:buNone/>
            </a:pPr>
            <a:r>
              <a:rPr lang="en-US" sz="3200" b="1" dirty="0">
                <a:solidFill>
                  <a:srgbClr val="1B1A18"/>
                </a:solidFill>
                <a:latin typeface="Cambria" pitchFamily="34" charset="0"/>
                <a:ea typeface="Cambria" pitchFamily="34" charset="-122"/>
                <a:cs typeface="Cambria" pitchFamily="34" charset="-120"/>
              </a:rPr>
              <a:t>Every still is a different picture</a:t>
            </a:r>
            <a:endParaRPr lang="en-US" sz="3200" dirty="0"/>
          </a:p>
        </p:txBody>
      </p:sp>
      <p:sp>
        <p:nvSpPr>
          <p:cNvPr id="4" name="Text 2"/>
          <p:cNvSpPr txBox="1"/>
          <p:nvPr/>
        </p:nvSpPr>
        <p:spPr>
          <a:xfrm>
            <a:off x="548640" y="1389888"/>
            <a:ext cx="11064240" cy="365760"/>
          </a:xfrm>
          <a:prstGeom prst="rect">
            <a:avLst/>
          </a:prstGeom>
          <a:noFill/>
          <a:ln/>
        </p:spPr>
        <p:txBody>
          <a:bodyPr wrap="square" lIns="0" tIns="0" rIns="0" bIns="0" rtlCol="0" anchor="ctr"/>
          <a:lstStyle/>
          <a:p>
            <a:pPr indent="0" marL="0">
              <a:buNone/>
            </a:pPr>
            <a:r>
              <a:rPr lang="en-US" sz="1400" dirty="0">
                <a:solidFill>
                  <a:srgbClr val="6D6A64"/>
                </a:solidFill>
                <a:latin typeface="Calibri" pitchFamily="34" charset="0"/>
                <a:ea typeface="Calibri" pitchFamily="34" charset="-122"/>
                <a:cs typeface="Calibri" pitchFamily="34" charset="-120"/>
              </a:rPr>
              <a:t>Different EXIF alone guarantees distinct checksums. The real question is whether two files are the same photograph.</a:t>
            </a:r>
            <a:endParaRPr lang="en-US" sz="1400" dirty="0"/>
          </a:p>
        </p:txBody>
      </p:sp>
      <p:sp>
        <p:nvSpPr>
          <p:cNvPr id="5" name="Shape 3"/>
          <p:cNvSpPr/>
          <p:nvPr/>
        </p:nvSpPr>
        <p:spPr>
          <a:xfrm>
            <a:off x="548640" y="1847088"/>
            <a:ext cx="5349240" cy="1463040"/>
          </a:xfrm>
          <a:prstGeom prst="roundRect">
            <a:avLst>
              <a:gd name="adj" fmla="val 5625"/>
            </a:avLst>
          </a:prstGeom>
          <a:solidFill>
            <a:srgbClr val="F3E6E2"/>
          </a:solidFill>
          <a:ln w="12700">
            <a:solidFill>
              <a:srgbClr val="F3E6E2"/>
            </a:solidFill>
            <a:prstDash val="solid"/>
          </a:ln>
        </p:spPr>
      </p:sp>
      <p:sp>
        <p:nvSpPr>
          <p:cNvPr id="6" name="Text 4"/>
          <p:cNvSpPr txBox="1"/>
          <p:nvPr/>
        </p:nvSpPr>
        <p:spPr>
          <a:xfrm>
            <a:off x="822960" y="2194560"/>
            <a:ext cx="1417320" cy="658368"/>
          </a:xfrm>
          <a:prstGeom prst="rect">
            <a:avLst/>
          </a:prstGeom>
          <a:noFill/>
          <a:ln/>
        </p:spPr>
        <p:txBody>
          <a:bodyPr wrap="square" lIns="0" tIns="0" rIns="0" bIns="0" rtlCol="0" anchor="ctr"/>
          <a:lstStyle/>
          <a:p>
            <a:pPr indent="0" marL="0">
              <a:buNone/>
            </a:pPr>
            <a:r>
              <a:rPr lang="en-US" sz="4000" b="1" dirty="0">
                <a:solidFill>
                  <a:srgbClr val="9C4A32"/>
                </a:solidFill>
                <a:latin typeface="Cambria" pitchFamily="34" charset="0"/>
                <a:ea typeface="Cambria" pitchFamily="34" charset="-122"/>
                <a:cs typeface="Cambria" pitchFamily="34" charset="-120"/>
              </a:rPr>
              <a:t>268</a:t>
            </a:r>
            <a:endParaRPr lang="en-US" sz="4000" dirty="0"/>
          </a:p>
        </p:txBody>
      </p:sp>
      <p:sp>
        <p:nvSpPr>
          <p:cNvPr id="7" name="Text 5"/>
          <p:cNvSpPr txBox="1"/>
          <p:nvPr/>
        </p:nvSpPr>
        <p:spPr>
          <a:xfrm>
            <a:off x="2331720" y="2029968"/>
            <a:ext cx="3383280" cy="310896"/>
          </a:xfrm>
          <a:prstGeom prst="rect">
            <a:avLst/>
          </a:prstGeom>
          <a:noFill/>
          <a:ln/>
        </p:spPr>
        <p:txBody>
          <a:bodyPr wrap="square" lIns="0" tIns="0" rIns="0" bIns="0" rtlCol="0" anchor="ctr"/>
          <a:lstStyle/>
          <a:p>
            <a:pPr indent="0" marL="0">
              <a:buNone/>
            </a:pPr>
            <a:r>
              <a:rPr lang="en-US" sz="1600" b="1" dirty="0">
                <a:solidFill>
                  <a:srgbClr val="1B1A18"/>
                </a:solidFill>
                <a:latin typeface="Cambria" pitchFamily="34" charset="0"/>
                <a:ea typeface="Cambria" pitchFamily="34" charset="-122"/>
                <a:cs typeface="Cambria" pitchFamily="34" charset="-120"/>
              </a:rPr>
              <a:t>12 synthetic seeds</a:t>
            </a:r>
            <a:endParaRPr lang="en-US" sz="1600" dirty="0"/>
          </a:p>
        </p:txBody>
      </p:sp>
      <p:sp>
        <p:nvSpPr>
          <p:cNvPr id="8" name="Text 6"/>
          <p:cNvSpPr txBox="1"/>
          <p:nvPr/>
        </p:nvSpPr>
        <p:spPr>
          <a:xfrm>
            <a:off x="2331720" y="2359152"/>
            <a:ext cx="3383280" cy="859536"/>
          </a:xfrm>
          <a:prstGeom prst="rect">
            <a:avLst/>
          </a:prstGeom>
          <a:noFill/>
          <a:ln/>
        </p:spPr>
        <p:txBody>
          <a:bodyPr wrap="square" lIns="0" tIns="0" rIns="0" bIns="0" rtlCol="0" anchor="t"/>
          <a:lstStyle/>
          <a:p>
            <a:pPr indent="0" marL="0">
              <a:lnSpc>
                <a:spcPts val="1800"/>
              </a:lnSpc>
              <a:buNone/>
            </a:pPr>
            <a:r>
              <a:rPr lang="en-US" sz="1400" dirty="0">
                <a:solidFill>
                  <a:srgbClr val="6D6A64"/>
                </a:solidFill>
                <a:latin typeface="Calibri" pitchFamily="34" charset="0"/>
                <a:ea typeface="Calibri" pitchFamily="34" charset="-122"/>
                <a:cs typeface="Calibri" pitchFamily="34" charset="-120"/>
              </a:rPr>
              <a:t>identical pairs in a 2,227-photo pack. At 186 crops per seed, overlapping windows are arithmetic rather than bad luck.</a:t>
            </a:r>
            <a:endParaRPr lang="en-US" sz="1400" dirty="0"/>
          </a:p>
        </p:txBody>
      </p:sp>
      <p:sp>
        <p:nvSpPr>
          <p:cNvPr id="9" name="Shape 7"/>
          <p:cNvSpPr/>
          <p:nvPr/>
        </p:nvSpPr>
        <p:spPr>
          <a:xfrm>
            <a:off x="6263640" y="1847088"/>
            <a:ext cx="5349240" cy="1463040"/>
          </a:xfrm>
          <a:prstGeom prst="roundRect">
            <a:avLst>
              <a:gd name="adj" fmla="val 5625"/>
            </a:avLst>
          </a:prstGeom>
          <a:solidFill>
            <a:srgbClr val="E4EEE9"/>
          </a:solidFill>
          <a:ln w="12700">
            <a:solidFill>
              <a:srgbClr val="E4EEE9"/>
            </a:solidFill>
            <a:prstDash val="solid"/>
          </a:ln>
        </p:spPr>
      </p:sp>
      <p:sp>
        <p:nvSpPr>
          <p:cNvPr id="10" name="Text 8"/>
          <p:cNvSpPr txBox="1"/>
          <p:nvPr/>
        </p:nvSpPr>
        <p:spPr>
          <a:xfrm>
            <a:off x="6537960" y="2194560"/>
            <a:ext cx="1417320" cy="658368"/>
          </a:xfrm>
          <a:prstGeom prst="rect">
            <a:avLst/>
          </a:prstGeom>
          <a:noFill/>
          <a:ln/>
        </p:spPr>
        <p:txBody>
          <a:bodyPr wrap="square" lIns="0" tIns="0" rIns="0" bIns="0" rtlCol="0" anchor="ctr"/>
          <a:lstStyle/>
          <a:p>
            <a:pPr indent="0" marL="0">
              <a:buNone/>
            </a:pPr>
            <a:r>
              <a:rPr lang="en-US" sz="4000" b="1" dirty="0">
                <a:solidFill>
                  <a:srgbClr val="2F5D50"/>
                </a:solidFill>
                <a:latin typeface="Cambria" pitchFamily="34" charset="0"/>
                <a:ea typeface="Cambria" pitchFamily="34" charset="-122"/>
                <a:cs typeface="Cambria" pitchFamily="34" charset="-120"/>
              </a:rPr>
              <a:t>0</a:t>
            </a:r>
            <a:endParaRPr lang="en-US" sz="4000" dirty="0"/>
          </a:p>
        </p:txBody>
      </p:sp>
      <p:sp>
        <p:nvSpPr>
          <p:cNvPr id="11" name="Text 9"/>
          <p:cNvSpPr txBox="1"/>
          <p:nvPr/>
        </p:nvSpPr>
        <p:spPr>
          <a:xfrm>
            <a:off x="8046720" y="2029968"/>
            <a:ext cx="3383280" cy="310896"/>
          </a:xfrm>
          <a:prstGeom prst="rect">
            <a:avLst/>
          </a:prstGeom>
          <a:noFill/>
          <a:ln/>
        </p:spPr>
        <p:txBody>
          <a:bodyPr wrap="square" lIns="0" tIns="0" rIns="0" bIns="0" rtlCol="0" anchor="ctr"/>
          <a:lstStyle/>
          <a:p>
            <a:pPr indent="0" marL="0">
              <a:buNone/>
            </a:pPr>
            <a:r>
              <a:rPr lang="en-US" sz="1600" b="1" dirty="0">
                <a:solidFill>
                  <a:srgbClr val="1B1A18"/>
                </a:solidFill>
                <a:latin typeface="Cambria" pitchFamily="34" charset="0"/>
                <a:ea typeface="Cambria" pitchFamily="34" charset="-122"/>
                <a:cs typeface="Cambria" pitchFamily="34" charset="-120"/>
              </a:rPr>
              <a:t>212 harvested seeds</a:t>
            </a:r>
            <a:endParaRPr lang="en-US" sz="1600" dirty="0"/>
          </a:p>
        </p:txBody>
      </p:sp>
      <p:sp>
        <p:nvSpPr>
          <p:cNvPr id="12" name="Text 10"/>
          <p:cNvSpPr txBox="1"/>
          <p:nvPr/>
        </p:nvSpPr>
        <p:spPr>
          <a:xfrm>
            <a:off x="8046720" y="2359152"/>
            <a:ext cx="3383280" cy="859536"/>
          </a:xfrm>
          <a:prstGeom prst="rect">
            <a:avLst/>
          </a:prstGeom>
          <a:noFill/>
          <a:ln/>
        </p:spPr>
        <p:txBody>
          <a:bodyPr wrap="square" lIns="0" tIns="0" rIns="0" bIns="0" rtlCol="0" anchor="t"/>
          <a:lstStyle/>
          <a:p>
            <a:pPr indent="0" marL="0">
              <a:lnSpc>
                <a:spcPts val="1800"/>
              </a:lnSpc>
              <a:buNone/>
            </a:pPr>
            <a:r>
              <a:rPr lang="en-US" sz="1400" dirty="0">
                <a:solidFill>
                  <a:srgbClr val="6D6A64"/>
                </a:solidFill>
                <a:latin typeface="Calibri" pitchFamily="34" charset="0"/>
                <a:ea typeface="Calibri" pitchFamily="34" charset="-122"/>
                <a:cs typeface="Calibri" pitchFamily="34" charset="-120"/>
              </a:rPr>
              <a:t>identical pairs in the same measurement, once the pool, the variation and the gate are all in place.</a:t>
            </a:r>
            <a:endParaRPr lang="en-US" sz="1400" dirty="0"/>
          </a:p>
        </p:txBody>
      </p:sp>
      <p:sp>
        <p:nvSpPr>
          <p:cNvPr id="13" name="Shape 11"/>
          <p:cNvSpPr/>
          <p:nvPr/>
        </p:nvSpPr>
        <p:spPr>
          <a:xfrm>
            <a:off x="548640" y="3493008"/>
            <a:ext cx="3447288" cy="1993392"/>
          </a:xfrm>
          <a:prstGeom prst="roundRect">
            <a:avLst>
              <a:gd name="adj" fmla="val 4128"/>
            </a:avLst>
          </a:prstGeom>
          <a:solidFill>
            <a:srgbClr val="E4EEE9"/>
          </a:solidFill>
          <a:ln w="12700">
            <a:solidFill>
              <a:srgbClr val="E4EEE9"/>
            </a:solidFill>
            <a:prstDash val="solid"/>
          </a:ln>
        </p:spPr>
      </p:sp>
      <p:sp>
        <p:nvSpPr>
          <p:cNvPr id="14" name="Text 12"/>
          <p:cNvSpPr txBox="1"/>
          <p:nvPr/>
        </p:nvSpPr>
        <p:spPr>
          <a:xfrm>
            <a:off x="786384" y="3657600"/>
            <a:ext cx="3017520" cy="347472"/>
          </a:xfrm>
          <a:prstGeom prst="rect">
            <a:avLst/>
          </a:prstGeom>
          <a:noFill/>
          <a:ln/>
        </p:spPr>
        <p:txBody>
          <a:bodyPr wrap="square" lIns="0" tIns="0" rIns="0" bIns="0" rtlCol="0" anchor="ctr"/>
          <a:lstStyle/>
          <a:p>
            <a:pPr indent="0" marL="0">
              <a:buNone/>
            </a:pPr>
            <a:r>
              <a:rPr lang="en-US" sz="1600" b="1" dirty="0">
                <a:solidFill>
                  <a:srgbClr val="2F5D50"/>
                </a:solidFill>
                <a:latin typeface="Cambria" pitchFamily="34" charset="0"/>
                <a:ea typeface="Cambria" pitchFamily="34" charset="-122"/>
                <a:cs typeface="Cambria" pitchFamily="34" charset="-120"/>
              </a:rPr>
              <a:t>The pool</a:t>
            </a:r>
            <a:endParaRPr lang="en-US" sz="1600" dirty="0"/>
          </a:p>
        </p:txBody>
      </p:sp>
      <p:sp>
        <p:nvSpPr>
          <p:cNvPr id="15" name="Text 13"/>
          <p:cNvSpPr txBox="1"/>
          <p:nvPr/>
        </p:nvSpPr>
        <p:spPr>
          <a:xfrm>
            <a:off x="786384" y="4041648"/>
            <a:ext cx="2999232" cy="1316736"/>
          </a:xfrm>
          <a:prstGeom prst="rect">
            <a:avLst/>
          </a:prstGeom>
          <a:noFill/>
          <a:ln/>
        </p:spPr>
        <p:txBody>
          <a:bodyPr wrap="square" lIns="0" tIns="0" rIns="0" bIns="0" rtlCol="0" anchor="t"/>
          <a:lstStyle/>
          <a:p>
            <a:pPr indent="0" marL="0">
              <a:lnSpc>
                <a:spcPts val="1700"/>
              </a:lnSpc>
              <a:buNone/>
            </a:pPr>
            <a:r>
              <a:rPr lang="en-US" sz="1400" dirty="0">
                <a:solidFill>
                  <a:srgbClr val="6D6A64"/>
                </a:solidFill>
                <a:latin typeface="Calibri" pitchFamily="34" charset="0"/>
                <a:ea typeface="Calibri" pitchFamily="34" charset="-122"/>
                <a:cs typeface="Calibri" pitchFamily="34" charset="-120"/>
              </a:rPr>
              <a:t>More seeds, fewer crops each. tdg harvest fetches real open-license media once and caches it — stock APIs forbid bulk downloading, so one polite harvest serves every pack thereafter.</a:t>
            </a:r>
            <a:endParaRPr lang="en-US" sz="1400" dirty="0"/>
          </a:p>
        </p:txBody>
      </p:sp>
      <p:sp>
        <p:nvSpPr>
          <p:cNvPr id="16" name="Shape 14"/>
          <p:cNvSpPr/>
          <p:nvPr/>
        </p:nvSpPr>
        <p:spPr>
          <a:xfrm>
            <a:off x="4361688" y="3493008"/>
            <a:ext cx="3447288" cy="1993392"/>
          </a:xfrm>
          <a:prstGeom prst="roundRect">
            <a:avLst>
              <a:gd name="adj" fmla="val 4128"/>
            </a:avLst>
          </a:prstGeom>
          <a:solidFill>
            <a:srgbClr val="E4EEE9"/>
          </a:solidFill>
          <a:ln w="12700">
            <a:solidFill>
              <a:srgbClr val="E4EEE9"/>
            </a:solidFill>
            <a:prstDash val="solid"/>
          </a:ln>
        </p:spPr>
      </p:sp>
      <p:sp>
        <p:nvSpPr>
          <p:cNvPr id="17" name="Text 15"/>
          <p:cNvSpPr txBox="1"/>
          <p:nvPr/>
        </p:nvSpPr>
        <p:spPr>
          <a:xfrm>
            <a:off x="4599432" y="3657600"/>
            <a:ext cx="3017520" cy="347472"/>
          </a:xfrm>
          <a:prstGeom prst="rect">
            <a:avLst/>
          </a:prstGeom>
          <a:noFill/>
          <a:ln/>
        </p:spPr>
        <p:txBody>
          <a:bodyPr wrap="square" lIns="0" tIns="0" rIns="0" bIns="0" rtlCol="0" anchor="ctr"/>
          <a:lstStyle/>
          <a:p>
            <a:pPr indent="0" marL="0">
              <a:buNone/>
            </a:pPr>
            <a:r>
              <a:rPr lang="en-US" sz="1600" b="1" dirty="0">
                <a:solidFill>
                  <a:srgbClr val="2F5D50"/>
                </a:solidFill>
                <a:latin typeface="Cambria" pitchFamily="34" charset="0"/>
                <a:ea typeface="Cambria" pitchFamily="34" charset="-122"/>
                <a:cs typeface="Cambria" pitchFamily="34" charset="-120"/>
              </a:rPr>
              <a:t>Variation per file</a:t>
            </a:r>
            <a:endParaRPr lang="en-US" sz="1600" dirty="0"/>
          </a:p>
        </p:txBody>
      </p:sp>
      <p:sp>
        <p:nvSpPr>
          <p:cNvPr id="18" name="Text 16"/>
          <p:cNvSpPr txBox="1"/>
          <p:nvPr/>
        </p:nvSpPr>
        <p:spPr>
          <a:xfrm>
            <a:off x="4599432" y="4041648"/>
            <a:ext cx="2999232" cy="1316736"/>
          </a:xfrm>
          <a:prstGeom prst="rect">
            <a:avLst/>
          </a:prstGeom>
          <a:noFill/>
          <a:ln/>
        </p:spPr>
        <p:txBody>
          <a:bodyPr wrap="square" lIns="0" tIns="0" rIns="0" bIns="0" rtlCol="0" anchor="t"/>
          <a:lstStyle/>
          <a:p>
            <a:pPr indent="0" marL="0">
              <a:lnSpc>
                <a:spcPts val="1700"/>
              </a:lnSpc>
              <a:buNone/>
            </a:pPr>
            <a:r>
              <a:rPr lang="en-US" sz="1400" dirty="0">
                <a:solidFill>
                  <a:srgbClr val="6D6A64"/>
                </a:solidFill>
                <a:latin typeface="Calibri" pitchFamily="34" charset="0"/>
                <a:ea typeface="Calibri" pitchFamily="34" charset="-122"/>
                <a:cs typeface="Calibri" pitchFamily="34" charset="-120"/>
              </a:rPr>
              <a:t>A random crop window and scale, a horizontal flip, a slight rotation, and jitter on colour, brightness and contrast. Geometry alone was not enough: two overlapping crops diverge once their tone does.</a:t>
            </a:r>
            <a:endParaRPr lang="en-US" sz="1400" dirty="0"/>
          </a:p>
        </p:txBody>
      </p:sp>
      <p:sp>
        <p:nvSpPr>
          <p:cNvPr id="19" name="Shape 17"/>
          <p:cNvSpPr/>
          <p:nvPr/>
        </p:nvSpPr>
        <p:spPr>
          <a:xfrm>
            <a:off x="8174736" y="3493008"/>
            <a:ext cx="3447288" cy="1993392"/>
          </a:xfrm>
          <a:prstGeom prst="roundRect">
            <a:avLst>
              <a:gd name="adj" fmla="val 4128"/>
            </a:avLst>
          </a:prstGeom>
          <a:solidFill>
            <a:srgbClr val="E4EEE9"/>
          </a:solidFill>
          <a:ln w="12700">
            <a:solidFill>
              <a:srgbClr val="E4EEE9"/>
            </a:solidFill>
            <a:prstDash val="solid"/>
          </a:ln>
        </p:spPr>
      </p:sp>
      <p:sp>
        <p:nvSpPr>
          <p:cNvPr id="20" name="Text 18"/>
          <p:cNvSpPr txBox="1"/>
          <p:nvPr/>
        </p:nvSpPr>
        <p:spPr>
          <a:xfrm>
            <a:off x="8412480" y="3657600"/>
            <a:ext cx="3017520" cy="347472"/>
          </a:xfrm>
          <a:prstGeom prst="rect">
            <a:avLst/>
          </a:prstGeom>
          <a:noFill/>
          <a:ln/>
        </p:spPr>
        <p:txBody>
          <a:bodyPr wrap="square" lIns="0" tIns="0" rIns="0" bIns="0" rtlCol="0" anchor="ctr"/>
          <a:lstStyle/>
          <a:p>
            <a:pPr indent="0" marL="0">
              <a:buNone/>
            </a:pPr>
            <a:r>
              <a:rPr lang="en-US" sz="1600" b="1" dirty="0">
                <a:solidFill>
                  <a:srgbClr val="2F5D50"/>
                </a:solidFill>
                <a:latin typeface="Cambria" pitchFamily="34" charset="0"/>
                <a:ea typeface="Cambria" pitchFamily="34" charset="-122"/>
                <a:cs typeface="Cambria" pitchFamily="34" charset="-120"/>
              </a:rPr>
              <a:t>A uniqueness gate</a:t>
            </a:r>
            <a:endParaRPr lang="en-US" sz="1600" dirty="0"/>
          </a:p>
        </p:txBody>
      </p:sp>
      <p:sp>
        <p:nvSpPr>
          <p:cNvPr id="21" name="Text 19"/>
          <p:cNvSpPr txBox="1"/>
          <p:nvPr/>
        </p:nvSpPr>
        <p:spPr>
          <a:xfrm>
            <a:off x="8412480" y="4041648"/>
            <a:ext cx="2999232" cy="1316736"/>
          </a:xfrm>
          <a:prstGeom prst="rect">
            <a:avLst/>
          </a:prstGeom>
          <a:noFill/>
          <a:ln/>
        </p:spPr>
        <p:txBody>
          <a:bodyPr wrap="square" lIns="0" tIns="0" rIns="0" bIns="0" rtlCol="0" anchor="t"/>
          <a:lstStyle/>
          <a:p>
            <a:pPr indent="0" marL="0">
              <a:lnSpc>
                <a:spcPts val="1700"/>
              </a:lnSpc>
              <a:buNone/>
            </a:pPr>
            <a:r>
              <a:rPr lang="en-US" sz="1400" dirty="0">
                <a:solidFill>
                  <a:srgbClr val="6D6A64"/>
                </a:solidFill>
                <a:latin typeface="Calibri" pitchFamily="34" charset="0"/>
                <a:ea typeface="Calibri" pitchFamily="34" charset="-122"/>
                <a:cs typeface="Calibri" pitchFamily="34" charset="-120"/>
              </a:rPr>
              <a:t>Each still is perceptually hashed as it is rendered, and redrawn if it lands within 6 bits of one already in the pack. If the pool is too small to satisfy it, the build says so rather than spinning.</a:t>
            </a:r>
            <a:endParaRPr lang="en-US" sz="1400" dirty="0"/>
          </a:p>
        </p:txBody>
      </p:sp>
      <p:sp>
        <p:nvSpPr>
          <p:cNvPr id="22" name="Text 20"/>
          <p:cNvSpPr txBox="1"/>
          <p:nvPr/>
        </p:nvSpPr>
        <p:spPr>
          <a:xfrm>
            <a:off x="548640" y="5650992"/>
            <a:ext cx="11064240" cy="384048"/>
          </a:xfrm>
          <a:prstGeom prst="rect">
            <a:avLst/>
          </a:prstGeom>
          <a:noFill/>
          <a:ln/>
        </p:spPr>
        <p:txBody>
          <a:bodyPr wrap="square" lIns="0" tIns="0" rIns="0" bIns="0" rtlCol="0" anchor="ctr"/>
          <a:lstStyle/>
          <a:p>
            <a:pPr indent="0" marL="0">
              <a:buNone/>
            </a:pPr>
            <a:r>
              <a:rPr lang="en-US" sz="1500" i="1" dirty="0">
                <a:solidFill>
                  <a:srgbClr val="9C4A32"/>
                </a:solidFill>
                <a:latin typeface="Cambria" pitchFamily="34" charset="0"/>
                <a:ea typeface="Cambria" pitchFamily="34" charset="-122"/>
                <a:cs typeface="Cambria" pitchFamily="34" charset="-120"/>
              </a:rPr>
              <a:t>The duplicates a pack is supposed to contain — the byte-identical copy and the burst run — come from --edge-cases and never enter the gate.</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274320"/>
            <a:ext cx="11064240" cy="274320"/>
          </a:xfrm>
          <a:prstGeom prst="rect">
            <a:avLst/>
          </a:prstGeom>
          <a:noFill/>
          <a:ln/>
        </p:spPr>
        <p:txBody>
          <a:bodyPr wrap="square" lIns="0" tIns="0" rIns="0" bIns="0" rtlCol="0" anchor="ctr"/>
          <a:lstStyle/>
          <a:p>
            <a:pPr indent="0" marL="0">
              <a:buNone/>
            </a:pPr>
            <a:r>
              <a:rPr lang="en-US" sz="1400" b="1" spc="200" kern="0" dirty="0">
                <a:solidFill>
                  <a:srgbClr val="2F5D50"/>
                </a:solidFill>
                <a:latin typeface="Calibri" pitchFamily="34" charset="0"/>
                <a:ea typeface="Calibri" pitchFamily="34" charset="-122"/>
                <a:cs typeface="Calibri" pitchFamily="34" charset="-120"/>
              </a:rPr>
              <a:t>WHAT IT FINDS</a:t>
            </a:r>
            <a:endParaRPr lang="en-US" sz="1400" dirty="0"/>
          </a:p>
        </p:txBody>
      </p:sp>
      <p:sp>
        <p:nvSpPr>
          <p:cNvPr id="3" name="Text 1"/>
          <p:cNvSpPr txBox="1"/>
          <p:nvPr/>
        </p:nvSpPr>
        <p:spPr>
          <a:xfrm>
            <a:off x="548640" y="585216"/>
            <a:ext cx="11064240" cy="713232"/>
          </a:xfrm>
          <a:prstGeom prst="rect">
            <a:avLst/>
          </a:prstGeom>
          <a:noFill/>
          <a:ln/>
        </p:spPr>
        <p:txBody>
          <a:bodyPr wrap="square" lIns="0" tIns="0" rIns="0" bIns="0" rtlCol="0" anchor="ctr"/>
          <a:lstStyle/>
          <a:p>
            <a:pPr indent="0" marL="0">
              <a:buNone/>
            </a:pPr>
            <a:r>
              <a:rPr lang="en-US" sz="3200" b="1" dirty="0">
                <a:solidFill>
                  <a:srgbClr val="1B1A18"/>
                </a:solidFill>
                <a:latin typeface="Cambria" pitchFamily="34" charset="0"/>
                <a:ea typeface="Cambria" pitchFamily="34" charset="-122"/>
                <a:cs typeface="Cambria" pitchFamily="34" charset="-120"/>
              </a:rPr>
              <a:t>The awkward files, on purpose</a:t>
            </a:r>
            <a:endParaRPr lang="en-US" sz="3200" dirty="0"/>
          </a:p>
        </p:txBody>
      </p:sp>
      <p:sp>
        <p:nvSpPr>
          <p:cNvPr id="4" name="Text 2"/>
          <p:cNvSpPr txBox="1"/>
          <p:nvPr/>
        </p:nvSpPr>
        <p:spPr>
          <a:xfrm>
            <a:off x="548640" y="1426464"/>
            <a:ext cx="11064240" cy="329184"/>
          </a:xfrm>
          <a:prstGeom prst="rect">
            <a:avLst/>
          </a:prstGeom>
          <a:noFill/>
          <a:ln/>
        </p:spPr>
        <p:txBody>
          <a:bodyPr wrap="square" lIns="0" tIns="0" rIns="0" bIns="0" rtlCol="0" anchor="ctr"/>
          <a:lstStyle/>
          <a:p>
            <a:pPr indent="0" marL="0">
              <a:buNone/>
            </a:pPr>
            <a:r>
              <a:rPr lang="en-US" sz="1400" dirty="0">
                <a:solidFill>
                  <a:srgbClr val="6D6A64"/>
                </a:solidFill>
                <a:latin typeface="Calibri" pitchFamily="34" charset="0"/>
                <a:ea typeface="Calibri" pitchFamily="34" charset="-122"/>
                <a:cs typeface="Calibri" pitchFamily="34" charset="-120"/>
              </a:rPr>
              <a:t>A pack can carry the assets that break naive gallery code. Each one has found a real bug already.</a:t>
            </a:r>
            <a:endParaRPr lang="en-US" sz="1400" dirty="0"/>
          </a:p>
        </p:txBody>
      </p:sp>
      <p:sp>
        <p:nvSpPr>
          <p:cNvPr id="5" name="Shape 3"/>
          <p:cNvSpPr/>
          <p:nvPr/>
        </p:nvSpPr>
        <p:spPr>
          <a:xfrm>
            <a:off x="548640" y="1901952"/>
            <a:ext cx="3447288" cy="1664208"/>
          </a:xfrm>
          <a:prstGeom prst="roundRect">
            <a:avLst>
              <a:gd name="adj" fmla="val 4945"/>
            </a:avLst>
          </a:prstGeom>
          <a:solidFill>
            <a:srgbClr val="E4EEE9"/>
          </a:solidFill>
          <a:ln w="12700">
            <a:solidFill>
              <a:srgbClr val="E4EEE9"/>
            </a:solidFill>
            <a:prstDash val="solid"/>
          </a:ln>
        </p:spPr>
      </p:sp>
      <p:sp>
        <p:nvSpPr>
          <p:cNvPr id="6" name="Text 4"/>
          <p:cNvSpPr txBox="1"/>
          <p:nvPr/>
        </p:nvSpPr>
        <p:spPr>
          <a:xfrm>
            <a:off x="786384" y="2066544"/>
            <a:ext cx="3017520" cy="347472"/>
          </a:xfrm>
          <a:prstGeom prst="rect">
            <a:avLst/>
          </a:prstGeom>
          <a:noFill/>
          <a:ln/>
        </p:spPr>
        <p:txBody>
          <a:bodyPr wrap="square" lIns="0" tIns="0" rIns="0" bIns="0" rtlCol="0" anchor="ctr"/>
          <a:lstStyle/>
          <a:p>
            <a:pPr indent="0" marL="0">
              <a:buNone/>
            </a:pPr>
            <a:r>
              <a:rPr lang="en-US" sz="1600" b="1" dirty="0">
                <a:solidFill>
                  <a:srgbClr val="2F5D50"/>
                </a:solidFill>
                <a:latin typeface="Cambria" pitchFamily="34" charset="0"/>
                <a:ea typeface="Cambria" pitchFamily="34" charset="-122"/>
                <a:cs typeface="Cambria" pitchFamily="34" charset="-120"/>
              </a:rPr>
              <a:t>Zero-byte file</a:t>
            </a:r>
            <a:endParaRPr lang="en-US" sz="1600" dirty="0"/>
          </a:p>
        </p:txBody>
      </p:sp>
      <p:sp>
        <p:nvSpPr>
          <p:cNvPr id="7" name="Text 5"/>
          <p:cNvSpPr txBox="1"/>
          <p:nvPr/>
        </p:nvSpPr>
        <p:spPr>
          <a:xfrm>
            <a:off x="786384" y="2450592"/>
            <a:ext cx="2999232" cy="987552"/>
          </a:xfrm>
          <a:prstGeom prst="rect">
            <a:avLst/>
          </a:prstGeom>
          <a:noFill/>
          <a:ln/>
        </p:spPr>
        <p:txBody>
          <a:bodyPr wrap="square" lIns="0" tIns="0" rIns="0" bIns="0" rtlCol="0" anchor="t"/>
          <a:lstStyle/>
          <a:p>
            <a:pPr indent="0" marL="0">
              <a:lnSpc>
                <a:spcPts val="1700"/>
              </a:lnSpc>
              <a:buNone/>
            </a:pPr>
            <a:r>
              <a:rPr lang="en-US" sz="1400" dirty="0">
                <a:solidFill>
                  <a:srgbClr val="6D6A64"/>
                </a:solidFill>
                <a:latin typeface="Calibri" pitchFamily="34" charset="0"/>
                <a:ea typeface="Calibri" pitchFamily="34" charset="-122"/>
                <a:cs typeface="Calibri" pitchFamily="34" charset="-120"/>
              </a:rPr>
              <a:t>iOS refuses it; Android indexes it happily — the same pack becomes a different library on each platform.</a:t>
            </a:r>
            <a:endParaRPr lang="en-US" sz="1400" dirty="0"/>
          </a:p>
        </p:txBody>
      </p:sp>
      <p:sp>
        <p:nvSpPr>
          <p:cNvPr id="8" name="Shape 6"/>
          <p:cNvSpPr/>
          <p:nvPr/>
        </p:nvSpPr>
        <p:spPr>
          <a:xfrm>
            <a:off x="4361688" y="1901952"/>
            <a:ext cx="3447288" cy="1664208"/>
          </a:xfrm>
          <a:prstGeom prst="roundRect">
            <a:avLst>
              <a:gd name="adj" fmla="val 4945"/>
            </a:avLst>
          </a:prstGeom>
          <a:solidFill>
            <a:srgbClr val="E4EEE9"/>
          </a:solidFill>
          <a:ln w="12700">
            <a:solidFill>
              <a:srgbClr val="E4EEE9"/>
            </a:solidFill>
            <a:prstDash val="solid"/>
          </a:ln>
        </p:spPr>
      </p:sp>
      <p:sp>
        <p:nvSpPr>
          <p:cNvPr id="9" name="Text 7"/>
          <p:cNvSpPr txBox="1"/>
          <p:nvPr/>
        </p:nvSpPr>
        <p:spPr>
          <a:xfrm>
            <a:off x="4599432" y="2066544"/>
            <a:ext cx="3017520" cy="347472"/>
          </a:xfrm>
          <a:prstGeom prst="rect">
            <a:avLst/>
          </a:prstGeom>
          <a:noFill/>
          <a:ln/>
        </p:spPr>
        <p:txBody>
          <a:bodyPr wrap="square" lIns="0" tIns="0" rIns="0" bIns="0" rtlCol="0" anchor="ctr"/>
          <a:lstStyle/>
          <a:p>
            <a:pPr indent="0" marL="0">
              <a:buNone/>
            </a:pPr>
            <a:r>
              <a:rPr lang="en-US" sz="1600" b="1" dirty="0">
                <a:solidFill>
                  <a:srgbClr val="2F5D50"/>
                </a:solidFill>
                <a:latin typeface="Cambria" pitchFamily="34" charset="0"/>
                <a:ea typeface="Cambria" pitchFamily="34" charset="-122"/>
                <a:cs typeface="Cambria" pitchFamily="34" charset="-120"/>
              </a:rPr>
              <a:t>Screenshot, no EXIF</a:t>
            </a:r>
            <a:endParaRPr lang="en-US" sz="1600" dirty="0"/>
          </a:p>
        </p:txBody>
      </p:sp>
      <p:sp>
        <p:nvSpPr>
          <p:cNvPr id="10" name="Text 8"/>
          <p:cNvSpPr txBox="1"/>
          <p:nvPr/>
        </p:nvSpPr>
        <p:spPr>
          <a:xfrm>
            <a:off x="4599432" y="2450592"/>
            <a:ext cx="2999232" cy="987552"/>
          </a:xfrm>
          <a:prstGeom prst="rect">
            <a:avLst/>
          </a:prstGeom>
          <a:noFill/>
          <a:ln/>
        </p:spPr>
        <p:txBody>
          <a:bodyPr wrap="square" lIns="0" tIns="0" rIns="0" bIns="0" rtlCol="0" anchor="t"/>
          <a:lstStyle/>
          <a:p>
            <a:pPr indent="0" marL="0">
              <a:lnSpc>
                <a:spcPts val="1700"/>
              </a:lnSpc>
              <a:buNone/>
            </a:pPr>
            <a:r>
              <a:rPr lang="en-US" sz="1400" dirty="0">
                <a:solidFill>
                  <a:srgbClr val="6D6A64"/>
                </a:solidFill>
                <a:latin typeface="Calibri" pitchFamily="34" charset="0"/>
                <a:ea typeface="Calibri" pitchFamily="34" charset="-122"/>
                <a:cs typeface="Calibri" pitchFamily="34" charset="-120"/>
              </a:rPr>
              <a:t>No DATE_TAKEN, so Samsung files it under "Today" — and it becomes the album cover.</a:t>
            </a:r>
            <a:endParaRPr lang="en-US" sz="1400" dirty="0"/>
          </a:p>
        </p:txBody>
      </p:sp>
      <p:sp>
        <p:nvSpPr>
          <p:cNvPr id="11" name="Shape 9"/>
          <p:cNvSpPr/>
          <p:nvPr/>
        </p:nvSpPr>
        <p:spPr>
          <a:xfrm>
            <a:off x="8174736" y="1901952"/>
            <a:ext cx="3447288" cy="1664208"/>
          </a:xfrm>
          <a:prstGeom prst="roundRect">
            <a:avLst>
              <a:gd name="adj" fmla="val 4945"/>
            </a:avLst>
          </a:prstGeom>
          <a:solidFill>
            <a:srgbClr val="E4EEE9"/>
          </a:solidFill>
          <a:ln w="12700">
            <a:solidFill>
              <a:srgbClr val="E4EEE9"/>
            </a:solidFill>
            <a:prstDash val="solid"/>
          </a:ln>
        </p:spPr>
      </p:sp>
      <p:sp>
        <p:nvSpPr>
          <p:cNvPr id="12" name="Text 10"/>
          <p:cNvSpPr txBox="1"/>
          <p:nvPr/>
        </p:nvSpPr>
        <p:spPr>
          <a:xfrm>
            <a:off x="8412480" y="2066544"/>
            <a:ext cx="3017520" cy="347472"/>
          </a:xfrm>
          <a:prstGeom prst="rect">
            <a:avLst/>
          </a:prstGeom>
          <a:noFill/>
          <a:ln/>
        </p:spPr>
        <p:txBody>
          <a:bodyPr wrap="square" lIns="0" tIns="0" rIns="0" bIns="0" rtlCol="0" anchor="ctr"/>
          <a:lstStyle/>
          <a:p>
            <a:pPr indent="0" marL="0">
              <a:buNone/>
            </a:pPr>
            <a:r>
              <a:rPr lang="en-US" sz="1600" b="1" dirty="0">
                <a:solidFill>
                  <a:srgbClr val="2F5D50"/>
                </a:solidFill>
                <a:latin typeface="Cambria" pitchFamily="34" charset="0"/>
                <a:ea typeface="Cambria" pitchFamily="34" charset="-122"/>
                <a:cs typeface="Cambria" pitchFamily="34" charset="-120"/>
              </a:rPr>
              <a:t>Exact duplicate</a:t>
            </a:r>
            <a:endParaRPr lang="en-US" sz="1600" dirty="0"/>
          </a:p>
        </p:txBody>
      </p:sp>
      <p:sp>
        <p:nvSpPr>
          <p:cNvPr id="13" name="Text 11"/>
          <p:cNvSpPr txBox="1"/>
          <p:nvPr/>
        </p:nvSpPr>
        <p:spPr>
          <a:xfrm>
            <a:off x="8412480" y="2450592"/>
            <a:ext cx="2999232" cy="987552"/>
          </a:xfrm>
          <a:prstGeom prst="rect">
            <a:avLst/>
          </a:prstGeom>
          <a:noFill/>
          <a:ln/>
        </p:spPr>
        <p:txBody>
          <a:bodyPr wrap="square" lIns="0" tIns="0" rIns="0" bIns="0" rtlCol="0" anchor="t"/>
          <a:lstStyle/>
          <a:p>
            <a:pPr indent="0" marL="0">
              <a:lnSpc>
                <a:spcPts val="1700"/>
              </a:lnSpc>
              <a:buNone/>
            </a:pPr>
            <a:r>
              <a:rPr lang="en-US" sz="1400" dirty="0">
                <a:solidFill>
                  <a:srgbClr val="6D6A64"/>
                </a:solidFill>
                <a:latin typeface="Calibri" pitchFamily="34" charset="0"/>
                <a:ea typeface="Calibri" pitchFamily="34" charset="-122"/>
                <a:cs typeface="Calibri" pitchFamily="34" charset="-120"/>
              </a:rPr>
              <a:t>The only one in the pack — every other still is held apart by the uniqueness gate. This one exists for a dedupe engine to find.</a:t>
            </a:r>
            <a:endParaRPr lang="en-US" sz="1400" dirty="0"/>
          </a:p>
        </p:txBody>
      </p:sp>
      <p:sp>
        <p:nvSpPr>
          <p:cNvPr id="14" name="Shape 12"/>
          <p:cNvSpPr/>
          <p:nvPr/>
        </p:nvSpPr>
        <p:spPr>
          <a:xfrm>
            <a:off x="548640" y="3712464"/>
            <a:ext cx="3447288" cy="1664208"/>
          </a:xfrm>
          <a:prstGeom prst="roundRect">
            <a:avLst>
              <a:gd name="adj" fmla="val 4945"/>
            </a:avLst>
          </a:prstGeom>
          <a:solidFill>
            <a:srgbClr val="E4EEE9"/>
          </a:solidFill>
          <a:ln w="12700">
            <a:solidFill>
              <a:srgbClr val="E4EEE9"/>
            </a:solidFill>
            <a:prstDash val="solid"/>
          </a:ln>
        </p:spPr>
      </p:sp>
      <p:sp>
        <p:nvSpPr>
          <p:cNvPr id="15" name="Text 13"/>
          <p:cNvSpPr txBox="1"/>
          <p:nvPr/>
        </p:nvSpPr>
        <p:spPr>
          <a:xfrm>
            <a:off x="786384" y="3877056"/>
            <a:ext cx="3017520" cy="347472"/>
          </a:xfrm>
          <a:prstGeom prst="rect">
            <a:avLst/>
          </a:prstGeom>
          <a:noFill/>
          <a:ln/>
        </p:spPr>
        <p:txBody>
          <a:bodyPr wrap="square" lIns="0" tIns="0" rIns="0" bIns="0" rtlCol="0" anchor="ctr"/>
          <a:lstStyle/>
          <a:p>
            <a:pPr indent="0" marL="0">
              <a:buNone/>
            </a:pPr>
            <a:r>
              <a:rPr lang="en-US" sz="1600" b="1" dirty="0">
                <a:solidFill>
                  <a:srgbClr val="2F5D50"/>
                </a:solidFill>
                <a:latin typeface="Cambria" pitchFamily="34" charset="0"/>
                <a:ea typeface="Cambria" pitchFamily="34" charset="-122"/>
                <a:cs typeface="Cambria" pitchFamily="34" charset="-120"/>
              </a:rPr>
              <a:t>Burst of five</a:t>
            </a:r>
            <a:endParaRPr lang="en-US" sz="1600" dirty="0"/>
          </a:p>
        </p:txBody>
      </p:sp>
      <p:sp>
        <p:nvSpPr>
          <p:cNvPr id="16" name="Text 14"/>
          <p:cNvSpPr txBox="1"/>
          <p:nvPr/>
        </p:nvSpPr>
        <p:spPr>
          <a:xfrm>
            <a:off x="786384" y="4261104"/>
            <a:ext cx="2999232" cy="987552"/>
          </a:xfrm>
          <a:prstGeom prst="rect">
            <a:avLst/>
          </a:prstGeom>
          <a:noFill/>
          <a:ln/>
        </p:spPr>
        <p:txBody>
          <a:bodyPr wrap="square" lIns="0" tIns="0" rIns="0" bIns="0" rtlCol="0" anchor="t"/>
          <a:lstStyle/>
          <a:p>
            <a:pPr indent="0" marL="0">
              <a:lnSpc>
                <a:spcPts val="1700"/>
              </a:lnSpc>
              <a:buNone/>
            </a:pPr>
            <a:r>
              <a:rPr lang="en-US" sz="1400" dirty="0">
                <a:solidFill>
                  <a:srgbClr val="6D6A64"/>
                </a:solidFill>
                <a:latin typeface="Calibri" pitchFamily="34" charset="0"/>
                <a:ea typeface="Calibri" pitchFamily="34" charset="-122"/>
                <a:cs typeface="Calibri" pitchFamily="34" charset="-120"/>
              </a:rPr>
              <a:t>The same scene 380 ms apart — timeline and "best of" grouping.</a:t>
            </a:r>
            <a:endParaRPr lang="en-US" sz="1400" dirty="0"/>
          </a:p>
        </p:txBody>
      </p:sp>
      <p:sp>
        <p:nvSpPr>
          <p:cNvPr id="17" name="Shape 15"/>
          <p:cNvSpPr/>
          <p:nvPr/>
        </p:nvSpPr>
        <p:spPr>
          <a:xfrm>
            <a:off x="4361688" y="3712464"/>
            <a:ext cx="3447288" cy="1664208"/>
          </a:xfrm>
          <a:prstGeom prst="roundRect">
            <a:avLst>
              <a:gd name="adj" fmla="val 4945"/>
            </a:avLst>
          </a:prstGeom>
          <a:solidFill>
            <a:srgbClr val="E4EEE9"/>
          </a:solidFill>
          <a:ln w="12700">
            <a:solidFill>
              <a:srgbClr val="E4EEE9"/>
            </a:solidFill>
            <a:prstDash val="solid"/>
          </a:ln>
        </p:spPr>
      </p:sp>
      <p:sp>
        <p:nvSpPr>
          <p:cNvPr id="18" name="Text 16"/>
          <p:cNvSpPr txBox="1"/>
          <p:nvPr/>
        </p:nvSpPr>
        <p:spPr>
          <a:xfrm>
            <a:off x="4599432" y="3877056"/>
            <a:ext cx="3017520" cy="347472"/>
          </a:xfrm>
          <a:prstGeom prst="rect">
            <a:avLst/>
          </a:prstGeom>
          <a:noFill/>
          <a:ln/>
        </p:spPr>
        <p:txBody>
          <a:bodyPr wrap="square" lIns="0" tIns="0" rIns="0" bIns="0" rtlCol="0" anchor="ctr"/>
          <a:lstStyle/>
          <a:p>
            <a:pPr indent="0" marL="0">
              <a:buNone/>
            </a:pPr>
            <a:r>
              <a:rPr lang="en-US" sz="1600" b="1" dirty="0">
                <a:solidFill>
                  <a:srgbClr val="2F5D50"/>
                </a:solidFill>
                <a:latin typeface="Cambria" pitchFamily="34" charset="0"/>
                <a:ea typeface="Cambria" pitchFamily="34" charset="-122"/>
                <a:cs typeface="Cambria" pitchFamily="34" charset="-120"/>
              </a:rPr>
              <a:t>Truncated JPEG</a:t>
            </a:r>
            <a:endParaRPr lang="en-US" sz="1600" dirty="0"/>
          </a:p>
        </p:txBody>
      </p:sp>
      <p:sp>
        <p:nvSpPr>
          <p:cNvPr id="19" name="Text 17"/>
          <p:cNvSpPr txBox="1"/>
          <p:nvPr/>
        </p:nvSpPr>
        <p:spPr>
          <a:xfrm>
            <a:off x="4599432" y="4261104"/>
            <a:ext cx="2999232" cy="987552"/>
          </a:xfrm>
          <a:prstGeom prst="rect">
            <a:avLst/>
          </a:prstGeom>
          <a:noFill/>
          <a:ln/>
        </p:spPr>
        <p:txBody>
          <a:bodyPr wrap="square" lIns="0" tIns="0" rIns="0" bIns="0" rtlCol="0" anchor="t"/>
          <a:lstStyle/>
          <a:p>
            <a:pPr indent="0" marL="0">
              <a:lnSpc>
                <a:spcPts val="1700"/>
              </a:lnSpc>
              <a:buNone/>
            </a:pPr>
            <a:r>
              <a:rPr lang="en-US" sz="1400" dirty="0">
                <a:solidFill>
                  <a:srgbClr val="6D6A64"/>
                </a:solidFill>
                <a:latin typeface="Calibri" pitchFamily="34" charset="0"/>
                <a:ea typeface="Calibri" pitchFamily="34" charset="-122"/>
                <a:cs typeface="Calibri" pitchFamily="34" charset="-120"/>
              </a:rPr>
              <a:t>Valid header, body cut short. Decoders should fail gracefully, not hang.</a:t>
            </a:r>
            <a:endParaRPr lang="en-US" sz="1400" dirty="0"/>
          </a:p>
        </p:txBody>
      </p:sp>
      <p:sp>
        <p:nvSpPr>
          <p:cNvPr id="20" name="Shape 18"/>
          <p:cNvSpPr/>
          <p:nvPr/>
        </p:nvSpPr>
        <p:spPr>
          <a:xfrm>
            <a:off x="8174736" y="3712464"/>
            <a:ext cx="3447288" cy="1664208"/>
          </a:xfrm>
          <a:prstGeom prst="roundRect">
            <a:avLst>
              <a:gd name="adj" fmla="val 4945"/>
            </a:avLst>
          </a:prstGeom>
          <a:solidFill>
            <a:srgbClr val="E4EEE9"/>
          </a:solidFill>
          <a:ln w="12700">
            <a:solidFill>
              <a:srgbClr val="E4EEE9"/>
            </a:solidFill>
            <a:prstDash val="solid"/>
          </a:ln>
        </p:spPr>
      </p:sp>
      <p:sp>
        <p:nvSpPr>
          <p:cNvPr id="21" name="Text 19"/>
          <p:cNvSpPr txBox="1"/>
          <p:nvPr/>
        </p:nvSpPr>
        <p:spPr>
          <a:xfrm>
            <a:off x="8412480" y="3877056"/>
            <a:ext cx="3017520" cy="347472"/>
          </a:xfrm>
          <a:prstGeom prst="rect">
            <a:avLst/>
          </a:prstGeom>
          <a:noFill/>
          <a:ln/>
        </p:spPr>
        <p:txBody>
          <a:bodyPr wrap="square" lIns="0" tIns="0" rIns="0" bIns="0" rtlCol="0" anchor="ctr"/>
          <a:lstStyle/>
          <a:p>
            <a:pPr indent="0" marL="0">
              <a:buNone/>
            </a:pPr>
            <a:r>
              <a:rPr lang="en-US" sz="1600" b="1" dirty="0">
                <a:solidFill>
                  <a:srgbClr val="2F5D50"/>
                </a:solidFill>
                <a:latin typeface="Cambria" pitchFamily="34" charset="0"/>
                <a:ea typeface="Cambria" pitchFamily="34" charset="-122"/>
                <a:cs typeface="Cambria" pitchFamily="34" charset="-120"/>
              </a:rPr>
              <a:t>Non-ASCII filename</a:t>
            </a:r>
            <a:endParaRPr lang="en-US" sz="1600" dirty="0"/>
          </a:p>
        </p:txBody>
      </p:sp>
      <p:sp>
        <p:nvSpPr>
          <p:cNvPr id="22" name="Text 20"/>
          <p:cNvSpPr txBox="1"/>
          <p:nvPr/>
        </p:nvSpPr>
        <p:spPr>
          <a:xfrm>
            <a:off x="8412480" y="4261104"/>
            <a:ext cx="2999232" cy="987552"/>
          </a:xfrm>
          <a:prstGeom prst="rect">
            <a:avLst/>
          </a:prstGeom>
          <a:noFill/>
          <a:ln/>
        </p:spPr>
        <p:txBody>
          <a:bodyPr wrap="square" lIns="0" tIns="0" rIns="0" bIns="0" rtlCol="0" anchor="t"/>
          <a:lstStyle/>
          <a:p>
            <a:pPr indent="0" marL="0">
              <a:lnSpc>
                <a:spcPts val="1700"/>
              </a:lnSpc>
              <a:buNone/>
            </a:pPr>
            <a:r>
              <a:rPr lang="en-US" sz="1400" dirty="0">
                <a:solidFill>
                  <a:srgbClr val="6D6A64"/>
                </a:solidFill>
                <a:latin typeface="Calibri" pitchFamily="34" charset="0"/>
                <a:ea typeface="Calibri" pitchFamily="34" charset="-122"/>
                <a:cs typeface="Calibri" pitchFamily="34" charset="-120"/>
              </a:rPr>
              <a:t>Accented and CJK characters. Every layer that shells out or builds a URL gets a vote — two failed.</a:t>
            </a:r>
            <a:endParaRPr lang="en-US" sz="1400" dirty="0"/>
          </a:p>
        </p:txBody>
      </p:sp>
      <p:sp>
        <p:nvSpPr>
          <p:cNvPr id="23" name="Text 21"/>
          <p:cNvSpPr txBox="1"/>
          <p:nvPr/>
        </p:nvSpPr>
        <p:spPr>
          <a:xfrm>
            <a:off x="548640" y="5687568"/>
            <a:ext cx="11064240" cy="384048"/>
          </a:xfrm>
          <a:prstGeom prst="rect">
            <a:avLst/>
          </a:prstGeom>
          <a:noFill/>
          <a:ln/>
        </p:spPr>
        <p:txBody>
          <a:bodyPr wrap="square" lIns="0" tIns="0" rIns="0" bIns="0" rtlCol="0" anchor="ctr"/>
          <a:lstStyle/>
          <a:p>
            <a:pPr indent="0" marL="0">
              <a:buNone/>
            </a:pPr>
            <a:r>
              <a:rPr lang="en-US" sz="1500" i="1" dirty="0">
                <a:solidFill>
                  <a:srgbClr val="9C4A32"/>
                </a:solidFill>
                <a:latin typeface="Cambria" pitchFamily="34" charset="0"/>
                <a:ea typeface="Cambria" pitchFamily="34" charset="-122"/>
                <a:cs typeface="Cambria" pitchFamily="34" charset="-120"/>
              </a:rPr>
              <a:t>Three of these found real bugs on their first run — including one that made the iOS loader discard 300 MB of completed transfer.</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274320"/>
            <a:ext cx="11064240" cy="274320"/>
          </a:xfrm>
          <a:prstGeom prst="rect">
            <a:avLst/>
          </a:prstGeom>
          <a:noFill/>
          <a:ln/>
        </p:spPr>
        <p:txBody>
          <a:bodyPr wrap="square" lIns="0" tIns="0" rIns="0" bIns="0" rtlCol="0" anchor="ctr"/>
          <a:lstStyle/>
          <a:p>
            <a:pPr indent="0" marL="0">
              <a:buNone/>
            </a:pPr>
            <a:r>
              <a:rPr lang="en-US" sz="1400" b="1" spc="200" kern="0" dirty="0">
                <a:solidFill>
                  <a:srgbClr val="2F5D50"/>
                </a:solidFill>
                <a:latin typeface="Calibri" pitchFamily="34" charset="0"/>
                <a:ea typeface="Calibri" pitchFamily="34" charset="-122"/>
                <a:cs typeface="Calibri" pitchFamily="34" charset="-120"/>
              </a:rPr>
              <a:t>USE CASES</a:t>
            </a:r>
            <a:endParaRPr lang="en-US" sz="1400" dirty="0"/>
          </a:p>
        </p:txBody>
      </p:sp>
      <p:sp>
        <p:nvSpPr>
          <p:cNvPr id="3" name="Text 1"/>
          <p:cNvSpPr txBox="1"/>
          <p:nvPr/>
        </p:nvSpPr>
        <p:spPr>
          <a:xfrm>
            <a:off x="548640" y="585216"/>
            <a:ext cx="11064240" cy="713232"/>
          </a:xfrm>
          <a:prstGeom prst="rect">
            <a:avLst/>
          </a:prstGeom>
          <a:noFill/>
          <a:ln/>
        </p:spPr>
        <p:txBody>
          <a:bodyPr wrap="square" lIns="0" tIns="0" rIns="0" bIns="0" rtlCol="0" anchor="ctr"/>
          <a:lstStyle/>
          <a:p>
            <a:pPr indent="0" marL="0">
              <a:buNone/>
            </a:pPr>
            <a:r>
              <a:rPr lang="en-US" sz="3200" b="1" dirty="0">
                <a:solidFill>
                  <a:srgbClr val="1B1A18"/>
                </a:solidFill>
                <a:latin typeface="Cambria" pitchFamily="34" charset="0"/>
                <a:ea typeface="Cambria" pitchFamily="34" charset="-122"/>
                <a:cs typeface="Cambria" pitchFamily="34" charset="-120"/>
              </a:rPr>
              <a:t>Who it is for</a:t>
            </a:r>
            <a:endParaRPr lang="en-US" sz="3200" dirty="0"/>
          </a:p>
        </p:txBody>
      </p:sp>
      <p:sp>
        <p:nvSpPr>
          <p:cNvPr id="4" name="Shape 2"/>
          <p:cNvSpPr/>
          <p:nvPr/>
        </p:nvSpPr>
        <p:spPr>
          <a:xfrm>
            <a:off x="548640" y="1645920"/>
            <a:ext cx="164592" cy="164592"/>
          </a:xfrm>
          <a:prstGeom prst="ellipse">
            <a:avLst/>
          </a:prstGeom>
          <a:solidFill>
            <a:srgbClr val="AACABD"/>
          </a:solidFill>
          <a:ln w="12700">
            <a:solidFill>
              <a:srgbClr val="AACABD"/>
            </a:solidFill>
            <a:prstDash val="solid"/>
          </a:ln>
        </p:spPr>
      </p:sp>
      <p:sp>
        <p:nvSpPr>
          <p:cNvPr id="5" name="Text 3"/>
          <p:cNvSpPr txBox="1"/>
          <p:nvPr/>
        </p:nvSpPr>
        <p:spPr>
          <a:xfrm>
            <a:off x="877824" y="1572768"/>
            <a:ext cx="5029200" cy="329184"/>
          </a:xfrm>
          <a:prstGeom prst="rect">
            <a:avLst/>
          </a:prstGeom>
          <a:noFill/>
          <a:ln/>
        </p:spPr>
        <p:txBody>
          <a:bodyPr wrap="square" lIns="0" tIns="0" rIns="0" bIns="0" rtlCol="0" anchor="ctr"/>
          <a:lstStyle/>
          <a:p>
            <a:pPr indent="0" marL="0">
              <a:buNone/>
            </a:pPr>
            <a:r>
              <a:rPr lang="en-US" sz="1600" b="1" dirty="0">
                <a:solidFill>
                  <a:srgbClr val="1B1A18"/>
                </a:solidFill>
                <a:latin typeface="Cambria" pitchFamily="34" charset="0"/>
                <a:ea typeface="Cambria" pitchFamily="34" charset="-122"/>
                <a:cs typeface="Cambria" pitchFamily="34" charset="-120"/>
              </a:rPr>
              <a:t>Backup and sync clients</a:t>
            </a:r>
            <a:endParaRPr lang="en-US" sz="1600" dirty="0"/>
          </a:p>
        </p:txBody>
      </p:sp>
      <p:sp>
        <p:nvSpPr>
          <p:cNvPr id="6" name="Text 4"/>
          <p:cNvSpPr txBox="1"/>
          <p:nvPr/>
        </p:nvSpPr>
        <p:spPr>
          <a:xfrm>
            <a:off x="877824" y="1920240"/>
            <a:ext cx="5074920" cy="914400"/>
          </a:xfrm>
          <a:prstGeom prst="rect">
            <a:avLst/>
          </a:prstGeom>
          <a:noFill/>
          <a:ln/>
        </p:spPr>
        <p:txBody>
          <a:bodyPr wrap="square" lIns="0" tIns="0" rIns="0" bIns="0" rtlCol="0" anchor="t"/>
          <a:lstStyle/>
          <a:p>
            <a:pPr indent="0" marL="0">
              <a:lnSpc>
                <a:spcPts val="1800"/>
              </a:lnSpc>
              <a:buNone/>
            </a:pPr>
            <a:r>
              <a:rPr lang="en-US" sz="1400" dirty="0">
                <a:solidFill>
                  <a:srgbClr val="6D6A64"/>
                </a:solidFill>
                <a:latin typeface="Calibri" pitchFamily="34" charset="0"/>
                <a:ea typeface="Calibri" pitchFamily="34" charset="-122"/>
                <a:cs typeface="Calibri" pitchFamily="34" charset="-120"/>
              </a:rPr>
              <a:t>Does a 64 GB library upload completely, resume after a drop, and not re-upload what it already has?</a:t>
            </a:r>
            <a:endParaRPr lang="en-US" sz="1400" dirty="0"/>
          </a:p>
        </p:txBody>
      </p:sp>
      <p:sp>
        <p:nvSpPr>
          <p:cNvPr id="7" name="Shape 5"/>
          <p:cNvSpPr/>
          <p:nvPr/>
        </p:nvSpPr>
        <p:spPr>
          <a:xfrm>
            <a:off x="6263640" y="1645920"/>
            <a:ext cx="164592" cy="164592"/>
          </a:xfrm>
          <a:prstGeom prst="ellipse">
            <a:avLst/>
          </a:prstGeom>
          <a:solidFill>
            <a:srgbClr val="AACABD"/>
          </a:solidFill>
          <a:ln w="12700">
            <a:solidFill>
              <a:srgbClr val="AACABD"/>
            </a:solidFill>
            <a:prstDash val="solid"/>
          </a:ln>
        </p:spPr>
      </p:sp>
      <p:sp>
        <p:nvSpPr>
          <p:cNvPr id="8" name="Text 6"/>
          <p:cNvSpPr txBox="1"/>
          <p:nvPr/>
        </p:nvSpPr>
        <p:spPr>
          <a:xfrm>
            <a:off x="6592824" y="1572768"/>
            <a:ext cx="5029200" cy="329184"/>
          </a:xfrm>
          <a:prstGeom prst="rect">
            <a:avLst/>
          </a:prstGeom>
          <a:noFill/>
          <a:ln/>
        </p:spPr>
        <p:txBody>
          <a:bodyPr wrap="square" lIns="0" tIns="0" rIns="0" bIns="0" rtlCol="0" anchor="ctr"/>
          <a:lstStyle/>
          <a:p>
            <a:pPr indent="0" marL="0">
              <a:buNone/>
            </a:pPr>
            <a:r>
              <a:rPr lang="en-US" sz="1600" b="1" dirty="0">
                <a:solidFill>
                  <a:srgbClr val="1B1A18"/>
                </a:solidFill>
                <a:latin typeface="Cambria" pitchFamily="34" charset="0"/>
                <a:ea typeface="Cambria" pitchFamily="34" charset="-122"/>
                <a:cs typeface="Cambria" pitchFamily="34" charset="-120"/>
              </a:rPr>
              <a:t>Dedupe engines</a:t>
            </a:r>
            <a:endParaRPr lang="en-US" sz="1600" dirty="0"/>
          </a:p>
        </p:txBody>
      </p:sp>
      <p:sp>
        <p:nvSpPr>
          <p:cNvPr id="9" name="Text 7"/>
          <p:cNvSpPr txBox="1"/>
          <p:nvPr/>
        </p:nvSpPr>
        <p:spPr>
          <a:xfrm>
            <a:off x="6592824" y="1920240"/>
            <a:ext cx="5074920" cy="914400"/>
          </a:xfrm>
          <a:prstGeom prst="rect">
            <a:avLst/>
          </a:prstGeom>
          <a:noFill/>
          <a:ln/>
        </p:spPr>
        <p:txBody>
          <a:bodyPr wrap="square" lIns="0" tIns="0" rIns="0" bIns="0" rtlCol="0" anchor="t"/>
          <a:lstStyle/>
          <a:p>
            <a:pPr indent="0" marL="0">
              <a:lnSpc>
                <a:spcPts val="1800"/>
              </a:lnSpc>
              <a:buNone/>
            </a:pPr>
            <a:r>
              <a:rPr lang="en-US" sz="1400" dirty="0">
                <a:solidFill>
                  <a:srgbClr val="6D6A64"/>
                </a:solidFill>
                <a:latin typeface="Calibri" pitchFamily="34" charset="0"/>
                <a:ea typeface="Calibri" pitchFamily="34" charset="-122"/>
                <a:cs typeface="Calibri" pitchFamily="34" charset="-120"/>
              </a:rPr>
              <a:t>Byte-identical duplicates and near-identical burst frames, deliberately planted.</a:t>
            </a:r>
            <a:endParaRPr lang="en-US" sz="1400" dirty="0"/>
          </a:p>
        </p:txBody>
      </p:sp>
      <p:sp>
        <p:nvSpPr>
          <p:cNvPr id="10" name="Shape 8"/>
          <p:cNvSpPr/>
          <p:nvPr/>
        </p:nvSpPr>
        <p:spPr>
          <a:xfrm>
            <a:off x="548640" y="3163824"/>
            <a:ext cx="164592" cy="164592"/>
          </a:xfrm>
          <a:prstGeom prst="ellipse">
            <a:avLst/>
          </a:prstGeom>
          <a:solidFill>
            <a:srgbClr val="AACABD"/>
          </a:solidFill>
          <a:ln w="12700">
            <a:solidFill>
              <a:srgbClr val="AACABD"/>
            </a:solidFill>
            <a:prstDash val="solid"/>
          </a:ln>
        </p:spPr>
      </p:sp>
      <p:sp>
        <p:nvSpPr>
          <p:cNvPr id="11" name="Text 9"/>
          <p:cNvSpPr txBox="1"/>
          <p:nvPr/>
        </p:nvSpPr>
        <p:spPr>
          <a:xfrm>
            <a:off x="877824" y="3090672"/>
            <a:ext cx="5029200" cy="329184"/>
          </a:xfrm>
          <a:prstGeom prst="rect">
            <a:avLst/>
          </a:prstGeom>
          <a:noFill/>
          <a:ln/>
        </p:spPr>
        <p:txBody>
          <a:bodyPr wrap="square" lIns="0" tIns="0" rIns="0" bIns="0" rtlCol="0" anchor="ctr"/>
          <a:lstStyle/>
          <a:p>
            <a:pPr indent="0" marL="0">
              <a:buNone/>
            </a:pPr>
            <a:r>
              <a:rPr lang="en-US" sz="1600" b="1" dirty="0">
                <a:solidFill>
                  <a:srgbClr val="1B1A18"/>
                </a:solidFill>
                <a:latin typeface="Cambria" pitchFamily="34" charset="0"/>
                <a:ea typeface="Cambria" pitchFamily="34" charset="-122"/>
                <a:cs typeface="Cambria" pitchFamily="34" charset="-120"/>
              </a:rPr>
              <a:t>Timeline and album grouping</a:t>
            </a:r>
            <a:endParaRPr lang="en-US" sz="1600" dirty="0"/>
          </a:p>
        </p:txBody>
      </p:sp>
      <p:sp>
        <p:nvSpPr>
          <p:cNvPr id="12" name="Text 10"/>
          <p:cNvSpPr txBox="1"/>
          <p:nvPr/>
        </p:nvSpPr>
        <p:spPr>
          <a:xfrm>
            <a:off x="877824" y="3438144"/>
            <a:ext cx="5074920" cy="914400"/>
          </a:xfrm>
          <a:prstGeom prst="rect">
            <a:avLst/>
          </a:prstGeom>
          <a:noFill/>
          <a:ln/>
        </p:spPr>
        <p:txBody>
          <a:bodyPr wrap="square" lIns="0" tIns="0" rIns="0" bIns="0" rtlCol="0" anchor="t"/>
          <a:lstStyle/>
          <a:p>
            <a:pPr indent="0" marL="0">
              <a:lnSpc>
                <a:spcPts val="1800"/>
              </a:lnSpc>
              <a:buNone/>
            </a:pPr>
            <a:r>
              <a:rPr lang="en-US" sz="1400" dirty="0">
                <a:solidFill>
                  <a:srgbClr val="6D6A64"/>
                </a:solidFill>
                <a:latin typeface="Calibri" pitchFamily="34" charset="0"/>
                <a:ea typeface="Calibri" pitchFamily="34" charset="-122"/>
                <a:cs typeface="Calibri" pitchFamily="34" charset="-120"/>
              </a:rPr>
              <a:t>Capture dates clustered into bursts with sparse months between — a uniform sprinkle makes every grouping feature look identical.</a:t>
            </a:r>
            <a:endParaRPr lang="en-US" sz="1400" dirty="0"/>
          </a:p>
        </p:txBody>
      </p:sp>
      <p:sp>
        <p:nvSpPr>
          <p:cNvPr id="13" name="Shape 11"/>
          <p:cNvSpPr/>
          <p:nvPr/>
        </p:nvSpPr>
        <p:spPr>
          <a:xfrm>
            <a:off x="6263640" y="3163824"/>
            <a:ext cx="164592" cy="164592"/>
          </a:xfrm>
          <a:prstGeom prst="ellipse">
            <a:avLst/>
          </a:prstGeom>
          <a:solidFill>
            <a:srgbClr val="AACABD"/>
          </a:solidFill>
          <a:ln w="12700">
            <a:solidFill>
              <a:srgbClr val="AACABD"/>
            </a:solidFill>
            <a:prstDash val="solid"/>
          </a:ln>
        </p:spPr>
      </p:sp>
      <p:sp>
        <p:nvSpPr>
          <p:cNvPr id="14" name="Text 12"/>
          <p:cNvSpPr txBox="1"/>
          <p:nvPr/>
        </p:nvSpPr>
        <p:spPr>
          <a:xfrm>
            <a:off x="6592824" y="3090672"/>
            <a:ext cx="5029200" cy="329184"/>
          </a:xfrm>
          <a:prstGeom prst="rect">
            <a:avLst/>
          </a:prstGeom>
          <a:noFill/>
          <a:ln/>
        </p:spPr>
        <p:txBody>
          <a:bodyPr wrap="square" lIns="0" tIns="0" rIns="0" bIns="0" rtlCol="0" anchor="ctr"/>
          <a:lstStyle/>
          <a:p>
            <a:pPr indent="0" marL="0">
              <a:buNone/>
            </a:pPr>
            <a:r>
              <a:rPr lang="en-US" sz="1600" b="1" dirty="0">
                <a:solidFill>
                  <a:srgbClr val="1B1A18"/>
                </a:solidFill>
                <a:latin typeface="Cambria" pitchFamily="34" charset="0"/>
                <a:ea typeface="Cambria" pitchFamily="34" charset="-122"/>
                <a:cs typeface="Cambria" pitchFamily="34" charset="-120"/>
              </a:rPr>
              <a:t>Migration and device transfer</a:t>
            </a:r>
            <a:endParaRPr lang="en-US" sz="1600" dirty="0"/>
          </a:p>
        </p:txBody>
      </p:sp>
      <p:sp>
        <p:nvSpPr>
          <p:cNvPr id="15" name="Text 13"/>
          <p:cNvSpPr txBox="1"/>
          <p:nvPr/>
        </p:nvSpPr>
        <p:spPr>
          <a:xfrm>
            <a:off x="6592824" y="3438144"/>
            <a:ext cx="5074920" cy="914400"/>
          </a:xfrm>
          <a:prstGeom prst="rect">
            <a:avLst/>
          </a:prstGeom>
          <a:noFill/>
          <a:ln/>
        </p:spPr>
        <p:txBody>
          <a:bodyPr wrap="square" lIns="0" tIns="0" rIns="0" bIns="0" rtlCol="0" anchor="t"/>
          <a:lstStyle/>
          <a:p>
            <a:pPr indent="0" marL="0">
              <a:lnSpc>
                <a:spcPts val="1800"/>
              </a:lnSpc>
              <a:buNone/>
            </a:pPr>
            <a:r>
              <a:rPr lang="en-US" sz="1400" dirty="0">
                <a:solidFill>
                  <a:srgbClr val="6D6A64"/>
                </a:solidFill>
                <a:latin typeface="Calibri" pitchFamily="34" charset="0"/>
                <a:ea typeface="Calibri" pitchFamily="34" charset="-122"/>
                <a:cs typeface="Calibri" pitchFamily="34" charset="-120"/>
              </a:rPr>
              <a:t>Fill the old phone, run the transfer, verify what landed on the new one.</a:t>
            </a:r>
            <a:endParaRPr lang="en-US" sz="1400" dirty="0"/>
          </a:p>
        </p:txBody>
      </p:sp>
      <p:sp>
        <p:nvSpPr>
          <p:cNvPr id="16" name="Shape 14"/>
          <p:cNvSpPr/>
          <p:nvPr/>
        </p:nvSpPr>
        <p:spPr>
          <a:xfrm>
            <a:off x="548640" y="4681728"/>
            <a:ext cx="164592" cy="164592"/>
          </a:xfrm>
          <a:prstGeom prst="ellipse">
            <a:avLst/>
          </a:prstGeom>
          <a:solidFill>
            <a:srgbClr val="AACABD"/>
          </a:solidFill>
          <a:ln w="12700">
            <a:solidFill>
              <a:srgbClr val="AACABD"/>
            </a:solidFill>
            <a:prstDash val="solid"/>
          </a:ln>
        </p:spPr>
      </p:sp>
      <p:sp>
        <p:nvSpPr>
          <p:cNvPr id="17" name="Text 15"/>
          <p:cNvSpPr txBox="1"/>
          <p:nvPr/>
        </p:nvSpPr>
        <p:spPr>
          <a:xfrm>
            <a:off x="877824" y="4608576"/>
            <a:ext cx="5029200" cy="329184"/>
          </a:xfrm>
          <a:prstGeom prst="rect">
            <a:avLst/>
          </a:prstGeom>
          <a:noFill/>
          <a:ln/>
        </p:spPr>
        <p:txBody>
          <a:bodyPr wrap="square" lIns="0" tIns="0" rIns="0" bIns="0" rtlCol="0" anchor="ctr"/>
          <a:lstStyle/>
          <a:p>
            <a:pPr indent="0" marL="0">
              <a:buNone/>
            </a:pPr>
            <a:r>
              <a:rPr lang="en-US" sz="1600" b="1" dirty="0">
                <a:solidFill>
                  <a:srgbClr val="1B1A18"/>
                </a:solidFill>
                <a:latin typeface="Cambria" pitchFamily="34" charset="0"/>
                <a:ea typeface="Cambria" pitchFamily="34" charset="-122"/>
                <a:cs typeface="Cambria" pitchFamily="34" charset="-120"/>
              </a:rPr>
              <a:t>Storage and quota edges</a:t>
            </a:r>
            <a:endParaRPr lang="en-US" sz="1600" dirty="0"/>
          </a:p>
        </p:txBody>
      </p:sp>
      <p:sp>
        <p:nvSpPr>
          <p:cNvPr id="18" name="Text 16"/>
          <p:cNvSpPr txBox="1"/>
          <p:nvPr/>
        </p:nvSpPr>
        <p:spPr>
          <a:xfrm>
            <a:off x="877824" y="4956048"/>
            <a:ext cx="5074920" cy="914400"/>
          </a:xfrm>
          <a:prstGeom prst="rect">
            <a:avLst/>
          </a:prstGeom>
          <a:noFill/>
          <a:ln/>
        </p:spPr>
        <p:txBody>
          <a:bodyPr wrap="square" lIns="0" tIns="0" rIns="0" bIns="0" rtlCol="0" anchor="t"/>
          <a:lstStyle/>
          <a:p>
            <a:pPr indent="0" marL="0">
              <a:lnSpc>
                <a:spcPts val="1800"/>
              </a:lnSpc>
              <a:buNone/>
            </a:pPr>
            <a:r>
              <a:rPr lang="en-US" sz="1400" dirty="0">
                <a:solidFill>
                  <a:srgbClr val="6D6A64"/>
                </a:solidFill>
                <a:latin typeface="Calibri" pitchFamily="34" charset="0"/>
                <a:ea typeface="Calibri" pitchFamily="34" charset="-122"/>
                <a:cs typeface="Calibri" pitchFamily="34" charset="-120"/>
              </a:rPr>
              <a:t>Exact byte targets put the device precisely at the boundary where the bugs live.</a:t>
            </a:r>
            <a:endParaRPr lang="en-US" sz="1400" dirty="0"/>
          </a:p>
        </p:txBody>
      </p:sp>
      <p:sp>
        <p:nvSpPr>
          <p:cNvPr id="19" name="Shape 17"/>
          <p:cNvSpPr/>
          <p:nvPr/>
        </p:nvSpPr>
        <p:spPr>
          <a:xfrm>
            <a:off x="6263640" y="4681728"/>
            <a:ext cx="164592" cy="164592"/>
          </a:xfrm>
          <a:prstGeom prst="ellipse">
            <a:avLst/>
          </a:prstGeom>
          <a:solidFill>
            <a:srgbClr val="AACABD"/>
          </a:solidFill>
          <a:ln w="12700">
            <a:solidFill>
              <a:srgbClr val="AACABD"/>
            </a:solidFill>
            <a:prstDash val="solid"/>
          </a:ln>
        </p:spPr>
      </p:sp>
      <p:sp>
        <p:nvSpPr>
          <p:cNvPr id="20" name="Text 18"/>
          <p:cNvSpPr txBox="1"/>
          <p:nvPr/>
        </p:nvSpPr>
        <p:spPr>
          <a:xfrm>
            <a:off x="6592824" y="4608576"/>
            <a:ext cx="5029200" cy="329184"/>
          </a:xfrm>
          <a:prstGeom prst="rect">
            <a:avLst/>
          </a:prstGeom>
          <a:noFill/>
          <a:ln/>
        </p:spPr>
        <p:txBody>
          <a:bodyPr wrap="square" lIns="0" tIns="0" rIns="0" bIns="0" rtlCol="0" anchor="ctr"/>
          <a:lstStyle/>
          <a:p>
            <a:pPr indent="0" marL="0">
              <a:buNone/>
            </a:pPr>
            <a:r>
              <a:rPr lang="en-US" sz="1600" b="1" dirty="0">
                <a:solidFill>
                  <a:srgbClr val="1B1A18"/>
                </a:solidFill>
                <a:latin typeface="Cambria" pitchFamily="34" charset="0"/>
                <a:ea typeface="Cambria" pitchFamily="34" charset="-122"/>
                <a:cs typeface="Cambria" pitchFamily="34" charset="-120"/>
              </a:rPr>
              <a:t>CI and regression</a:t>
            </a:r>
            <a:endParaRPr lang="en-US" sz="1600" dirty="0"/>
          </a:p>
        </p:txBody>
      </p:sp>
      <p:sp>
        <p:nvSpPr>
          <p:cNvPr id="21" name="Text 19"/>
          <p:cNvSpPr txBox="1"/>
          <p:nvPr/>
        </p:nvSpPr>
        <p:spPr>
          <a:xfrm>
            <a:off x="6592824" y="4956048"/>
            <a:ext cx="5074920" cy="914400"/>
          </a:xfrm>
          <a:prstGeom prst="rect">
            <a:avLst/>
          </a:prstGeom>
          <a:noFill/>
          <a:ln/>
        </p:spPr>
        <p:txBody>
          <a:bodyPr wrap="square" lIns="0" tIns="0" rIns="0" bIns="0" rtlCol="0" anchor="t"/>
          <a:lstStyle/>
          <a:p>
            <a:pPr indent="0" marL="0">
              <a:lnSpc>
                <a:spcPts val="1800"/>
              </a:lnSpc>
              <a:buNone/>
            </a:pPr>
            <a:r>
              <a:rPr lang="en-US" sz="1400" dirty="0">
                <a:solidFill>
                  <a:srgbClr val="6D6A64"/>
                </a:solidFill>
                <a:latin typeface="Calibri" pitchFamily="34" charset="0"/>
                <a:ea typeface="Calibri" pitchFamily="34" charset="-122"/>
                <a:cs typeface="Calibri" pitchFamily="34" charset="-120"/>
              </a:rPr>
              <a:t>A failing pack is reproducible from its job id and seed, and tdg verify fails the build.</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274320"/>
            <a:ext cx="11064240" cy="274320"/>
          </a:xfrm>
          <a:prstGeom prst="rect">
            <a:avLst/>
          </a:prstGeom>
          <a:noFill/>
          <a:ln/>
        </p:spPr>
        <p:txBody>
          <a:bodyPr wrap="square" lIns="0" tIns="0" rIns="0" bIns="0" rtlCol="0" anchor="ctr"/>
          <a:lstStyle/>
          <a:p>
            <a:pPr indent="0" marL="0">
              <a:buNone/>
            </a:pPr>
            <a:r>
              <a:rPr lang="en-US" sz="1400" b="1" spc="200" kern="0" dirty="0">
                <a:solidFill>
                  <a:srgbClr val="2F5D50"/>
                </a:solidFill>
                <a:latin typeface="Calibri" pitchFamily="34" charset="0"/>
                <a:ea typeface="Calibri" pitchFamily="34" charset="-122"/>
                <a:cs typeface="Calibri" pitchFamily="34" charset="-120"/>
              </a:rPr>
              <a:t>EVIDENCE</a:t>
            </a:r>
            <a:endParaRPr lang="en-US" sz="1400" dirty="0"/>
          </a:p>
        </p:txBody>
      </p:sp>
      <p:sp>
        <p:nvSpPr>
          <p:cNvPr id="3" name="Text 1"/>
          <p:cNvSpPr txBox="1"/>
          <p:nvPr/>
        </p:nvSpPr>
        <p:spPr>
          <a:xfrm>
            <a:off x="548640" y="585216"/>
            <a:ext cx="11064240" cy="713232"/>
          </a:xfrm>
          <a:prstGeom prst="rect">
            <a:avLst/>
          </a:prstGeom>
          <a:noFill/>
          <a:ln/>
        </p:spPr>
        <p:txBody>
          <a:bodyPr wrap="square" lIns="0" tIns="0" rIns="0" bIns="0" rtlCol="0" anchor="ctr"/>
          <a:lstStyle/>
          <a:p>
            <a:pPr indent="0" marL="0">
              <a:buNone/>
            </a:pPr>
            <a:r>
              <a:rPr lang="en-US" sz="3200" b="1" dirty="0">
                <a:solidFill>
                  <a:srgbClr val="1B1A18"/>
                </a:solidFill>
                <a:latin typeface="Cambria" pitchFamily="34" charset="0"/>
                <a:ea typeface="Cambria" pitchFamily="34" charset="-122"/>
                <a:cs typeface="Cambria" pitchFamily="34" charset="-120"/>
              </a:rPr>
              <a:t>Proven on real hardware, not just emulators</a:t>
            </a:r>
            <a:endParaRPr lang="en-US" sz="3200" dirty="0"/>
          </a:p>
        </p:txBody>
      </p:sp>
      <p:sp>
        <p:nvSpPr>
          <p:cNvPr id="4" name="Shape 2"/>
          <p:cNvSpPr/>
          <p:nvPr/>
        </p:nvSpPr>
        <p:spPr>
          <a:xfrm>
            <a:off x="548640" y="1426464"/>
            <a:ext cx="5486400" cy="2724912"/>
          </a:xfrm>
          <a:prstGeom prst="roundRect">
            <a:avLst>
              <a:gd name="adj" fmla="val 3020"/>
            </a:avLst>
          </a:prstGeom>
          <a:solidFill>
            <a:srgbClr val="E4EEE9"/>
          </a:solidFill>
          <a:ln w="12700">
            <a:solidFill>
              <a:srgbClr val="E4EEE9"/>
            </a:solidFill>
            <a:prstDash val="solid"/>
          </a:ln>
        </p:spPr>
      </p:sp>
      <p:sp>
        <p:nvSpPr>
          <p:cNvPr id="5" name="Shape 3"/>
          <p:cNvSpPr/>
          <p:nvPr/>
        </p:nvSpPr>
        <p:spPr>
          <a:xfrm>
            <a:off x="896112" y="1700784"/>
            <a:ext cx="1051560" cy="2155698"/>
          </a:xfrm>
          <a:prstGeom prst="roundRect">
            <a:avLst>
              <a:gd name="adj" fmla="val 9565"/>
            </a:avLst>
          </a:prstGeom>
          <a:solidFill>
            <a:srgbClr val="222E38"/>
          </a:solidFill>
          <a:ln w="12700">
            <a:solidFill>
              <a:srgbClr val="222E38"/>
            </a:solidFill>
            <a:prstDash val="solid"/>
          </a:ln>
        </p:spPr>
      </p:sp>
      <p:sp>
        <p:nvSpPr>
          <p:cNvPr id="6" name="Shape 4"/>
          <p:cNvSpPr/>
          <p:nvPr/>
        </p:nvSpPr>
        <p:spPr>
          <a:xfrm>
            <a:off x="959206" y="1763878"/>
            <a:ext cx="925373" cy="2029511"/>
          </a:xfrm>
          <a:prstGeom prst="roundRect">
            <a:avLst>
              <a:gd name="adj" fmla="val 7905"/>
            </a:avLst>
          </a:prstGeom>
          <a:solidFill>
            <a:srgbClr val="F4F8F6"/>
          </a:solidFill>
          <a:ln w="12700">
            <a:solidFill>
              <a:srgbClr val="F4F8F6"/>
            </a:solidFill>
            <a:prstDash val="solid"/>
          </a:ln>
        </p:spPr>
      </p:sp>
      <p:sp>
        <p:nvSpPr>
          <p:cNvPr id="7" name="Shape 5"/>
          <p:cNvSpPr/>
          <p:nvPr/>
        </p:nvSpPr>
        <p:spPr>
          <a:xfrm>
            <a:off x="1385316" y="1814170"/>
            <a:ext cx="73152" cy="73152"/>
          </a:xfrm>
          <a:prstGeom prst="ellipse">
            <a:avLst/>
          </a:prstGeom>
          <a:solidFill>
            <a:srgbClr val="222E38"/>
          </a:solidFill>
          <a:ln w="12700">
            <a:solidFill>
              <a:srgbClr val="222E38"/>
            </a:solidFill>
            <a:prstDash val="solid"/>
          </a:ln>
        </p:spPr>
      </p:sp>
      <p:sp>
        <p:nvSpPr>
          <p:cNvPr id="8" name="Shape 6"/>
          <p:cNvSpPr/>
          <p:nvPr/>
        </p:nvSpPr>
        <p:spPr>
          <a:xfrm>
            <a:off x="1023214" y="1965046"/>
            <a:ext cx="244450" cy="244450"/>
          </a:xfrm>
          <a:prstGeom prst="roundRect">
            <a:avLst>
              <a:gd name="adj" fmla="val 7481"/>
            </a:avLst>
          </a:prstGeom>
          <a:solidFill>
            <a:srgbClr val="AACABD"/>
          </a:solidFill>
          <a:ln w="12700">
            <a:solidFill>
              <a:srgbClr val="AACABD"/>
            </a:solidFill>
            <a:prstDash val="solid"/>
          </a:ln>
        </p:spPr>
      </p:sp>
      <p:sp>
        <p:nvSpPr>
          <p:cNvPr id="9" name="Shape 7"/>
          <p:cNvSpPr/>
          <p:nvPr/>
        </p:nvSpPr>
        <p:spPr>
          <a:xfrm>
            <a:off x="1299667" y="1965046"/>
            <a:ext cx="244450" cy="244450"/>
          </a:xfrm>
          <a:prstGeom prst="roundRect">
            <a:avLst>
              <a:gd name="adj" fmla="val 7481"/>
            </a:avLst>
          </a:prstGeom>
          <a:solidFill>
            <a:srgbClr val="8FB6A6"/>
          </a:solidFill>
          <a:ln w="12700">
            <a:solidFill>
              <a:srgbClr val="8FB6A6"/>
            </a:solidFill>
            <a:prstDash val="solid"/>
          </a:ln>
        </p:spPr>
      </p:sp>
      <p:sp>
        <p:nvSpPr>
          <p:cNvPr id="10" name="Shape 8"/>
          <p:cNvSpPr/>
          <p:nvPr/>
        </p:nvSpPr>
        <p:spPr>
          <a:xfrm>
            <a:off x="1576121" y="1965046"/>
            <a:ext cx="244450" cy="244450"/>
          </a:xfrm>
          <a:prstGeom prst="roundRect">
            <a:avLst>
              <a:gd name="adj" fmla="val 7481"/>
            </a:avLst>
          </a:prstGeom>
          <a:solidFill>
            <a:srgbClr val="B4D0C4"/>
          </a:solidFill>
          <a:ln w="12700">
            <a:solidFill>
              <a:srgbClr val="B4D0C4"/>
            </a:solidFill>
            <a:prstDash val="solid"/>
          </a:ln>
        </p:spPr>
      </p:sp>
      <p:sp>
        <p:nvSpPr>
          <p:cNvPr id="11" name="Shape 9"/>
          <p:cNvSpPr/>
          <p:nvPr/>
        </p:nvSpPr>
        <p:spPr>
          <a:xfrm>
            <a:off x="1023214" y="2241499"/>
            <a:ext cx="244450" cy="244450"/>
          </a:xfrm>
          <a:prstGeom prst="roundRect">
            <a:avLst>
              <a:gd name="adj" fmla="val 7481"/>
            </a:avLst>
          </a:prstGeom>
          <a:solidFill>
            <a:srgbClr val="7FAE9C"/>
          </a:solidFill>
          <a:ln w="12700">
            <a:solidFill>
              <a:srgbClr val="7FAE9C"/>
            </a:solidFill>
            <a:prstDash val="solid"/>
          </a:ln>
        </p:spPr>
      </p:sp>
      <p:sp>
        <p:nvSpPr>
          <p:cNvPr id="12" name="Shape 10"/>
          <p:cNvSpPr/>
          <p:nvPr/>
        </p:nvSpPr>
        <p:spPr>
          <a:xfrm>
            <a:off x="1299667" y="2241499"/>
            <a:ext cx="244450" cy="244450"/>
          </a:xfrm>
          <a:prstGeom prst="roundRect">
            <a:avLst>
              <a:gd name="adj" fmla="val 7481"/>
            </a:avLst>
          </a:prstGeom>
          <a:solidFill>
            <a:srgbClr val="9FC3B3"/>
          </a:solidFill>
          <a:ln w="12700">
            <a:solidFill>
              <a:srgbClr val="9FC3B3"/>
            </a:solidFill>
            <a:prstDash val="solid"/>
          </a:ln>
        </p:spPr>
      </p:sp>
      <p:sp>
        <p:nvSpPr>
          <p:cNvPr id="13" name="Shape 11"/>
          <p:cNvSpPr/>
          <p:nvPr/>
        </p:nvSpPr>
        <p:spPr>
          <a:xfrm>
            <a:off x="1576121" y="2241499"/>
            <a:ext cx="244450" cy="244450"/>
          </a:xfrm>
          <a:prstGeom prst="roundRect">
            <a:avLst>
              <a:gd name="adj" fmla="val 7481"/>
            </a:avLst>
          </a:prstGeom>
          <a:solidFill>
            <a:srgbClr val="A5C7B8"/>
          </a:solidFill>
          <a:ln w="12700">
            <a:solidFill>
              <a:srgbClr val="A5C7B8"/>
            </a:solidFill>
            <a:prstDash val="solid"/>
          </a:ln>
        </p:spPr>
      </p:sp>
      <p:sp>
        <p:nvSpPr>
          <p:cNvPr id="14" name="Shape 12"/>
          <p:cNvSpPr/>
          <p:nvPr/>
        </p:nvSpPr>
        <p:spPr>
          <a:xfrm>
            <a:off x="1023214" y="2517953"/>
            <a:ext cx="244450" cy="244450"/>
          </a:xfrm>
          <a:prstGeom prst="roundRect">
            <a:avLst>
              <a:gd name="adj" fmla="val 7481"/>
            </a:avLst>
          </a:prstGeom>
          <a:solidFill>
            <a:srgbClr val="AACABD"/>
          </a:solidFill>
          <a:ln w="12700">
            <a:solidFill>
              <a:srgbClr val="AACABD"/>
            </a:solidFill>
            <a:prstDash val="solid"/>
          </a:ln>
        </p:spPr>
      </p:sp>
      <p:sp>
        <p:nvSpPr>
          <p:cNvPr id="15" name="Shape 13"/>
          <p:cNvSpPr/>
          <p:nvPr/>
        </p:nvSpPr>
        <p:spPr>
          <a:xfrm>
            <a:off x="1299667" y="2517953"/>
            <a:ext cx="244450" cy="244450"/>
          </a:xfrm>
          <a:prstGeom prst="roundRect">
            <a:avLst>
              <a:gd name="adj" fmla="val 7481"/>
            </a:avLst>
          </a:prstGeom>
          <a:solidFill>
            <a:srgbClr val="8FB6A6"/>
          </a:solidFill>
          <a:ln w="12700">
            <a:solidFill>
              <a:srgbClr val="8FB6A6"/>
            </a:solidFill>
            <a:prstDash val="solid"/>
          </a:ln>
        </p:spPr>
      </p:sp>
      <p:sp>
        <p:nvSpPr>
          <p:cNvPr id="16" name="Shape 14"/>
          <p:cNvSpPr/>
          <p:nvPr/>
        </p:nvSpPr>
        <p:spPr>
          <a:xfrm>
            <a:off x="1576121" y="2517953"/>
            <a:ext cx="244450" cy="244450"/>
          </a:xfrm>
          <a:prstGeom prst="roundRect">
            <a:avLst>
              <a:gd name="adj" fmla="val 7481"/>
            </a:avLst>
          </a:prstGeom>
          <a:solidFill>
            <a:srgbClr val="B4D0C4"/>
          </a:solidFill>
          <a:ln w="12700">
            <a:solidFill>
              <a:srgbClr val="B4D0C4"/>
            </a:solidFill>
            <a:prstDash val="solid"/>
          </a:ln>
        </p:spPr>
      </p:sp>
      <p:sp>
        <p:nvSpPr>
          <p:cNvPr id="17" name="Shape 15"/>
          <p:cNvSpPr/>
          <p:nvPr/>
        </p:nvSpPr>
        <p:spPr>
          <a:xfrm>
            <a:off x="1023214" y="2794406"/>
            <a:ext cx="244450" cy="244450"/>
          </a:xfrm>
          <a:prstGeom prst="roundRect">
            <a:avLst>
              <a:gd name="adj" fmla="val 7481"/>
            </a:avLst>
          </a:prstGeom>
          <a:solidFill>
            <a:srgbClr val="7FAE9C"/>
          </a:solidFill>
          <a:ln w="12700">
            <a:solidFill>
              <a:srgbClr val="7FAE9C"/>
            </a:solidFill>
            <a:prstDash val="solid"/>
          </a:ln>
        </p:spPr>
      </p:sp>
      <p:sp>
        <p:nvSpPr>
          <p:cNvPr id="18" name="Shape 16"/>
          <p:cNvSpPr/>
          <p:nvPr/>
        </p:nvSpPr>
        <p:spPr>
          <a:xfrm>
            <a:off x="1299667" y="2794406"/>
            <a:ext cx="244450" cy="244450"/>
          </a:xfrm>
          <a:prstGeom prst="roundRect">
            <a:avLst>
              <a:gd name="adj" fmla="val 7481"/>
            </a:avLst>
          </a:prstGeom>
          <a:solidFill>
            <a:srgbClr val="9FC3B3"/>
          </a:solidFill>
          <a:ln w="12700">
            <a:solidFill>
              <a:srgbClr val="9FC3B3"/>
            </a:solidFill>
            <a:prstDash val="solid"/>
          </a:ln>
        </p:spPr>
      </p:sp>
      <p:sp>
        <p:nvSpPr>
          <p:cNvPr id="19" name="Shape 17"/>
          <p:cNvSpPr/>
          <p:nvPr/>
        </p:nvSpPr>
        <p:spPr>
          <a:xfrm>
            <a:off x="1576121" y="2794406"/>
            <a:ext cx="244450" cy="244450"/>
          </a:xfrm>
          <a:prstGeom prst="roundRect">
            <a:avLst>
              <a:gd name="adj" fmla="val 7481"/>
            </a:avLst>
          </a:prstGeom>
          <a:solidFill>
            <a:srgbClr val="A5C7B8"/>
          </a:solidFill>
          <a:ln w="12700">
            <a:solidFill>
              <a:srgbClr val="A5C7B8"/>
            </a:solidFill>
            <a:prstDash val="solid"/>
          </a:ln>
        </p:spPr>
      </p:sp>
      <p:sp>
        <p:nvSpPr>
          <p:cNvPr id="20" name="Shape 18"/>
          <p:cNvSpPr/>
          <p:nvPr/>
        </p:nvSpPr>
        <p:spPr>
          <a:xfrm>
            <a:off x="1023214" y="3070860"/>
            <a:ext cx="244450" cy="244450"/>
          </a:xfrm>
          <a:prstGeom prst="roundRect">
            <a:avLst>
              <a:gd name="adj" fmla="val 7481"/>
            </a:avLst>
          </a:prstGeom>
          <a:solidFill>
            <a:srgbClr val="AACABD"/>
          </a:solidFill>
          <a:ln w="12700">
            <a:solidFill>
              <a:srgbClr val="AACABD"/>
            </a:solidFill>
            <a:prstDash val="solid"/>
          </a:ln>
        </p:spPr>
      </p:sp>
      <p:sp>
        <p:nvSpPr>
          <p:cNvPr id="21" name="Shape 19"/>
          <p:cNvSpPr/>
          <p:nvPr/>
        </p:nvSpPr>
        <p:spPr>
          <a:xfrm>
            <a:off x="1299667" y="3070860"/>
            <a:ext cx="244450" cy="244450"/>
          </a:xfrm>
          <a:prstGeom prst="roundRect">
            <a:avLst>
              <a:gd name="adj" fmla="val 7481"/>
            </a:avLst>
          </a:prstGeom>
          <a:solidFill>
            <a:srgbClr val="8FB6A6"/>
          </a:solidFill>
          <a:ln w="12700">
            <a:solidFill>
              <a:srgbClr val="8FB6A6"/>
            </a:solidFill>
            <a:prstDash val="solid"/>
          </a:ln>
        </p:spPr>
      </p:sp>
      <p:sp>
        <p:nvSpPr>
          <p:cNvPr id="22" name="Shape 20"/>
          <p:cNvSpPr/>
          <p:nvPr/>
        </p:nvSpPr>
        <p:spPr>
          <a:xfrm>
            <a:off x="1576121" y="3070860"/>
            <a:ext cx="244450" cy="244450"/>
          </a:xfrm>
          <a:prstGeom prst="roundRect">
            <a:avLst>
              <a:gd name="adj" fmla="val 7481"/>
            </a:avLst>
          </a:prstGeom>
          <a:solidFill>
            <a:srgbClr val="B4D0C4"/>
          </a:solidFill>
          <a:ln w="12700">
            <a:solidFill>
              <a:srgbClr val="B4D0C4"/>
            </a:solidFill>
            <a:prstDash val="solid"/>
          </a:ln>
        </p:spPr>
      </p:sp>
      <p:sp>
        <p:nvSpPr>
          <p:cNvPr id="23" name="Shape 21"/>
          <p:cNvSpPr/>
          <p:nvPr/>
        </p:nvSpPr>
        <p:spPr>
          <a:xfrm>
            <a:off x="1023214" y="3347314"/>
            <a:ext cx="244450" cy="244450"/>
          </a:xfrm>
          <a:prstGeom prst="roundRect">
            <a:avLst>
              <a:gd name="adj" fmla="val 7481"/>
            </a:avLst>
          </a:prstGeom>
          <a:solidFill>
            <a:srgbClr val="7FAE9C"/>
          </a:solidFill>
          <a:ln w="12700">
            <a:solidFill>
              <a:srgbClr val="7FAE9C"/>
            </a:solidFill>
            <a:prstDash val="solid"/>
          </a:ln>
        </p:spPr>
      </p:sp>
      <p:sp>
        <p:nvSpPr>
          <p:cNvPr id="24" name="Shape 22"/>
          <p:cNvSpPr/>
          <p:nvPr/>
        </p:nvSpPr>
        <p:spPr>
          <a:xfrm>
            <a:off x="1299667" y="3347314"/>
            <a:ext cx="244450" cy="244450"/>
          </a:xfrm>
          <a:prstGeom prst="roundRect">
            <a:avLst>
              <a:gd name="adj" fmla="val 7481"/>
            </a:avLst>
          </a:prstGeom>
          <a:solidFill>
            <a:srgbClr val="9FC3B3"/>
          </a:solidFill>
          <a:ln w="12700">
            <a:solidFill>
              <a:srgbClr val="9FC3B3"/>
            </a:solidFill>
            <a:prstDash val="solid"/>
          </a:ln>
        </p:spPr>
      </p:sp>
      <p:sp>
        <p:nvSpPr>
          <p:cNvPr id="25" name="Shape 23"/>
          <p:cNvSpPr/>
          <p:nvPr/>
        </p:nvSpPr>
        <p:spPr>
          <a:xfrm>
            <a:off x="1576121" y="3347314"/>
            <a:ext cx="244450" cy="244450"/>
          </a:xfrm>
          <a:prstGeom prst="roundRect">
            <a:avLst>
              <a:gd name="adj" fmla="val 7481"/>
            </a:avLst>
          </a:prstGeom>
          <a:solidFill>
            <a:srgbClr val="A5C7B8"/>
          </a:solidFill>
          <a:ln w="12700">
            <a:solidFill>
              <a:srgbClr val="A5C7B8"/>
            </a:solidFill>
            <a:prstDash val="solid"/>
          </a:ln>
        </p:spPr>
      </p:sp>
      <p:sp>
        <p:nvSpPr>
          <p:cNvPr id="26" name="Text 24"/>
          <p:cNvSpPr txBox="1"/>
          <p:nvPr/>
        </p:nvSpPr>
        <p:spPr>
          <a:xfrm>
            <a:off x="2240280" y="1755648"/>
            <a:ext cx="3566160" cy="384048"/>
          </a:xfrm>
          <a:prstGeom prst="rect">
            <a:avLst/>
          </a:prstGeom>
          <a:noFill/>
          <a:ln/>
        </p:spPr>
        <p:txBody>
          <a:bodyPr wrap="square" lIns="0" tIns="0" rIns="0" bIns="0" rtlCol="0" anchor="ctr"/>
          <a:lstStyle/>
          <a:p>
            <a:pPr indent="0" marL="0">
              <a:buNone/>
            </a:pPr>
            <a:r>
              <a:rPr lang="en-US" sz="2000" b="1" dirty="0">
                <a:solidFill>
                  <a:srgbClr val="2F5D50"/>
                </a:solidFill>
                <a:latin typeface="Cambria" pitchFamily="34" charset="0"/>
                <a:ea typeface="Cambria" pitchFamily="34" charset="-122"/>
                <a:cs typeface="Cambria" pitchFamily="34" charset="-120"/>
              </a:rPr>
              <a:t>Galaxy S24</a:t>
            </a:r>
            <a:endParaRPr lang="en-US" sz="2000" dirty="0"/>
          </a:p>
        </p:txBody>
      </p:sp>
      <p:sp>
        <p:nvSpPr>
          <p:cNvPr id="27" name="Text 25"/>
          <p:cNvSpPr txBox="1"/>
          <p:nvPr/>
        </p:nvSpPr>
        <p:spPr>
          <a:xfrm>
            <a:off x="2240280" y="2139696"/>
            <a:ext cx="3566160" cy="292608"/>
          </a:xfrm>
          <a:prstGeom prst="rect">
            <a:avLst/>
          </a:prstGeom>
          <a:noFill/>
          <a:ln/>
        </p:spPr>
        <p:txBody>
          <a:bodyPr wrap="square" lIns="0" tIns="0" rIns="0" bIns="0" rtlCol="0" anchor="ctr"/>
          <a:lstStyle/>
          <a:p>
            <a:pPr indent="0" marL="0">
              <a:buNone/>
            </a:pPr>
            <a:r>
              <a:rPr lang="en-US" sz="1400" dirty="0">
                <a:solidFill>
                  <a:srgbClr val="6D6A64"/>
                </a:solidFill>
                <a:latin typeface="Calibri" pitchFamily="34" charset="0"/>
                <a:ea typeface="Calibri" pitchFamily="34" charset="-122"/>
                <a:cs typeface="Calibri" pitchFamily="34" charset="-120"/>
              </a:rPr>
              <a:t>Android 16</a:t>
            </a:r>
            <a:endParaRPr lang="en-US" sz="1400" dirty="0"/>
          </a:p>
        </p:txBody>
      </p:sp>
      <p:sp>
        <p:nvSpPr>
          <p:cNvPr id="28" name="Text 26"/>
          <p:cNvSpPr txBox="1"/>
          <p:nvPr/>
        </p:nvSpPr>
        <p:spPr>
          <a:xfrm>
            <a:off x="2240280" y="2523744"/>
            <a:ext cx="3566160" cy="347472"/>
          </a:xfrm>
          <a:prstGeom prst="rect">
            <a:avLst/>
          </a:prstGeom>
          <a:noFill/>
          <a:ln/>
        </p:spPr>
        <p:txBody>
          <a:bodyPr wrap="square" lIns="0" tIns="0" rIns="0" bIns="0" rtlCol="0" anchor="ctr"/>
          <a:lstStyle/>
          <a:p>
            <a:pPr indent="0" marL="0">
              <a:buNone/>
            </a:pPr>
            <a:r>
              <a:rPr lang="en-US" sz="1600" b="1" dirty="0">
                <a:solidFill>
                  <a:srgbClr val="1B1A18"/>
                </a:solidFill>
                <a:latin typeface="Calibri" pitchFamily="34" charset="0"/>
                <a:ea typeface="Calibri" pitchFamily="34" charset="-122"/>
                <a:cs typeface="Calibri" pitchFamily="34" charset="-120"/>
              </a:rPr>
              <a:t>3,466 assets · 10 GB</a:t>
            </a:r>
            <a:endParaRPr lang="en-US" sz="1600" dirty="0"/>
          </a:p>
        </p:txBody>
      </p:sp>
      <p:sp>
        <p:nvSpPr>
          <p:cNvPr id="29" name="Text 27"/>
          <p:cNvSpPr txBox="1"/>
          <p:nvPr/>
        </p:nvSpPr>
        <p:spPr>
          <a:xfrm>
            <a:off x="2240280" y="2926080"/>
            <a:ext cx="3566160" cy="914400"/>
          </a:xfrm>
          <a:prstGeom prst="rect">
            <a:avLst/>
          </a:prstGeom>
          <a:noFill/>
          <a:ln/>
        </p:spPr>
        <p:txBody>
          <a:bodyPr wrap="square" lIns="0" tIns="0" rIns="0" bIns="0" rtlCol="0" anchor="t"/>
          <a:lstStyle/>
          <a:p>
            <a:pPr indent="0" marL="0">
              <a:lnSpc>
                <a:spcPts val="1800"/>
              </a:lnSpc>
              <a:buNone/>
            </a:pPr>
            <a:r>
              <a:rPr lang="en-US" sz="1400" dirty="0">
                <a:solidFill>
                  <a:srgbClr val="6D6A64"/>
                </a:solidFill>
                <a:latin typeface="Calibri" pitchFamily="34" charset="0"/>
                <a:ea typeface="Calibri" pitchFamily="34" charset="-122"/>
                <a:cs typeface="Calibri" pitchFamily="34" charset="-120"/>
              </a:rPr>
              <a:t>15 min unplugged, screen off — the foreground service was never suspended</a:t>
            </a:r>
            <a:endParaRPr lang="en-US" sz="1400" dirty="0"/>
          </a:p>
        </p:txBody>
      </p:sp>
      <p:sp>
        <p:nvSpPr>
          <p:cNvPr id="30" name="Shape 28"/>
          <p:cNvSpPr/>
          <p:nvPr/>
        </p:nvSpPr>
        <p:spPr>
          <a:xfrm>
            <a:off x="6309360" y="1426464"/>
            <a:ext cx="5486400" cy="2724912"/>
          </a:xfrm>
          <a:prstGeom prst="roundRect">
            <a:avLst>
              <a:gd name="adj" fmla="val 3020"/>
            </a:avLst>
          </a:prstGeom>
          <a:solidFill>
            <a:srgbClr val="E4EEE9"/>
          </a:solidFill>
          <a:ln w="12700">
            <a:solidFill>
              <a:srgbClr val="E4EEE9"/>
            </a:solidFill>
            <a:prstDash val="solid"/>
          </a:ln>
        </p:spPr>
      </p:sp>
      <p:sp>
        <p:nvSpPr>
          <p:cNvPr id="31" name="Shape 29"/>
          <p:cNvSpPr/>
          <p:nvPr/>
        </p:nvSpPr>
        <p:spPr>
          <a:xfrm>
            <a:off x="6656832" y="1700784"/>
            <a:ext cx="1051560" cy="2155698"/>
          </a:xfrm>
          <a:prstGeom prst="roundRect">
            <a:avLst>
              <a:gd name="adj" fmla="val 13043"/>
            </a:avLst>
          </a:prstGeom>
          <a:solidFill>
            <a:srgbClr val="34343A"/>
          </a:solidFill>
          <a:ln w="12700">
            <a:solidFill>
              <a:srgbClr val="34343A"/>
            </a:solidFill>
            <a:prstDash val="solid"/>
          </a:ln>
        </p:spPr>
      </p:sp>
      <p:sp>
        <p:nvSpPr>
          <p:cNvPr id="32" name="Shape 30"/>
          <p:cNvSpPr/>
          <p:nvPr/>
        </p:nvSpPr>
        <p:spPr>
          <a:xfrm>
            <a:off x="6719926" y="1763878"/>
            <a:ext cx="925373" cy="2029511"/>
          </a:xfrm>
          <a:prstGeom prst="roundRect">
            <a:avLst>
              <a:gd name="adj" fmla="val 11858"/>
            </a:avLst>
          </a:prstGeom>
          <a:solidFill>
            <a:srgbClr val="F4F8F6"/>
          </a:solidFill>
          <a:ln w="12700">
            <a:solidFill>
              <a:srgbClr val="F4F8F6"/>
            </a:solidFill>
            <a:prstDash val="solid"/>
          </a:ln>
        </p:spPr>
      </p:sp>
      <p:sp>
        <p:nvSpPr>
          <p:cNvPr id="33" name="Shape 31"/>
          <p:cNvSpPr/>
          <p:nvPr/>
        </p:nvSpPr>
        <p:spPr>
          <a:xfrm>
            <a:off x="7063740" y="1809598"/>
            <a:ext cx="237744" cy="77724"/>
          </a:xfrm>
          <a:prstGeom prst="roundRect">
            <a:avLst>
              <a:gd name="adj" fmla="val 49412"/>
            </a:avLst>
          </a:prstGeom>
          <a:solidFill>
            <a:srgbClr val="34343A"/>
          </a:solidFill>
          <a:ln w="12700">
            <a:solidFill>
              <a:srgbClr val="34343A"/>
            </a:solidFill>
            <a:prstDash val="solid"/>
          </a:ln>
        </p:spPr>
      </p:sp>
      <p:sp>
        <p:nvSpPr>
          <p:cNvPr id="34" name="Shape 32"/>
          <p:cNvSpPr/>
          <p:nvPr/>
        </p:nvSpPr>
        <p:spPr>
          <a:xfrm>
            <a:off x="6783934" y="1965046"/>
            <a:ext cx="244450" cy="244450"/>
          </a:xfrm>
          <a:prstGeom prst="roundRect">
            <a:avLst>
              <a:gd name="adj" fmla="val 7481"/>
            </a:avLst>
          </a:prstGeom>
          <a:solidFill>
            <a:srgbClr val="AACABD"/>
          </a:solidFill>
          <a:ln w="12700">
            <a:solidFill>
              <a:srgbClr val="AACABD"/>
            </a:solidFill>
            <a:prstDash val="solid"/>
          </a:ln>
        </p:spPr>
      </p:sp>
      <p:sp>
        <p:nvSpPr>
          <p:cNvPr id="35" name="Shape 33"/>
          <p:cNvSpPr/>
          <p:nvPr/>
        </p:nvSpPr>
        <p:spPr>
          <a:xfrm>
            <a:off x="7060387" y="1965046"/>
            <a:ext cx="244450" cy="244450"/>
          </a:xfrm>
          <a:prstGeom prst="roundRect">
            <a:avLst>
              <a:gd name="adj" fmla="val 7481"/>
            </a:avLst>
          </a:prstGeom>
          <a:solidFill>
            <a:srgbClr val="8FB6A6"/>
          </a:solidFill>
          <a:ln w="12700">
            <a:solidFill>
              <a:srgbClr val="8FB6A6"/>
            </a:solidFill>
            <a:prstDash val="solid"/>
          </a:ln>
        </p:spPr>
      </p:sp>
      <p:sp>
        <p:nvSpPr>
          <p:cNvPr id="36" name="Shape 34"/>
          <p:cNvSpPr/>
          <p:nvPr/>
        </p:nvSpPr>
        <p:spPr>
          <a:xfrm>
            <a:off x="7336841" y="1965046"/>
            <a:ext cx="244450" cy="244450"/>
          </a:xfrm>
          <a:prstGeom prst="roundRect">
            <a:avLst>
              <a:gd name="adj" fmla="val 7481"/>
            </a:avLst>
          </a:prstGeom>
          <a:solidFill>
            <a:srgbClr val="B4D0C4"/>
          </a:solidFill>
          <a:ln w="12700">
            <a:solidFill>
              <a:srgbClr val="B4D0C4"/>
            </a:solidFill>
            <a:prstDash val="solid"/>
          </a:ln>
        </p:spPr>
      </p:sp>
      <p:sp>
        <p:nvSpPr>
          <p:cNvPr id="37" name="Shape 35"/>
          <p:cNvSpPr/>
          <p:nvPr/>
        </p:nvSpPr>
        <p:spPr>
          <a:xfrm>
            <a:off x="6783934" y="2241499"/>
            <a:ext cx="244450" cy="244450"/>
          </a:xfrm>
          <a:prstGeom prst="roundRect">
            <a:avLst>
              <a:gd name="adj" fmla="val 7481"/>
            </a:avLst>
          </a:prstGeom>
          <a:solidFill>
            <a:srgbClr val="7FAE9C"/>
          </a:solidFill>
          <a:ln w="12700">
            <a:solidFill>
              <a:srgbClr val="7FAE9C"/>
            </a:solidFill>
            <a:prstDash val="solid"/>
          </a:ln>
        </p:spPr>
      </p:sp>
      <p:sp>
        <p:nvSpPr>
          <p:cNvPr id="38" name="Shape 36"/>
          <p:cNvSpPr/>
          <p:nvPr/>
        </p:nvSpPr>
        <p:spPr>
          <a:xfrm>
            <a:off x="7060387" y="2241499"/>
            <a:ext cx="244450" cy="244450"/>
          </a:xfrm>
          <a:prstGeom prst="roundRect">
            <a:avLst>
              <a:gd name="adj" fmla="val 7481"/>
            </a:avLst>
          </a:prstGeom>
          <a:solidFill>
            <a:srgbClr val="9FC3B3"/>
          </a:solidFill>
          <a:ln w="12700">
            <a:solidFill>
              <a:srgbClr val="9FC3B3"/>
            </a:solidFill>
            <a:prstDash val="solid"/>
          </a:ln>
        </p:spPr>
      </p:sp>
      <p:sp>
        <p:nvSpPr>
          <p:cNvPr id="39" name="Shape 37"/>
          <p:cNvSpPr/>
          <p:nvPr/>
        </p:nvSpPr>
        <p:spPr>
          <a:xfrm>
            <a:off x="7336841" y="2241499"/>
            <a:ext cx="244450" cy="244450"/>
          </a:xfrm>
          <a:prstGeom prst="roundRect">
            <a:avLst>
              <a:gd name="adj" fmla="val 7481"/>
            </a:avLst>
          </a:prstGeom>
          <a:solidFill>
            <a:srgbClr val="A5C7B8"/>
          </a:solidFill>
          <a:ln w="12700">
            <a:solidFill>
              <a:srgbClr val="A5C7B8"/>
            </a:solidFill>
            <a:prstDash val="solid"/>
          </a:ln>
        </p:spPr>
      </p:sp>
      <p:sp>
        <p:nvSpPr>
          <p:cNvPr id="40" name="Shape 38"/>
          <p:cNvSpPr/>
          <p:nvPr/>
        </p:nvSpPr>
        <p:spPr>
          <a:xfrm>
            <a:off x="6783934" y="2517953"/>
            <a:ext cx="244450" cy="244450"/>
          </a:xfrm>
          <a:prstGeom prst="roundRect">
            <a:avLst>
              <a:gd name="adj" fmla="val 7481"/>
            </a:avLst>
          </a:prstGeom>
          <a:solidFill>
            <a:srgbClr val="AACABD"/>
          </a:solidFill>
          <a:ln w="12700">
            <a:solidFill>
              <a:srgbClr val="AACABD"/>
            </a:solidFill>
            <a:prstDash val="solid"/>
          </a:ln>
        </p:spPr>
      </p:sp>
      <p:sp>
        <p:nvSpPr>
          <p:cNvPr id="41" name="Shape 39"/>
          <p:cNvSpPr/>
          <p:nvPr/>
        </p:nvSpPr>
        <p:spPr>
          <a:xfrm>
            <a:off x="7060387" y="2517953"/>
            <a:ext cx="244450" cy="244450"/>
          </a:xfrm>
          <a:prstGeom prst="roundRect">
            <a:avLst>
              <a:gd name="adj" fmla="val 7481"/>
            </a:avLst>
          </a:prstGeom>
          <a:solidFill>
            <a:srgbClr val="8FB6A6"/>
          </a:solidFill>
          <a:ln w="12700">
            <a:solidFill>
              <a:srgbClr val="8FB6A6"/>
            </a:solidFill>
            <a:prstDash val="solid"/>
          </a:ln>
        </p:spPr>
      </p:sp>
      <p:sp>
        <p:nvSpPr>
          <p:cNvPr id="42" name="Shape 40"/>
          <p:cNvSpPr/>
          <p:nvPr/>
        </p:nvSpPr>
        <p:spPr>
          <a:xfrm>
            <a:off x="7336841" y="2517953"/>
            <a:ext cx="244450" cy="244450"/>
          </a:xfrm>
          <a:prstGeom prst="roundRect">
            <a:avLst>
              <a:gd name="adj" fmla="val 7481"/>
            </a:avLst>
          </a:prstGeom>
          <a:solidFill>
            <a:srgbClr val="B4D0C4"/>
          </a:solidFill>
          <a:ln w="12700">
            <a:solidFill>
              <a:srgbClr val="B4D0C4"/>
            </a:solidFill>
            <a:prstDash val="solid"/>
          </a:ln>
        </p:spPr>
      </p:sp>
      <p:sp>
        <p:nvSpPr>
          <p:cNvPr id="43" name="Shape 41"/>
          <p:cNvSpPr/>
          <p:nvPr/>
        </p:nvSpPr>
        <p:spPr>
          <a:xfrm>
            <a:off x="6783934" y="2794406"/>
            <a:ext cx="244450" cy="244450"/>
          </a:xfrm>
          <a:prstGeom prst="roundRect">
            <a:avLst>
              <a:gd name="adj" fmla="val 7481"/>
            </a:avLst>
          </a:prstGeom>
          <a:solidFill>
            <a:srgbClr val="7FAE9C"/>
          </a:solidFill>
          <a:ln w="12700">
            <a:solidFill>
              <a:srgbClr val="7FAE9C"/>
            </a:solidFill>
            <a:prstDash val="solid"/>
          </a:ln>
        </p:spPr>
      </p:sp>
      <p:sp>
        <p:nvSpPr>
          <p:cNvPr id="44" name="Shape 42"/>
          <p:cNvSpPr/>
          <p:nvPr/>
        </p:nvSpPr>
        <p:spPr>
          <a:xfrm>
            <a:off x="7060387" y="2794406"/>
            <a:ext cx="244450" cy="244450"/>
          </a:xfrm>
          <a:prstGeom prst="roundRect">
            <a:avLst>
              <a:gd name="adj" fmla="val 7481"/>
            </a:avLst>
          </a:prstGeom>
          <a:solidFill>
            <a:srgbClr val="9FC3B3"/>
          </a:solidFill>
          <a:ln w="12700">
            <a:solidFill>
              <a:srgbClr val="9FC3B3"/>
            </a:solidFill>
            <a:prstDash val="solid"/>
          </a:ln>
        </p:spPr>
      </p:sp>
      <p:sp>
        <p:nvSpPr>
          <p:cNvPr id="45" name="Shape 43"/>
          <p:cNvSpPr/>
          <p:nvPr/>
        </p:nvSpPr>
        <p:spPr>
          <a:xfrm>
            <a:off x="7336841" y="2794406"/>
            <a:ext cx="244450" cy="244450"/>
          </a:xfrm>
          <a:prstGeom prst="roundRect">
            <a:avLst>
              <a:gd name="adj" fmla="val 7481"/>
            </a:avLst>
          </a:prstGeom>
          <a:solidFill>
            <a:srgbClr val="A5C7B8"/>
          </a:solidFill>
          <a:ln w="12700">
            <a:solidFill>
              <a:srgbClr val="A5C7B8"/>
            </a:solidFill>
            <a:prstDash val="solid"/>
          </a:ln>
        </p:spPr>
      </p:sp>
      <p:sp>
        <p:nvSpPr>
          <p:cNvPr id="46" name="Shape 44"/>
          <p:cNvSpPr/>
          <p:nvPr/>
        </p:nvSpPr>
        <p:spPr>
          <a:xfrm>
            <a:off x="6783934" y="3070860"/>
            <a:ext cx="244450" cy="244450"/>
          </a:xfrm>
          <a:prstGeom prst="roundRect">
            <a:avLst>
              <a:gd name="adj" fmla="val 7481"/>
            </a:avLst>
          </a:prstGeom>
          <a:solidFill>
            <a:srgbClr val="AACABD"/>
          </a:solidFill>
          <a:ln w="12700">
            <a:solidFill>
              <a:srgbClr val="AACABD"/>
            </a:solidFill>
            <a:prstDash val="solid"/>
          </a:ln>
        </p:spPr>
      </p:sp>
      <p:sp>
        <p:nvSpPr>
          <p:cNvPr id="47" name="Shape 45"/>
          <p:cNvSpPr/>
          <p:nvPr/>
        </p:nvSpPr>
        <p:spPr>
          <a:xfrm>
            <a:off x="7060387" y="3070860"/>
            <a:ext cx="244450" cy="244450"/>
          </a:xfrm>
          <a:prstGeom prst="roundRect">
            <a:avLst>
              <a:gd name="adj" fmla="val 7481"/>
            </a:avLst>
          </a:prstGeom>
          <a:solidFill>
            <a:srgbClr val="8FB6A6"/>
          </a:solidFill>
          <a:ln w="12700">
            <a:solidFill>
              <a:srgbClr val="8FB6A6"/>
            </a:solidFill>
            <a:prstDash val="solid"/>
          </a:ln>
        </p:spPr>
      </p:sp>
      <p:sp>
        <p:nvSpPr>
          <p:cNvPr id="48" name="Shape 46"/>
          <p:cNvSpPr/>
          <p:nvPr/>
        </p:nvSpPr>
        <p:spPr>
          <a:xfrm>
            <a:off x="7336841" y="3070860"/>
            <a:ext cx="244450" cy="244450"/>
          </a:xfrm>
          <a:prstGeom prst="roundRect">
            <a:avLst>
              <a:gd name="adj" fmla="val 7481"/>
            </a:avLst>
          </a:prstGeom>
          <a:solidFill>
            <a:srgbClr val="B4D0C4"/>
          </a:solidFill>
          <a:ln w="12700">
            <a:solidFill>
              <a:srgbClr val="B4D0C4"/>
            </a:solidFill>
            <a:prstDash val="solid"/>
          </a:ln>
        </p:spPr>
      </p:sp>
      <p:sp>
        <p:nvSpPr>
          <p:cNvPr id="49" name="Shape 47"/>
          <p:cNvSpPr/>
          <p:nvPr/>
        </p:nvSpPr>
        <p:spPr>
          <a:xfrm>
            <a:off x="6783934" y="3347314"/>
            <a:ext cx="244450" cy="244450"/>
          </a:xfrm>
          <a:prstGeom prst="roundRect">
            <a:avLst>
              <a:gd name="adj" fmla="val 7481"/>
            </a:avLst>
          </a:prstGeom>
          <a:solidFill>
            <a:srgbClr val="7FAE9C"/>
          </a:solidFill>
          <a:ln w="12700">
            <a:solidFill>
              <a:srgbClr val="7FAE9C"/>
            </a:solidFill>
            <a:prstDash val="solid"/>
          </a:ln>
        </p:spPr>
      </p:sp>
      <p:sp>
        <p:nvSpPr>
          <p:cNvPr id="50" name="Shape 48"/>
          <p:cNvSpPr/>
          <p:nvPr/>
        </p:nvSpPr>
        <p:spPr>
          <a:xfrm>
            <a:off x="7060387" y="3347314"/>
            <a:ext cx="244450" cy="244450"/>
          </a:xfrm>
          <a:prstGeom prst="roundRect">
            <a:avLst>
              <a:gd name="adj" fmla="val 7481"/>
            </a:avLst>
          </a:prstGeom>
          <a:solidFill>
            <a:srgbClr val="9FC3B3"/>
          </a:solidFill>
          <a:ln w="12700">
            <a:solidFill>
              <a:srgbClr val="9FC3B3"/>
            </a:solidFill>
            <a:prstDash val="solid"/>
          </a:ln>
        </p:spPr>
      </p:sp>
      <p:sp>
        <p:nvSpPr>
          <p:cNvPr id="51" name="Shape 49"/>
          <p:cNvSpPr/>
          <p:nvPr/>
        </p:nvSpPr>
        <p:spPr>
          <a:xfrm>
            <a:off x="7336841" y="3347314"/>
            <a:ext cx="244450" cy="244450"/>
          </a:xfrm>
          <a:prstGeom prst="roundRect">
            <a:avLst>
              <a:gd name="adj" fmla="val 7481"/>
            </a:avLst>
          </a:prstGeom>
          <a:solidFill>
            <a:srgbClr val="A5C7B8"/>
          </a:solidFill>
          <a:ln w="12700">
            <a:solidFill>
              <a:srgbClr val="A5C7B8"/>
            </a:solidFill>
            <a:prstDash val="solid"/>
          </a:ln>
        </p:spPr>
      </p:sp>
      <p:sp>
        <p:nvSpPr>
          <p:cNvPr id="52" name="Text 50"/>
          <p:cNvSpPr txBox="1"/>
          <p:nvPr/>
        </p:nvSpPr>
        <p:spPr>
          <a:xfrm>
            <a:off x="8001000" y="1755648"/>
            <a:ext cx="3566160" cy="384048"/>
          </a:xfrm>
          <a:prstGeom prst="rect">
            <a:avLst/>
          </a:prstGeom>
          <a:noFill/>
          <a:ln/>
        </p:spPr>
        <p:txBody>
          <a:bodyPr wrap="square" lIns="0" tIns="0" rIns="0" bIns="0" rtlCol="0" anchor="ctr"/>
          <a:lstStyle/>
          <a:p>
            <a:pPr indent="0" marL="0">
              <a:buNone/>
            </a:pPr>
            <a:r>
              <a:rPr lang="en-US" sz="2000" b="1" dirty="0">
                <a:solidFill>
                  <a:srgbClr val="2F5D50"/>
                </a:solidFill>
                <a:latin typeface="Cambria" pitchFamily="34" charset="0"/>
                <a:ea typeface="Cambria" pitchFamily="34" charset="-122"/>
                <a:cs typeface="Cambria" pitchFamily="34" charset="-120"/>
              </a:rPr>
              <a:t>iPhone 15 Pro</a:t>
            </a:r>
            <a:endParaRPr lang="en-US" sz="2000" dirty="0"/>
          </a:p>
        </p:txBody>
      </p:sp>
      <p:sp>
        <p:nvSpPr>
          <p:cNvPr id="53" name="Text 51"/>
          <p:cNvSpPr txBox="1"/>
          <p:nvPr/>
        </p:nvSpPr>
        <p:spPr>
          <a:xfrm>
            <a:off x="8001000" y="2139696"/>
            <a:ext cx="3566160" cy="292608"/>
          </a:xfrm>
          <a:prstGeom prst="rect">
            <a:avLst/>
          </a:prstGeom>
          <a:noFill/>
          <a:ln/>
        </p:spPr>
        <p:txBody>
          <a:bodyPr wrap="square" lIns="0" tIns="0" rIns="0" bIns="0" rtlCol="0" anchor="ctr"/>
          <a:lstStyle/>
          <a:p>
            <a:pPr indent="0" marL="0">
              <a:buNone/>
            </a:pPr>
            <a:r>
              <a:rPr lang="en-US" sz="1400" dirty="0">
                <a:solidFill>
                  <a:srgbClr val="6D6A64"/>
                </a:solidFill>
                <a:latin typeface="Calibri" pitchFamily="34" charset="0"/>
                <a:ea typeface="Calibri" pitchFamily="34" charset="-122"/>
                <a:cs typeface="Calibri" pitchFamily="34" charset="-120"/>
              </a:rPr>
              <a:t>iOS 26.6.1</a:t>
            </a:r>
            <a:endParaRPr lang="en-US" sz="1400" dirty="0"/>
          </a:p>
        </p:txBody>
      </p:sp>
      <p:sp>
        <p:nvSpPr>
          <p:cNvPr id="54" name="Text 52"/>
          <p:cNvSpPr txBox="1"/>
          <p:nvPr/>
        </p:nvSpPr>
        <p:spPr>
          <a:xfrm>
            <a:off x="8001000" y="2523744"/>
            <a:ext cx="3566160" cy="347472"/>
          </a:xfrm>
          <a:prstGeom prst="rect">
            <a:avLst/>
          </a:prstGeom>
          <a:noFill/>
          <a:ln/>
        </p:spPr>
        <p:txBody>
          <a:bodyPr wrap="square" lIns="0" tIns="0" rIns="0" bIns="0" rtlCol="0" anchor="ctr"/>
          <a:lstStyle/>
          <a:p>
            <a:pPr indent="0" marL="0">
              <a:buNone/>
            </a:pPr>
            <a:r>
              <a:rPr lang="en-US" sz="1600" b="1" dirty="0">
                <a:solidFill>
                  <a:srgbClr val="1B1A18"/>
                </a:solidFill>
                <a:latin typeface="Calibri" pitchFamily="34" charset="0"/>
                <a:ea typeface="Calibri" pitchFamily="34" charset="-122"/>
                <a:cs typeface="Calibri" pitchFamily="34" charset="-120"/>
              </a:rPr>
              <a:t>900 assets, 19 MB/s</a:t>
            </a:r>
            <a:endParaRPr lang="en-US" sz="1600" dirty="0"/>
          </a:p>
        </p:txBody>
      </p:sp>
      <p:sp>
        <p:nvSpPr>
          <p:cNvPr id="55" name="Text 53"/>
          <p:cNvSpPr txBox="1"/>
          <p:nvPr/>
        </p:nvSpPr>
        <p:spPr>
          <a:xfrm>
            <a:off x="8001000" y="2926080"/>
            <a:ext cx="3566160" cy="914400"/>
          </a:xfrm>
          <a:prstGeom prst="rect">
            <a:avLst/>
          </a:prstGeom>
          <a:noFill/>
          <a:ln/>
        </p:spPr>
        <p:txBody>
          <a:bodyPr wrap="square" lIns="0" tIns="0" rIns="0" bIns="0" rtlCol="0" anchor="t"/>
          <a:lstStyle/>
          <a:p>
            <a:pPr indent="0" marL="0">
              <a:lnSpc>
                <a:spcPts val="1800"/>
              </a:lnSpc>
              <a:buNone/>
            </a:pPr>
            <a:r>
              <a:rPr lang="en-US" sz="1400" dirty="0">
                <a:solidFill>
                  <a:srgbClr val="6D6A64"/>
                </a:solidFill>
                <a:latin typeface="Calibri" pitchFamily="34" charset="0"/>
                <a:ea typeface="Calibri" pitchFamily="34" charset="-122"/>
                <a:cs typeface="Calibri" pitchFamily="34" charset="-120"/>
              </a:rPr>
              <a:t>plus 71 of 72 on the edge-case pack — the refusal is correct</a:t>
            </a:r>
            <a:endParaRPr lang="en-US" sz="1400" dirty="0"/>
          </a:p>
        </p:txBody>
      </p:sp>
      <p:sp>
        <p:nvSpPr>
          <p:cNvPr id="56" name="Shape 54"/>
          <p:cNvSpPr/>
          <p:nvPr/>
        </p:nvSpPr>
        <p:spPr>
          <a:xfrm>
            <a:off x="548640" y="4334256"/>
            <a:ext cx="5486400" cy="1152144"/>
          </a:xfrm>
          <a:prstGeom prst="roundRect">
            <a:avLst>
              <a:gd name="adj" fmla="val 7143"/>
            </a:avLst>
          </a:prstGeom>
          <a:solidFill>
            <a:srgbClr val="E4EEE9"/>
          </a:solidFill>
          <a:ln w="12700">
            <a:solidFill>
              <a:srgbClr val="E4EEE9"/>
            </a:solidFill>
            <a:prstDash val="solid"/>
          </a:ln>
        </p:spPr>
      </p:sp>
      <p:sp>
        <p:nvSpPr>
          <p:cNvPr id="57" name="Text 55"/>
          <p:cNvSpPr txBox="1"/>
          <p:nvPr/>
        </p:nvSpPr>
        <p:spPr>
          <a:xfrm>
            <a:off x="822960" y="4480560"/>
            <a:ext cx="5029200" cy="329184"/>
          </a:xfrm>
          <a:prstGeom prst="rect">
            <a:avLst/>
          </a:prstGeom>
          <a:noFill/>
          <a:ln/>
        </p:spPr>
        <p:txBody>
          <a:bodyPr wrap="square" lIns="0" tIns="0" rIns="0" bIns="0" rtlCol="0" anchor="ctr"/>
          <a:lstStyle/>
          <a:p>
            <a:pPr indent="0" marL="0">
              <a:buNone/>
            </a:pPr>
            <a:r>
              <a:rPr lang="en-US" sz="1600" b="1" dirty="0">
                <a:solidFill>
                  <a:srgbClr val="2F5D50"/>
                </a:solidFill>
                <a:latin typeface="Cambria" pitchFamily="34" charset="0"/>
                <a:ea typeface="Cambria" pitchFamily="34" charset="-122"/>
                <a:cs typeface="Cambria" pitchFamily="34" charset="-120"/>
              </a:rPr>
              <a:t>Pixel 9 emulator · Android 17</a:t>
            </a:r>
            <a:endParaRPr lang="en-US" sz="1600" dirty="0"/>
          </a:p>
        </p:txBody>
      </p:sp>
      <p:sp>
        <p:nvSpPr>
          <p:cNvPr id="58" name="Text 56"/>
          <p:cNvSpPr txBox="1"/>
          <p:nvPr/>
        </p:nvSpPr>
        <p:spPr>
          <a:xfrm>
            <a:off x="822960" y="4846320"/>
            <a:ext cx="4983480" cy="548640"/>
          </a:xfrm>
          <a:prstGeom prst="rect">
            <a:avLst/>
          </a:prstGeom>
          <a:noFill/>
          <a:ln/>
        </p:spPr>
        <p:txBody>
          <a:bodyPr wrap="square" lIns="0" tIns="0" rIns="0" bIns="0" rtlCol="0" anchor="t"/>
          <a:lstStyle/>
          <a:p>
            <a:pPr indent="0" marL="0">
              <a:lnSpc>
                <a:spcPts val="1800"/>
              </a:lnSpc>
              <a:buNone/>
            </a:pPr>
            <a:r>
              <a:rPr lang="en-US" sz="1400" dirty="0">
                <a:solidFill>
                  <a:srgbClr val="6D6A64"/>
                </a:solidFill>
                <a:latin typeface="Calibri" pitchFamily="34" charset="0"/>
                <a:ea typeface="Calibri" pitchFamily="34" charset="-122"/>
                <a:cs typeface="Calibri" pitchFamily="34" charset="-120"/>
              </a:rPr>
              <a:t>all assets indexed — DATE_TAKEN matched the manifest to under a second</a:t>
            </a:r>
            <a:endParaRPr lang="en-US" sz="1400" dirty="0"/>
          </a:p>
        </p:txBody>
      </p:sp>
      <p:sp>
        <p:nvSpPr>
          <p:cNvPr id="59" name="Shape 57"/>
          <p:cNvSpPr/>
          <p:nvPr/>
        </p:nvSpPr>
        <p:spPr>
          <a:xfrm>
            <a:off x="6309360" y="4334256"/>
            <a:ext cx="5486400" cy="1152144"/>
          </a:xfrm>
          <a:prstGeom prst="roundRect">
            <a:avLst>
              <a:gd name="adj" fmla="val 7143"/>
            </a:avLst>
          </a:prstGeom>
          <a:solidFill>
            <a:srgbClr val="E4EEE9"/>
          </a:solidFill>
          <a:ln w="12700">
            <a:solidFill>
              <a:srgbClr val="E4EEE9"/>
            </a:solidFill>
            <a:prstDash val="solid"/>
          </a:ln>
        </p:spPr>
      </p:sp>
      <p:sp>
        <p:nvSpPr>
          <p:cNvPr id="60" name="Text 58"/>
          <p:cNvSpPr txBox="1"/>
          <p:nvPr/>
        </p:nvSpPr>
        <p:spPr>
          <a:xfrm>
            <a:off x="6583680" y="4480560"/>
            <a:ext cx="5029200" cy="329184"/>
          </a:xfrm>
          <a:prstGeom prst="rect">
            <a:avLst/>
          </a:prstGeom>
          <a:noFill/>
          <a:ln/>
        </p:spPr>
        <p:txBody>
          <a:bodyPr wrap="square" lIns="0" tIns="0" rIns="0" bIns="0" rtlCol="0" anchor="ctr"/>
          <a:lstStyle/>
          <a:p>
            <a:pPr indent="0" marL="0">
              <a:buNone/>
            </a:pPr>
            <a:r>
              <a:rPr lang="en-US" sz="1600" b="1" dirty="0">
                <a:solidFill>
                  <a:srgbClr val="2F5D50"/>
                </a:solidFill>
                <a:latin typeface="Cambria" pitchFamily="34" charset="0"/>
                <a:ea typeface="Cambria" pitchFamily="34" charset="-122"/>
                <a:cs typeface="Cambria" pitchFamily="34" charset="-120"/>
              </a:rPr>
              <a:t>iPhone 17 Pro simulator · iOS 26.5</a:t>
            </a:r>
            <a:endParaRPr lang="en-US" sz="1600" dirty="0"/>
          </a:p>
        </p:txBody>
      </p:sp>
      <p:sp>
        <p:nvSpPr>
          <p:cNvPr id="61" name="Text 59"/>
          <p:cNvSpPr txBox="1"/>
          <p:nvPr/>
        </p:nvSpPr>
        <p:spPr>
          <a:xfrm>
            <a:off x="6583680" y="4846320"/>
            <a:ext cx="4983480" cy="548640"/>
          </a:xfrm>
          <a:prstGeom prst="rect">
            <a:avLst/>
          </a:prstGeom>
          <a:noFill/>
          <a:ln/>
        </p:spPr>
        <p:txBody>
          <a:bodyPr wrap="square" lIns="0" tIns="0" rIns="0" bIns="0" rtlCol="0" anchor="t"/>
          <a:lstStyle/>
          <a:p>
            <a:pPr indent="0" marL="0">
              <a:lnSpc>
                <a:spcPts val="1800"/>
              </a:lnSpc>
              <a:buNone/>
            </a:pPr>
            <a:r>
              <a:rPr lang="en-US" sz="1400" dirty="0">
                <a:solidFill>
                  <a:srgbClr val="6D6A64"/>
                </a:solidFill>
                <a:latin typeface="Calibri" pitchFamily="34" charset="0"/>
                <a:ea typeface="Calibri" pitchFamily="34" charset="-122"/>
                <a:cs typeface="Calibri" pitchFamily="34" charset="-120"/>
              </a:rPr>
              <a:t>HEIC + HEVC — creationDate exact, 0.000 s delta</a:t>
            </a:r>
            <a:endParaRPr lang="en-US" sz="1400" dirty="0"/>
          </a:p>
        </p:txBody>
      </p:sp>
      <p:sp>
        <p:nvSpPr>
          <p:cNvPr id="62" name="Text 60"/>
          <p:cNvSpPr txBox="1"/>
          <p:nvPr/>
        </p:nvSpPr>
        <p:spPr>
          <a:xfrm>
            <a:off x="548640" y="5687568"/>
            <a:ext cx="11064240" cy="384048"/>
          </a:xfrm>
          <a:prstGeom prst="rect">
            <a:avLst/>
          </a:prstGeom>
          <a:noFill/>
          <a:ln/>
        </p:spPr>
        <p:txBody>
          <a:bodyPr wrap="square" lIns="0" tIns="0" rIns="0" bIns="0" rtlCol="0" anchor="ctr"/>
          <a:lstStyle/>
          <a:p>
            <a:pPr indent="0" marL="0">
              <a:buNone/>
            </a:pPr>
            <a:r>
              <a:rPr lang="en-US" sz="1500" i="1" dirty="0">
                <a:solidFill>
                  <a:srgbClr val="9C4A32"/>
                </a:solidFill>
                <a:latin typeface="Cambria" pitchFamily="34" charset="0"/>
                <a:ea typeface="Cambria" pitchFamily="34" charset="-122"/>
                <a:cs typeface="Cambria" pitchFamily="34" charset="-120"/>
              </a:rPr>
              <a:t>Every physical run has found something no simulator could — two iOS loader bugs, and three separate failures in the Android wipe path.</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274320"/>
            <a:ext cx="11064240" cy="274320"/>
          </a:xfrm>
          <a:prstGeom prst="rect">
            <a:avLst/>
          </a:prstGeom>
          <a:noFill/>
          <a:ln/>
        </p:spPr>
        <p:txBody>
          <a:bodyPr wrap="square" lIns="0" tIns="0" rIns="0" bIns="0" rtlCol="0" anchor="ctr"/>
          <a:lstStyle/>
          <a:p>
            <a:pPr indent="0" marL="0">
              <a:buNone/>
            </a:pPr>
            <a:r>
              <a:rPr lang="en-US" sz="1400" b="1" spc="200" kern="0" dirty="0">
                <a:solidFill>
                  <a:srgbClr val="2F5D50"/>
                </a:solidFill>
                <a:latin typeface="Calibri" pitchFamily="34" charset="0"/>
                <a:ea typeface="Calibri" pitchFamily="34" charset="-122"/>
                <a:cs typeface="Calibri" pitchFamily="34" charset="-120"/>
              </a:rPr>
              <a:t>NEXT STEPS</a:t>
            </a:r>
            <a:endParaRPr lang="en-US" sz="1400" dirty="0"/>
          </a:p>
        </p:txBody>
      </p:sp>
      <p:sp>
        <p:nvSpPr>
          <p:cNvPr id="3" name="Text 1"/>
          <p:cNvSpPr txBox="1"/>
          <p:nvPr/>
        </p:nvSpPr>
        <p:spPr>
          <a:xfrm>
            <a:off x="548640" y="585216"/>
            <a:ext cx="11064240" cy="713232"/>
          </a:xfrm>
          <a:prstGeom prst="rect">
            <a:avLst/>
          </a:prstGeom>
          <a:noFill/>
          <a:ln/>
        </p:spPr>
        <p:txBody>
          <a:bodyPr wrap="square" lIns="0" tIns="0" rIns="0" bIns="0" rtlCol="0" anchor="ctr"/>
          <a:lstStyle/>
          <a:p>
            <a:pPr indent="0" marL="0">
              <a:buNone/>
            </a:pPr>
            <a:r>
              <a:rPr lang="en-US" sz="3200" b="1" dirty="0">
                <a:solidFill>
                  <a:srgbClr val="1B1A18"/>
                </a:solidFill>
                <a:latin typeface="Cambria" pitchFamily="34" charset="0"/>
                <a:ea typeface="Cambria" pitchFamily="34" charset="-122"/>
                <a:cs typeface="Cambria" pitchFamily="34" charset="-120"/>
              </a:rPr>
              <a:t>What it needs before production</a:t>
            </a:r>
            <a:endParaRPr lang="en-US" sz="3200" dirty="0"/>
          </a:p>
        </p:txBody>
      </p:sp>
      <p:sp>
        <p:nvSpPr>
          <p:cNvPr id="4" name="Shape 2"/>
          <p:cNvSpPr/>
          <p:nvPr/>
        </p:nvSpPr>
        <p:spPr>
          <a:xfrm>
            <a:off x="548640" y="1444752"/>
            <a:ext cx="5349240" cy="1901952"/>
          </a:xfrm>
          <a:prstGeom prst="roundRect">
            <a:avLst>
              <a:gd name="adj" fmla="val 4327"/>
            </a:avLst>
          </a:prstGeom>
          <a:solidFill>
            <a:srgbClr val="F3E6E2"/>
          </a:solidFill>
          <a:ln w="12700">
            <a:solidFill>
              <a:srgbClr val="F3E6E2"/>
            </a:solidFill>
            <a:prstDash val="solid"/>
          </a:ln>
        </p:spPr>
      </p:sp>
      <p:sp>
        <p:nvSpPr>
          <p:cNvPr id="5" name="Text 3"/>
          <p:cNvSpPr txBox="1"/>
          <p:nvPr/>
        </p:nvSpPr>
        <p:spPr>
          <a:xfrm>
            <a:off x="822960" y="1591056"/>
            <a:ext cx="4754880" cy="347472"/>
          </a:xfrm>
          <a:prstGeom prst="rect">
            <a:avLst/>
          </a:prstGeom>
          <a:noFill/>
          <a:ln/>
        </p:spPr>
        <p:txBody>
          <a:bodyPr wrap="square" lIns="0" tIns="0" rIns="0" bIns="0" rtlCol="0" anchor="ctr"/>
          <a:lstStyle/>
          <a:p>
            <a:pPr indent="0" marL="0">
              <a:buNone/>
            </a:pPr>
            <a:r>
              <a:rPr lang="en-US" sz="1700" b="1" dirty="0">
                <a:solidFill>
                  <a:srgbClr val="9C4A32"/>
                </a:solidFill>
                <a:latin typeface="Cambria" pitchFamily="34" charset="0"/>
                <a:ea typeface="Cambria" pitchFamily="34" charset="-122"/>
                <a:cs typeface="Cambria" pitchFamily="34" charset="-120"/>
              </a:rPr>
              <a:t>Security</a:t>
            </a:r>
            <a:endParaRPr lang="en-US" sz="1700" dirty="0"/>
          </a:p>
        </p:txBody>
      </p:sp>
      <p:sp>
        <p:nvSpPr>
          <p:cNvPr id="6" name="Text 4"/>
          <p:cNvSpPr txBox="1"/>
          <p:nvPr/>
        </p:nvSpPr>
        <p:spPr>
          <a:xfrm>
            <a:off x="822960" y="1993392"/>
            <a:ext cx="4846320" cy="1234440"/>
          </a:xfrm>
          <a:prstGeom prst="rect">
            <a:avLst/>
          </a:prstGeom>
          <a:noFill/>
          <a:ln/>
        </p:spPr>
        <p:txBody>
          <a:bodyPr wrap="square" lIns="0" tIns="0" rIns="0" bIns="0" rtlCol="0" anchor="t"/>
          <a:lstStyle/>
          <a:p>
            <a:pPr marL="342900" indent="-342900">
              <a:lnSpc>
                <a:spcPts val="1800"/>
              </a:lnSpc>
              <a:spcAft>
                <a:spcPts val="600"/>
              </a:spcAft>
              <a:buSzPct val="100000"/>
              <a:buChar char="•"/>
            </a:pPr>
            <a:r>
              <a:rPr lang="en-US" sz="1400" dirty="0">
                <a:solidFill>
                  <a:srgbClr val="1B1A18"/>
                </a:solidFill>
                <a:latin typeface="Calibri" pitchFamily="34" charset="0"/>
                <a:ea typeface="Calibri" pitchFamily="34" charset="-122"/>
                <a:cs typeface="Calibri" pitchFamily="34" charset="-120"/>
              </a:rPr>
              <a:t>The pairing code is a speed bump, not authentication</a:t>
            </a:r>
            <a:endParaRPr lang="en-US" sz="1400" dirty="0"/>
          </a:p>
          <a:p>
            <a:pPr marL="342900" indent="-342900">
              <a:lnSpc>
                <a:spcPts val="1800"/>
              </a:lnSpc>
              <a:spcAft>
                <a:spcPts val="600"/>
              </a:spcAft>
              <a:buSzPct val="100000"/>
              <a:buChar char="•"/>
            </a:pPr>
            <a:r>
              <a:rPr lang="en-US" sz="1400" dirty="0">
                <a:solidFill>
                  <a:srgbClr val="1B1A18"/>
                </a:solidFill>
                <a:latin typeface="Calibri" pitchFamily="34" charset="0"/>
                <a:ea typeface="Calibri" pitchFamily="34" charset="-122"/>
                <a:cs typeface="Calibri" pitchFamily="34" charset="-120"/>
              </a:rPr>
              <a:t>No TLS — plain HTTP on an assumed-trusted LAN</a:t>
            </a:r>
            <a:endParaRPr lang="en-US" sz="1400" dirty="0"/>
          </a:p>
          <a:p>
            <a:pPr marL="342900" indent="-342900">
              <a:lnSpc>
                <a:spcPts val="1800"/>
              </a:lnSpc>
              <a:spcAft>
                <a:spcPts val="600"/>
              </a:spcAft>
              <a:buSzPct val="100000"/>
              <a:buChar char="•"/>
            </a:pPr>
            <a:r>
              <a:rPr lang="en-US" sz="1400" dirty="0">
                <a:solidFill>
                  <a:srgbClr val="1B1A18"/>
                </a:solidFill>
                <a:latin typeface="Calibri" pitchFamily="34" charset="0"/>
                <a:ea typeface="Calibri" pitchFamily="34" charset="-122"/>
                <a:cs typeface="Calibri" pitchFamily="34" charset="-120"/>
              </a:rPr>
              <a:t>Anyone on the network can create a job</a:t>
            </a:r>
            <a:endParaRPr lang="en-US" sz="1400" dirty="0"/>
          </a:p>
        </p:txBody>
      </p:sp>
      <p:sp>
        <p:nvSpPr>
          <p:cNvPr id="7" name="Shape 5"/>
          <p:cNvSpPr/>
          <p:nvPr/>
        </p:nvSpPr>
        <p:spPr>
          <a:xfrm>
            <a:off x="6263640" y="1444752"/>
            <a:ext cx="5349240" cy="1901952"/>
          </a:xfrm>
          <a:prstGeom prst="roundRect">
            <a:avLst>
              <a:gd name="adj" fmla="val 4327"/>
            </a:avLst>
          </a:prstGeom>
          <a:solidFill>
            <a:srgbClr val="E4EEE9"/>
          </a:solidFill>
          <a:ln w="12700">
            <a:solidFill>
              <a:srgbClr val="E4EEE9"/>
            </a:solidFill>
            <a:prstDash val="solid"/>
          </a:ln>
        </p:spPr>
      </p:sp>
      <p:sp>
        <p:nvSpPr>
          <p:cNvPr id="8" name="Text 6"/>
          <p:cNvSpPr txBox="1"/>
          <p:nvPr/>
        </p:nvSpPr>
        <p:spPr>
          <a:xfrm>
            <a:off x="6537960" y="1591056"/>
            <a:ext cx="4754880" cy="347472"/>
          </a:xfrm>
          <a:prstGeom prst="rect">
            <a:avLst/>
          </a:prstGeom>
          <a:noFill/>
          <a:ln/>
        </p:spPr>
        <p:txBody>
          <a:bodyPr wrap="square" lIns="0" tIns="0" rIns="0" bIns="0" rtlCol="0" anchor="ctr"/>
          <a:lstStyle/>
          <a:p>
            <a:pPr indent="0" marL="0">
              <a:buNone/>
            </a:pPr>
            <a:r>
              <a:rPr lang="en-US" sz="1700" b="1" dirty="0">
                <a:solidFill>
                  <a:srgbClr val="2F5D50"/>
                </a:solidFill>
                <a:latin typeface="Cambria" pitchFamily="34" charset="0"/>
                <a:ea typeface="Cambria" pitchFamily="34" charset="-122"/>
                <a:cs typeface="Cambria" pitchFamily="34" charset="-120"/>
              </a:rPr>
              <a:t>Operations</a:t>
            </a:r>
            <a:endParaRPr lang="en-US" sz="1700" dirty="0"/>
          </a:p>
        </p:txBody>
      </p:sp>
      <p:sp>
        <p:nvSpPr>
          <p:cNvPr id="9" name="Text 7"/>
          <p:cNvSpPr txBox="1"/>
          <p:nvPr/>
        </p:nvSpPr>
        <p:spPr>
          <a:xfrm>
            <a:off x="6537960" y="1993392"/>
            <a:ext cx="4846320" cy="1234440"/>
          </a:xfrm>
          <a:prstGeom prst="rect">
            <a:avLst/>
          </a:prstGeom>
          <a:noFill/>
          <a:ln/>
        </p:spPr>
        <p:txBody>
          <a:bodyPr wrap="square" lIns="0" tIns="0" rIns="0" bIns="0" rtlCol="0" anchor="t"/>
          <a:lstStyle/>
          <a:p>
            <a:pPr marL="342900" indent="-342900">
              <a:lnSpc>
                <a:spcPts val="1800"/>
              </a:lnSpc>
              <a:spcAft>
                <a:spcPts val="600"/>
              </a:spcAft>
              <a:buSzPct val="100000"/>
              <a:buChar char="•"/>
            </a:pPr>
            <a:r>
              <a:rPr lang="en-US" sz="1400" dirty="0">
                <a:solidFill>
                  <a:srgbClr val="1B1A18"/>
                </a:solidFill>
                <a:latin typeface="Calibri" pitchFamily="34" charset="0"/>
                <a:ea typeface="Calibri" pitchFamily="34" charset="-122"/>
                <a:cs typeface="Calibri" pitchFamily="34" charset="-120"/>
              </a:rPr>
              <a:t>No job queue — two large builds compete for cores</a:t>
            </a:r>
            <a:endParaRPr lang="en-US" sz="1400" dirty="0"/>
          </a:p>
          <a:p>
            <a:pPr marL="342900" indent="-342900">
              <a:lnSpc>
                <a:spcPts val="1800"/>
              </a:lnSpc>
              <a:spcAft>
                <a:spcPts val="600"/>
              </a:spcAft>
              <a:buSzPct val="100000"/>
              <a:buChar char="•"/>
            </a:pPr>
            <a:r>
              <a:rPr lang="en-US" sz="1400" dirty="0">
                <a:solidFill>
                  <a:srgbClr val="1B1A18"/>
                </a:solidFill>
                <a:latin typeface="Calibri" pitchFamily="34" charset="0"/>
                <a:ea typeface="Calibri" pitchFamily="34" charset="-122"/>
                <a:cs typeface="Calibri" pitchFamily="34" charset="-120"/>
              </a:rPr>
              <a:t>Reclaiming disk is a deliberate act — no expiry, no disk watermark</a:t>
            </a:r>
            <a:endParaRPr lang="en-US" sz="1400" dirty="0"/>
          </a:p>
          <a:p>
            <a:pPr marL="342900" indent="-342900">
              <a:lnSpc>
                <a:spcPts val="1800"/>
              </a:lnSpc>
              <a:spcAft>
                <a:spcPts val="600"/>
              </a:spcAft>
              <a:buSzPct val="100000"/>
              <a:buChar char="•"/>
            </a:pPr>
            <a:r>
              <a:rPr lang="en-US" sz="1400" dirty="0">
                <a:solidFill>
                  <a:srgbClr val="1B1A18"/>
                </a:solidFill>
                <a:latin typeface="Calibri" pitchFamily="34" charset="0"/>
                <a:ea typeface="Calibri" pitchFamily="34" charset="-122"/>
                <a:cs typeface="Calibri" pitchFamily="34" charset="-120"/>
              </a:rPr>
              <a:t>No Docker image yet, so no one-command lab box</a:t>
            </a:r>
            <a:endParaRPr lang="en-US" sz="1400" dirty="0"/>
          </a:p>
        </p:txBody>
      </p:sp>
      <p:sp>
        <p:nvSpPr>
          <p:cNvPr id="10" name="Shape 8"/>
          <p:cNvSpPr/>
          <p:nvPr/>
        </p:nvSpPr>
        <p:spPr>
          <a:xfrm>
            <a:off x="548640" y="3529584"/>
            <a:ext cx="5349240" cy="1901952"/>
          </a:xfrm>
          <a:prstGeom prst="roundRect">
            <a:avLst>
              <a:gd name="adj" fmla="val 4327"/>
            </a:avLst>
          </a:prstGeom>
          <a:solidFill>
            <a:srgbClr val="E4EEE9"/>
          </a:solidFill>
          <a:ln w="12700">
            <a:solidFill>
              <a:srgbClr val="E4EEE9"/>
            </a:solidFill>
            <a:prstDash val="solid"/>
          </a:ln>
        </p:spPr>
      </p:sp>
      <p:sp>
        <p:nvSpPr>
          <p:cNvPr id="11" name="Text 9"/>
          <p:cNvSpPr txBox="1"/>
          <p:nvPr/>
        </p:nvSpPr>
        <p:spPr>
          <a:xfrm>
            <a:off x="822960" y="3675888"/>
            <a:ext cx="4754880" cy="347472"/>
          </a:xfrm>
          <a:prstGeom prst="rect">
            <a:avLst/>
          </a:prstGeom>
          <a:noFill/>
          <a:ln/>
        </p:spPr>
        <p:txBody>
          <a:bodyPr wrap="square" lIns="0" tIns="0" rIns="0" bIns="0" rtlCol="0" anchor="ctr"/>
          <a:lstStyle/>
          <a:p>
            <a:pPr indent="0" marL="0">
              <a:buNone/>
            </a:pPr>
            <a:r>
              <a:rPr lang="en-US" sz="1700" b="1" dirty="0">
                <a:solidFill>
                  <a:srgbClr val="2F5D50"/>
                </a:solidFill>
                <a:latin typeface="Cambria" pitchFamily="34" charset="0"/>
                <a:ea typeface="Cambria" pitchFamily="34" charset="-122"/>
                <a:cs typeface="Cambria" pitchFamily="34" charset="-120"/>
              </a:rPr>
              <a:t>Coverage</a:t>
            </a:r>
            <a:endParaRPr lang="en-US" sz="1700" dirty="0"/>
          </a:p>
        </p:txBody>
      </p:sp>
      <p:sp>
        <p:nvSpPr>
          <p:cNvPr id="12" name="Text 10"/>
          <p:cNvSpPr txBox="1"/>
          <p:nvPr/>
        </p:nvSpPr>
        <p:spPr>
          <a:xfrm>
            <a:off x="822960" y="4078224"/>
            <a:ext cx="4846320" cy="1234440"/>
          </a:xfrm>
          <a:prstGeom prst="rect">
            <a:avLst/>
          </a:prstGeom>
          <a:noFill/>
          <a:ln/>
        </p:spPr>
        <p:txBody>
          <a:bodyPr wrap="square" lIns="0" tIns="0" rIns="0" bIns="0" rtlCol="0" anchor="t"/>
          <a:lstStyle/>
          <a:p>
            <a:pPr marL="342900" indent="-342900">
              <a:lnSpc>
                <a:spcPts val="1800"/>
              </a:lnSpc>
              <a:spcAft>
                <a:spcPts val="600"/>
              </a:spcAft>
              <a:buSzPct val="100000"/>
              <a:buChar char="•"/>
            </a:pPr>
            <a:r>
              <a:rPr lang="en-US" sz="1400" dirty="0">
                <a:solidFill>
                  <a:srgbClr val="1B1A18"/>
                </a:solidFill>
                <a:latin typeface="Calibri" pitchFamily="34" charset="0"/>
                <a:ea typeface="Calibri" pitchFamily="34" charset="-122"/>
                <a:cs typeface="Calibri" pitchFamily="34" charset="-120"/>
              </a:rPr>
              <a:t>Galaxy A-series and both OS floors untested</a:t>
            </a:r>
            <a:endParaRPr lang="en-US" sz="1400" dirty="0"/>
          </a:p>
          <a:p>
            <a:pPr marL="342900" indent="-342900">
              <a:lnSpc>
                <a:spcPts val="1800"/>
              </a:lnSpc>
              <a:spcAft>
                <a:spcPts val="600"/>
              </a:spcAft>
              <a:buSzPct val="100000"/>
              <a:buChar char="•"/>
            </a:pPr>
            <a:r>
              <a:rPr lang="en-US" sz="1400" dirty="0">
                <a:solidFill>
                  <a:srgbClr val="1B1A18"/>
                </a:solidFill>
                <a:latin typeface="Calibri" pitchFamily="34" charset="0"/>
                <a:ea typeface="Calibri" pitchFamily="34" charset="-122"/>
                <a:cs typeface="Calibri" pitchFamily="34" charset="-120"/>
              </a:rPr>
              <a:t>Multi-hour fills untested — batteries learn over days</a:t>
            </a:r>
            <a:endParaRPr lang="en-US" sz="1400" dirty="0"/>
          </a:p>
          <a:p>
            <a:pPr marL="342900" indent="-342900">
              <a:lnSpc>
                <a:spcPts val="1800"/>
              </a:lnSpc>
              <a:spcAft>
                <a:spcPts val="600"/>
              </a:spcAft>
              <a:buSzPct val="100000"/>
              <a:buChar char="•"/>
            </a:pPr>
            <a:r>
              <a:rPr lang="en-US" sz="1400" dirty="0">
                <a:solidFill>
                  <a:srgbClr val="1B1A18"/>
                </a:solidFill>
                <a:latin typeface="Calibri" pitchFamily="34" charset="0"/>
                <a:ea typeface="Calibri" pitchFamily="34" charset="-122"/>
                <a:cs typeface="Calibri" pitchFamily="34" charset="-120"/>
              </a:rPr>
              <a:t>TestFlight and signed APK distribution not set up</a:t>
            </a:r>
            <a:endParaRPr lang="en-US" sz="1400" dirty="0"/>
          </a:p>
        </p:txBody>
      </p:sp>
      <p:sp>
        <p:nvSpPr>
          <p:cNvPr id="13" name="Shape 11"/>
          <p:cNvSpPr/>
          <p:nvPr/>
        </p:nvSpPr>
        <p:spPr>
          <a:xfrm>
            <a:off x="6263640" y="3529584"/>
            <a:ext cx="5349240" cy="1901952"/>
          </a:xfrm>
          <a:prstGeom prst="roundRect">
            <a:avLst>
              <a:gd name="adj" fmla="val 4327"/>
            </a:avLst>
          </a:prstGeom>
          <a:solidFill>
            <a:srgbClr val="E4EEE9"/>
          </a:solidFill>
          <a:ln w="12700">
            <a:solidFill>
              <a:srgbClr val="E4EEE9"/>
            </a:solidFill>
            <a:prstDash val="solid"/>
          </a:ln>
        </p:spPr>
      </p:sp>
      <p:sp>
        <p:nvSpPr>
          <p:cNvPr id="14" name="Text 12"/>
          <p:cNvSpPr txBox="1"/>
          <p:nvPr/>
        </p:nvSpPr>
        <p:spPr>
          <a:xfrm>
            <a:off x="6537960" y="3675888"/>
            <a:ext cx="4754880" cy="347472"/>
          </a:xfrm>
          <a:prstGeom prst="rect">
            <a:avLst/>
          </a:prstGeom>
          <a:noFill/>
          <a:ln/>
        </p:spPr>
        <p:txBody>
          <a:bodyPr wrap="square" lIns="0" tIns="0" rIns="0" bIns="0" rtlCol="0" anchor="ctr"/>
          <a:lstStyle/>
          <a:p>
            <a:pPr indent="0" marL="0">
              <a:buNone/>
            </a:pPr>
            <a:r>
              <a:rPr lang="en-US" sz="1700" b="1" dirty="0">
                <a:solidFill>
                  <a:srgbClr val="2F5D50"/>
                </a:solidFill>
                <a:latin typeface="Cambria" pitchFamily="34" charset="0"/>
                <a:ea typeface="Cambria" pitchFamily="34" charset="-122"/>
                <a:cs typeface="Cambria" pitchFamily="34" charset="-120"/>
              </a:rPr>
              <a:t>Robustness</a:t>
            </a:r>
            <a:endParaRPr lang="en-US" sz="1700" dirty="0"/>
          </a:p>
        </p:txBody>
      </p:sp>
      <p:sp>
        <p:nvSpPr>
          <p:cNvPr id="15" name="Text 13"/>
          <p:cNvSpPr txBox="1"/>
          <p:nvPr/>
        </p:nvSpPr>
        <p:spPr>
          <a:xfrm>
            <a:off x="6537960" y="4078224"/>
            <a:ext cx="4846320" cy="1234440"/>
          </a:xfrm>
          <a:prstGeom prst="rect">
            <a:avLst/>
          </a:prstGeom>
          <a:noFill/>
          <a:ln/>
        </p:spPr>
        <p:txBody>
          <a:bodyPr wrap="square" lIns="0" tIns="0" rIns="0" bIns="0" rtlCol="0" anchor="t"/>
          <a:lstStyle/>
          <a:p>
            <a:pPr marL="342900" indent="-342900">
              <a:lnSpc>
                <a:spcPts val="1800"/>
              </a:lnSpc>
              <a:spcAft>
                <a:spcPts val="600"/>
              </a:spcAft>
              <a:buSzPct val="100000"/>
              <a:buChar char="•"/>
            </a:pPr>
            <a:r>
              <a:rPr lang="en-US" sz="1400" dirty="0">
                <a:solidFill>
                  <a:srgbClr val="1B1A18"/>
                </a:solidFill>
                <a:latin typeface="Calibri" pitchFamily="34" charset="0"/>
                <a:ea typeface="Calibri" pitchFamily="34" charset="-122"/>
                <a:cs typeface="Calibri" pitchFamily="34" charset="-120"/>
              </a:rPr>
              <a:t>Resume is per-file, not per-byte, on both loaders</a:t>
            </a:r>
            <a:endParaRPr lang="en-US" sz="1400" dirty="0"/>
          </a:p>
          <a:p>
            <a:pPr marL="342900" indent="-342900">
              <a:lnSpc>
                <a:spcPts val="1800"/>
              </a:lnSpc>
              <a:spcAft>
                <a:spcPts val="600"/>
              </a:spcAft>
              <a:buSzPct val="100000"/>
              <a:buChar char="•"/>
            </a:pPr>
            <a:r>
              <a:rPr lang="en-US" sz="1400" dirty="0">
                <a:solidFill>
                  <a:srgbClr val="1B1A18"/>
                </a:solidFill>
                <a:latin typeface="Calibri" pitchFamily="34" charset="0"/>
                <a:ea typeface="Calibri" pitchFamily="34" charset="-122"/>
                <a:cs typeface="Calibri" pitchFamily="34" charset="-120"/>
              </a:rPr>
              <a:t>Physical iPhones cannot be verified by tdg verify</a:t>
            </a:r>
            <a:endParaRPr lang="en-US" sz="1400" dirty="0"/>
          </a:p>
          <a:p>
            <a:pPr marL="342900" indent="-342900">
              <a:lnSpc>
                <a:spcPts val="1800"/>
              </a:lnSpc>
              <a:spcAft>
                <a:spcPts val="600"/>
              </a:spcAft>
              <a:buSzPct val="100000"/>
              <a:buChar char="•"/>
            </a:pPr>
            <a:r>
              <a:rPr lang="en-US" sz="1400" dirty="0">
                <a:solidFill>
                  <a:srgbClr val="1B1A18"/>
                </a:solidFill>
                <a:latin typeface="Calibri" pitchFamily="34" charset="0"/>
                <a:ea typeface="Calibri" pitchFamily="34" charset="-122"/>
                <a:cs typeface="Calibri" pitchFamily="34" charset="-120"/>
              </a:rPr>
              <a:t>Live Photos and the 4 GB single file not built</a:t>
            </a:r>
            <a:endParaRPr lang="en-US" sz="1400" dirty="0"/>
          </a:p>
        </p:txBody>
      </p:sp>
      <p:sp>
        <p:nvSpPr>
          <p:cNvPr id="16" name="Text 14"/>
          <p:cNvSpPr txBox="1"/>
          <p:nvPr/>
        </p:nvSpPr>
        <p:spPr>
          <a:xfrm>
            <a:off x="548640" y="5669280"/>
            <a:ext cx="11064240" cy="384048"/>
          </a:xfrm>
          <a:prstGeom prst="rect">
            <a:avLst/>
          </a:prstGeom>
          <a:noFill/>
          <a:ln/>
        </p:spPr>
        <p:txBody>
          <a:bodyPr wrap="square" lIns="0" tIns="0" rIns="0" bIns="0" rtlCol="0" anchor="ctr"/>
          <a:lstStyle/>
          <a:p>
            <a:pPr indent="0" marL="0">
              <a:buNone/>
            </a:pPr>
            <a:r>
              <a:rPr lang="en-US" sz="1500" i="1" dirty="0">
                <a:solidFill>
                  <a:srgbClr val="9C4A32"/>
                </a:solidFill>
                <a:latin typeface="Cambria" pitchFamily="34" charset="0"/>
                <a:ea typeface="Cambria" pitchFamily="34" charset="-122"/>
                <a:cs typeface="Cambria" pitchFamily="34" charset="-120"/>
              </a:rPr>
              <a:t>Security is the only group that blocks use beyond a trusted lab network. The rest is packaging and coverage.</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21443A"/>
        </a:solidFill>
      </p:bgPr>
    </p:bg>
    <p:spTree>
      <p:nvGrpSpPr>
        <p:cNvPr id="1" name=""/>
        <p:cNvGrpSpPr/>
        <p:nvPr/>
      </p:nvGrpSpPr>
      <p:grpSpPr>
        <a:xfrm>
          <a:off x="0" y="0"/>
          <a:ext cx="0" cy="0"/>
          <a:chOff x="0" y="0"/>
          <a:chExt cx="0" cy="0"/>
        </a:xfrm>
      </p:grpSpPr>
      <p:pic>
        <p:nvPicPr>
          <p:cNvPr id="2" name="Image 0" descr="/Users/pdoran/Documents/Claude/TestDataGenerator/assets/logo-1024.png">    </p:cNvPr>
          <p:cNvPicPr>
            <a:picLocks noChangeAspect="1"/>
          </p:cNvPicPr>
          <p:nvPr/>
        </p:nvPicPr>
        <p:blipFill>
          <a:blip r:embed="rId1"/>
          <a:stretch>
            <a:fillRect/>
          </a:stretch>
        </p:blipFill>
        <p:spPr>
          <a:xfrm>
            <a:off x="548640" y="1371600"/>
            <a:ext cx="1188720" cy="1188720"/>
          </a:xfrm>
          <a:prstGeom prst="rect">
            <a:avLst/>
          </a:prstGeom>
        </p:spPr>
      </p:pic>
      <p:sp>
        <p:nvSpPr>
          <p:cNvPr id="3" name="Text 0"/>
          <p:cNvSpPr txBox="1"/>
          <p:nvPr/>
        </p:nvSpPr>
        <p:spPr>
          <a:xfrm>
            <a:off x="548640" y="2788920"/>
            <a:ext cx="7772400" cy="59436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Where it stands</a:t>
            </a:r>
            <a:endParaRPr lang="en-US" sz="4000" dirty="0"/>
          </a:p>
        </p:txBody>
      </p:sp>
      <p:sp>
        <p:nvSpPr>
          <p:cNvPr id="4" name="Text 1"/>
          <p:cNvSpPr txBox="1"/>
          <p:nvPr/>
        </p:nvSpPr>
        <p:spPr>
          <a:xfrm>
            <a:off x="548640" y="3520440"/>
            <a:ext cx="6949440" cy="1097280"/>
          </a:xfrm>
          <a:prstGeom prst="rect">
            <a:avLst/>
          </a:prstGeom>
          <a:noFill/>
          <a:ln/>
        </p:spPr>
        <p:txBody>
          <a:bodyPr wrap="square" lIns="0" tIns="0" rIns="0" bIns="0" rtlCol="0" anchor="t"/>
          <a:lstStyle/>
          <a:p>
            <a:pPr indent="0" marL="0">
              <a:lnSpc>
                <a:spcPts val="2200"/>
              </a:lnSpc>
              <a:buNone/>
            </a:pPr>
            <a:r>
              <a:rPr lang="en-US" sz="1450" dirty="0">
                <a:solidFill>
                  <a:srgbClr val="C9DBD3"/>
                </a:solidFill>
                <a:latin typeface="Calibri" pitchFamily="34" charset="0"/>
                <a:ea typeface="Calibri" pitchFamily="34" charset="-122"/>
                <a:cs typeface="Calibri" pitchFamily="34" charset="-120"/>
              </a:rPr>
              <a:t>All seven planned phases are built and pushed. The generator, the control plane and both mobile loaders work end to end on real hardware, with 205 automated checks and conformance results committed per device.</a:t>
            </a:r>
            <a:endParaRPr lang="en-US" sz="1450" dirty="0"/>
          </a:p>
        </p:txBody>
      </p:sp>
      <p:sp>
        <p:nvSpPr>
          <p:cNvPr id="5" name="Text 2"/>
          <p:cNvSpPr txBox="1"/>
          <p:nvPr/>
        </p:nvSpPr>
        <p:spPr>
          <a:xfrm>
            <a:off x="548640" y="4754880"/>
            <a:ext cx="6949440" cy="731520"/>
          </a:xfrm>
          <a:prstGeom prst="rect">
            <a:avLst/>
          </a:prstGeom>
          <a:noFill/>
          <a:ln/>
        </p:spPr>
        <p:txBody>
          <a:bodyPr wrap="square" lIns="0" tIns="0" rIns="0" bIns="0" rtlCol="0" anchor="t"/>
          <a:lstStyle/>
          <a:p>
            <a:pPr indent="0" marL="0">
              <a:lnSpc>
                <a:spcPts val="2100"/>
              </a:lnSpc>
              <a:buNone/>
            </a:pPr>
            <a:r>
              <a:rPr lang="en-US" sz="1500" i="1" dirty="0">
                <a:solidFill>
                  <a:srgbClr val="AACABD"/>
                </a:solidFill>
                <a:latin typeface="Cambria" pitchFamily="34" charset="0"/>
                <a:ea typeface="Cambria" pitchFamily="34" charset="-122"/>
                <a:cs typeface="Cambria" pitchFamily="34" charset="-120"/>
              </a:rPr>
              <a:t>The remaining work is hardening — authentication, packaging and the last of the device matrix — not new capability.</a:t>
            </a:r>
            <a:endParaRPr lang="en-US" sz="1500" dirty="0"/>
          </a:p>
        </p:txBody>
      </p:sp>
      <p:sp>
        <p:nvSpPr>
          <p:cNvPr id="6" name="Text 3"/>
          <p:cNvSpPr txBox="1"/>
          <p:nvPr/>
        </p:nvSpPr>
        <p:spPr>
          <a:xfrm>
            <a:off x="8138160" y="1572768"/>
            <a:ext cx="3474720" cy="347472"/>
          </a:xfrm>
          <a:prstGeom prst="rect">
            <a:avLst/>
          </a:prstGeom>
          <a:noFill/>
          <a:ln/>
        </p:spPr>
        <p:txBody>
          <a:bodyPr wrap="square" lIns="0" tIns="0" rIns="0" bIns="0" rtlCol="0" anchor="ctr"/>
          <a:lstStyle/>
          <a:p>
            <a:pPr algn="r" indent="0" marL="0">
              <a:buNone/>
            </a:pPr>
            <a:r>
              <a:rPr lang="en-US" sz="1800" b="1" dirty="0">
                <a:solidFill>
                  <a:srgbClr val="FFFFFF"/>
                </a:solidFill>
                <a:latin typeface="Cambria" pitchFamily="34" charset="0"/>
                <a:ea typeface="Cambria" pitchFamily="34" charset="-122"/>
                <a:cs typeface="Cambria" pitchFamily="34" charset="-120"/>
              </a:rPr>
              <a:t>Exact size</a:t>
            </a:r>
            <a:endParaRPr lang="en-US" sz="1800" dirty="0"/>
          </a:p>
        </p:txBody>
      </p:sp>
      <p:sp>
        <p:nvSpPr>
          <p:cNvPr id="7" name="Text 4"/>
          <p:cNvSpPr txBox="1"/>
          <p:nvPr/>
        </p:nvSpPr>
        <p:spPr>
          <a:xfrm>
            <a:off x="8138160" y="1938528"/>
            <a:ext cx="3474720" cy="310896"/>
          </a:xfrm>
          <a:prstGeom prst="rect">
            <a:avLst/>
          </a:prstGeom>
          <a:noFill/>
          <a:ln/>
        </p:spPr>
        <p:txBody>
          <a:bodyPr wrap="square" lIns="0" tIns="0" rIns="0" bIns="0" rtlCol="0" anchor="ctr"/>
          <a:lstStyle/>
          <a:p>
            <a:pPr algn="r" indent="0" marL="0">
              <a:buNone/>
            </a:pPr>
            <a:r>
              <a:rPr lang="en-US" sz="1400" dirty="0">
                <a:solidFill>
                  <a:srgbClr val="AACABD"/>
                </a:solidFill>
                <a:latin typeface="Calibri" pitchFamily="34" charset="0"/>
                <a:ea typeface="Calibri" pitchFamily="34" charset="-122"/>
                <a:cs typeface="Calibri" pitchFamily="34" charset="-120"/>
              </a:rPr>
              <a:t>delta 0 bytes</a:t>
            </a:r>
            <a:endParaRPr lang="en-US" sz="1400" dirty="0"/>
          </a:p>
        </p:txBody>
      </p:sp>
      <p:sp>
        <p:nvSpPr>
          <p:cNvPr id="8" name="Text 5"/>
          <p:cNvSpPr txBox="1"/>
          <p:nvPr/>
        </p:nvSpPr>
        <p:spPr>
          <a:xfrm>
            <a:off x="8138160" y="2816352"/>
            <a:ext cx="3474720" cy="347472"/>
          </a:xfrm>
          <a:prstGeom prst="rect">
            <a:avLst/>
          </a:prstGeom>
          <a:noFill/>
          <a:ln/>
        </p:spPr>
        <p:txBody>
          <a:bodyPr wrap="square" lIns="0" tIns="0" rIns="0" bIns="0" rtlCol="0" anchor="ctr"/>
          <a:lstStyle/>
          <a:p>
            <a:pPr algn="r" indent="0" marL="0">
              <a:buNone/>
            </a:pPr>
            <a:r>
              <a:rPr lang="en-US" sz="1800" b="1" dirty="0">
                <a:solidFill>
                  <a:srgbClr val="FFFFFF"/>
                </a:solidFill>
                <a:latin typeface="Cambria" pitchFamily="34" charset="0"/>
                <a:ea typeface="Cambria" pitchFamily="34" charset="-122"/>
                <a:cs typeface="Cambria" pitchFamily="34" charset="-120"/>
              </a:rPr>
              <a:t>Both platforms</a:t>
            </a:r>
            <a:endParaRPr lang="en-US" sz="1800" dirty="0"/>
          </a:p>
        </p:txBody>
      </p:sp>
      <p:sp>
        <p:nvSpPr>
          <p:cNvPr id="9" name="Text 6"/>
          <p:cNvSpPr txBox="1"/>
          <p:nvPr/>
        </p:nvSpPr>
        <p:spPr>
          <a:xfrm>
            <a:off x="8138160" y="3182112"/>
            <a:ext cx="3474720" cy="310896"/>
          </a:xfrm>
          <a:prstGeom prst="rect">
            <a:avLst/>
          </a:prstGeom>
          <a:noFill/>
          <a:ln/>
        </p:spPr>
        <p:txBody>
          <a:bodyPr wrap="square" lIns="0" tIns="0" rIns="0" bIns="0" rtlCol="0" anchor="ctr"/>
          <a:lstStyle/>
          <a:p>
            <a:pPr algn="r" indent="0" marL="0">
              <a:buNone/>
            </a:pPr>
            <a:r>
              <a:rPr lang="en-US" sz="1400" dirty="0">
                <a:solidFill>
                  <a:srgbClr val="AACABD"/>
                </a:solidFill>
                <a:latin typeface="Calibri" pitchFamily="34" charset="0"/>
                <a:ea typeface="Calibri" pitchFamily="34" charset="-122"/>
                <a:cs typeface="Calibri" pitchFamily="34" charset="-120"/>
              </a:rPr>
              <a:t>iOS and Android</a:t>
            </a:r>
            <a:endParaRPr lang="en-US" sz="1400" dirty="0"/>
          </a:p>
        </p:txBody>
      </p:sp>
      <p:sp>
        <p:nvSpPr>
          <p:cNvPr id="10" name="Text 7"/>
          <p:cNvSpPr txBox="1"/>
          <p:nvPr/>
        </p:nvSpPr>
        <p:spPr>
          <a:xfrm>
            <a:off x="8138160" y="4059936"/>
            <a:ext cx="3474720" cy="347472"/>
          </a:xfrm>
          <a:prstGeom prst="rect">
            <a:avLst/>
          </a:prstGeom>
          <a:noFill/>
          <a:ln/>
        </p:spPr>
        <p:txBody>
          <a:bodyPr wrap="square" lIns="0" tIns="0" rIns="0" bIns="0" rtlCol="0" anchor="ctr"/>
          <a:lstStyle/>
          <a:p>
            <a:pPr algn="r" indent="0" marL="0">
              <a:buNone/>
            </a:pPr>
            <a:r>
              <a:rPr lang="en-US" sz="1800" b="1" dirty="0">
                <a:solidFill>
                  <a:srgbClr val="FFFFFF"/>
                </a:solidFill>
                <a:latin typeface="Cambria" pitchFamily="34" charset="0"/>
                <a:ea typeface="Cambria" pitchFamily="34" charset="-122"/>
                <a:cs typeface="Cambria" pitchFamily="34" charset="-120"/>
              </a:rPr>
              <a:t>Reversible</a:t>
            </a:r>
            <a:endParaRPr lang="en-US" sz="1800" dirty="0"/>
          </a:p>
        </p:txBody>
      </p:sp>
      <p:sp>
        <p:nvSpPr>
          <p:cNvPr id="11" name="Text 8"/>
          <p:cNvSpPr txBox="1"/>
          <p:nvPr/>
        </p:nvSpPr>
        <p:spPr>
          <a:xfrm>
            <a:off x="8138160" y="4425696"/>
            <a:ext cx="3474720" cy="310896"/>
          </a:xfrm>
          <a:prstGeom prst="rect">
            <a:avLst/>
          </a:prstGeom>
          <a:noFill/>
          <a:ln/>
        </p:spPr>
        <p:txBody>
          <a:bodyPr wrap="square" lIns="0" tIns="0" rIns="0" bIns="0" rtlCol="0" anchor="ctr"/>
          <a:lstStyle/>
          <a:p>
            <a:pPr algn="r" indent="0" marL="0">
              <a:buNone/>
            </a:pPr>
            <a:r>
              <a:rPr lang="en-US" sz="1400" dirty="0">
                <a:solidFill>
                  <a:srgbClr val="AACABD"/>
                </a:solidFill>
                <a:latin typeface="Calibri" pitchFamily="34" charset="0"/>
                <a:ea typeface="Calibri" pitchFamily="34" charset="-122"/>
                <a:cs typeface="Calibri" pitchFamily="34" charset="-120"/>
              </a:rPr>
              <a:t>wipe from a receipt</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274320"/>
            <a:ext cx="11064240" cy="274320"/>
          </a:xfrm>
          <a:prstGeom prst="rect">
            <a:avLst/>
          </a:prstGeom>
          <a:noFill/>
          <a:ln/>
        </p:spPr>
        <p:txBody>
          <a:bodyPr wrap="square" lIns="0" tIns="0" rIns="0" bIns="0" rtlCol="0" anchor="ctr"/>
          <a:lstStyle/>
          <a:p>
            <a:pPr indent="0" marL="0">
              <a:buNone/>
            </a:pPr>
            <a:r>
              <a:rPr lang="en-US" sz="1400" b="1" spc="200" kern="0" dirty="0">
                <a:solidFill>
                  <a:srgbClr val="2F5D50"/>
                </a:solidFill>
                <a:latin typeface="Calibri" pitchFamily="34" charset="0"/>
                <a:ea typeface="Calibri" pitchFamily="34" charset="-122"/>
                <a:cs typeface="Calibri" pitchFamily="34" charset="-120"/>
              </a:rPr>
              <a:t>REVERSIBILITY</a:t>
            </a:r>
            <a:endParaRPr lang="en-US" sz="1400" dirty="0"/>
          </a:p>
        </p:txBody>
      </p:sp>
      <p:sp>
        <p:nvSpPr>
          <p:cNvPr id="3" name="Text 1"/>
          <p:cNvSpPr txBox="1"/>
          <p:nvPr/>
        </p:nvSpPr>
        <p:spPr>
          <a:xfrm>
            <a:off x="548640" y="585216"/>
            <a:ext cx="11064240" cy="713232"/>
          </a:xfrm>
          <a:prstGeom prst="rect">
            <a:avLst/>
          </a:prstGeom>
          <a:noFill/>
          <a:ln/>
        </p:spPr>
        <p:txBody>
          <a:bodyPr wrap="square" lIns="0" tIns="0" rIns="0" bIns="0" rtlCol="0" anchor="ctr"/>
          <a:lstStyle/>
          <a:p>
            <a:pPr indent="0" marL="0">
              <a:buNone/>
            </a:pPr>
            <a:r>
              <a:rPr lang="en-US" sz="3200" b="1" dirty="0">
                <a:solidFill>
                  <a:srgbClr val="1B1A18"/>
                </a:solidFill>
                <a:latin typeface="Cambria" pitchFamily="34" charset="0"/>
                <a:ea typeface="Cambria" pitchFamily="34" charset="-122"/>
                <a:cs typeface="Cambria" pitchFamily="34" charset="-120"/>
              </a:rPr>
              <a:t>The receipt has to outlive the app</a:t>
            </a:r>
            <a:endParaRPr lang="en-US" sz="3200" dirty="0"/>
          </a:p>
        </p:txBody>
      </p:sp>
      <p:sp>
        <p:nvSpPr>
          <p:cNvPr id="4" name="Text 2"/>
          <p:cNvSpPr txBox="1"/>
          <p:nvPr/>
        </p:nvSpPr>
        <p:spPr>
          <a:xfrm>
            <a:off x="548640" y="1389888"/>
            <a:ext cx="11064240" cy="365760"/>
          </a:xfrm>
          <a:prstGeom prst="rect">
            <a:avLst/>
          </a:prstGeom>
          <a:noFill/>
          <a:ln/>
        </p:spPr>
        <p:txBody>
          <a:bodyPr wrap="square" lIns="0" tIns="0" rIns="0" bIns="0" rtlCol="0" anchor="ctr"/>
          <a:lstStyle/>
          <a:p>
            <a:pPr indent="0" marL="0">
              <a:buNone/>
            </a:pPr>
            <a:r>
              <a:rPr lang="en-US" sz="1400" dirty="0">
                <a:solidFill>
                  <a:srgbClr val="6D6A64"/>
                </a:solidFill>
                <a:latin typeface="Calibri" pitchFamily="34" charset="0"/>
                <a:ea typeface="Calibri" pitchFamily="34" charset="-122"/>
                <a:cs typeface="Calibri" pitchFamily="34" charset="-120"/>
              </a:rPr>
              <a:t>Wipe deletes what a receipt records. That receipt lived in app storage — so deleting the app stranded every asset it had written.</a:t>
            </a:r>
            <a:endParaRPr lang="en-US" sz="1400" dirty="0"/>
          </a:p>
        </p:txBody>
      </p:sp>
      <p:sp>
        <p:nvSpPr>
          <p:cNvPr id="5" name="Shape 3"/>
          <p:cNvSpPr/>
          <p:nvPr/>
        </p:nvSpPr>
        <p:spPr>
          <a:xfrm>
            <a:off x="548640" y="1847088"/>
            <a:ext cx="5349240" cy="1463040"/>
          </a:xfrm>
          <a:prstGeom prst="roundRect">
            <a:avLst>
              <a:gd name="adj" fmla="val 5625"/>
            </a:avLst>
          </a:prstGeom>
          <a:solidFill>
            <a:srgbClr val="F3E6E2"/>
          </a:solidFill>
          <a:ln w="12700">
            <a:solidFill>
              <a:srgbClr val="F3E6E2"/>
            </a:solidFill>
            <a:prstDash val="solid"/>
          </a:ln>
        </p:spPr>
      </p:sp>
      <p:sp>
        <p:nvSpPr>
          <p:cNvPr id="6" name="Text 4"/>
          <p:cNvSpPr txBox="1"/>
          <p:nvPr/>
        </p:nvSpPr>
        <p:spPr>
          <a:xfrm>
            <a:off x="822960" y="2194560"/>
            <a:ext cx="1417320" cy="658368"/>
          </a:xfrm>
          <a:prstGeom prst="rect">
            <a:avLst/>
          </a:prstGeom>
          <a:noFill/>
          <a:ln/>
        </p:spPr>
        <p:txBody>
          <a:bodyPr wrap="square" lIns="0" tIns="0" rIns="0" bIns="0" rtlCol="0" anchor="ctr"/>
          <a:lstStyle/>
          <a:p>
            <a:pPr indent="0" marL="0">
              <a:buNone/>
            </a:pPr>
            <a:r>
              <a:rPr lang="en-US" sz="4000" b="1" dirty="0">
                <a:solidFill>
                  <a:srgbClr val="9C4A32"/>
                </a:solidFill>
                <a:latin typeface="Cambria" pitchFamily="34" charset="0"/>
                <a:ea typeface="Cambria" pitchFamily="34" charset="-122"/>
                <a:cs typeface="Cambria" pitchFamily="34" charset="-120"/>
              </a:rPr>
              <a:t>169</a:t>
            </a:r>
            <a:endParaRPr lang="en-US" sz="4000" dirty="0"/>
          </a:p>
        </p:txBody>
      </p:sp>
      <p:sp>
        <p:nvSpPr>
          <p:cNvPr id="7" name="Text 5"/>
          <p:cNvSpPr txBox="1"/>
          <p:nvPr/>
        </p:nvSpPr>
        <p:spPr>
          <a:xfrm>
            <a:off x="2331720" y="2029968"/>
            <a:ext cx="3383280" cy="310896"/>
          </a:xfrm>
          <a:prstGeom prst="rect">
            <a:avLst/>
          </a:prstGeom>
          <a:noFill/>
          <a:ln/>
        </p:spPr>
        <p:txBody>
          <a:bodyPr wrap="square" lIns="0" tIns="0" rIns="0" bIns="0" rtlCol="0" anchor="ctr"/>
          <a:lstStyle/>
          <a:p>
            <a:pPr indent="0" marL="0">
              <a:buNone/>
            </a:pPr>
            <a:r>
              <a:rPr lang="en-US" sz="1600" b="1" dirty="0">
                <a:solidFill>
                  <a:srgbClr val="1B1A18"/>
                </a:solidFill>
                <a:latin typeface="Cambria" pitchFamily="34" charset="0"/>
                <a:ea typeface="Cambria" pitchFamily="34" charset="-122"/>
                <a:cs typeface="Cambria" pitchFamily="34" charset="-120"/>
              </a:rPr>
              <a:t>Stranded by an uninstall</a:t>
            </a:r>
            <a:endParaRPr lang="en-US" sz="1600" dirty="0"/>
          </a:p>
        </p:txBody>
      </p:sp>
      <p:sp>
        <p:nvSpPr>
          <p:cNvPr id="8" name="Text 6"/>
          <p:cNvSpPr txBox="1"/>
          <p:nvPr/>
        </p:nvSpPr>
        <p:spPr>
          <a:xfrm>
            <a:off x="2331720" y="2359152"/>
            <a:ext cx="3383280" cy="859536"/>
          </a:xfrm>
          <a:prstGeom prst="rect">
            <a:avLst/>
          </a:prstGeom>
          <a:noFill/>
          <a:ln/>
        </p:spPr>
        <p:txBody>
          <a:bodyPr wrap="square" lIns="0" tIns="0" rIns="0" bIns="0" rtlCol="0" anchor="t"/>
          <a:lstStyle/>
          <a:p>
            <a:pPr indent="0" marL="0">
              <a:lnSpc>
                <a:spcPts val="1800"/>
              </a:lnSpc>
              <a:buNone/>
            </a:pPr>
            <a:r>
              <a:rPr lang="en-US" sz="1400" dirty="0">
                <a:solidFill>
                  <a:srgbClr val="6D6A64"/>
                </a:solidFill>
                <a:latin typeface="Calibri" pitchFamily="34" charset="0"/>
                <a:ea typeface="Calibri" pitchFamily="34" charset="-122"/>
                <a:cs typeface="Calibri" pitchFamily="34" charset="-120"/>
              </a:rPr>
              <a:t>Assets left in the gallery with nothing left to name them. The bytes stay; the only record of which bytes they are goes with the app.</a:t>
            </a:r>
            <a:endParaRPr lang="en-US" sz="1400" dirty="0"/>
          </a:p>
        </p:txBody>
      </p:sp>
      <p:sp>
        <p:nvSpPr>
          <p:cNvPr id="9" name="Shape 7"/>
          <p:cNvSpPr/>
          <p:nvPr/>
        </p:nvSpPr>
        <p:spPr>
          <a:xfrm>
            <a:off x="6263640" y="1847088"/>
            <a:ext cx="5349240" cy="1463040"/>
          </a:xfrm>
          <a:prstGeom prst="roundRect">
            <a:avLst>
              <a:gd name="adj" fmla="val 5625"/>
            </a:avLst>
          </a:prstGeom>
          <a:solidFill>
            <a:srgbClr val="E4EEE9"/>
          </a:solidFill>
          <a:ln w="12700">
            <a:solidFill>
              <a:srgbClr val="E4EEE9"/>
            </a:solidFill>
            <a:prstDash val="solid"/>
          </a:ln>
        </p:spPr>
      </p:sp>
      <p:sp>
        <p:nvSpPr>
          <p:cNvPr id="10" name="Text 8"/>
          <p:cNvSpPr txBox="1"/>
          <p:nvPr/>
        </p:nvSpPr>
        <p:spPr>
          <a:xfrm>
            <a:off x="6537960" y="2194560"/>
            <a:ext cx="1417320" cy="658368"/>
          </a:xfrm>
          <a:prstGeom prst="rect">
            <a:avLst/>
          </a:prstGeom>
          <a:noFill/>
          <a:ln/>
        </p:spPr>
        <p:txBody>
          <a:bodyPr wrap="square" lIns="0" tIns="0" rIns="0" bIns="0" rtlCol="0" anchor="ctr"/>
          <a:lstStyle/>
          <a:p>
            <a:pPr indent="0" marL="0">
              <a:buNone/>
            </a:pPr>
            <a:r>
              <a:rPr lang="en-US" sz="4000" b="1" dirty="0">
                <a:solidFill>
                  <a:srgbClr val="2F5D50"/>
                </a:solidFill>
                <a:latin typeface="Cambria" pitchFamily="34" charset="0"/>
                <a:ea typeface="Cambria" pitchFamily="34" charset="-122"/>
                <a:cs typeface="Cambria" pitchFamily="34" charset="-120"/>
              </a:rPr>
              <a:t>0</a:t>
            </a:r>
            <a:endParaRPr lang="en-US" sz="4000" dirty="0"/>
          </a:p>
        </p:txBody>
      </p:sp>
      <p:sp>
        <p:nvSpPr>
          <p:cNvPr id="11" name="Text 9"/>
          <p:cNvSpPr txBox="1"/>
          <p:nvPr/>
        </p:nvSpPr>
        <p:spPr>
          <a:xfrm>
            <a:off x="8046720" y="2029968"/>
            <a:ext cx="3383280" cy="310896"/>
          </a:xfrm>
          <a:prstGeom prst="rect">
            <a:avLst/>
          </a:prstGeom>
          <a:noFill/>
          <a:ln/>
        </p:spPr>
        <p:txBody>
          <a:bodyPr wrap="square" lIns="0" tIns="0" rIns="0" bIns="0" rtlCol="0" anchor="ctr"/>
          <a:lstStyle/>
          <a:p>
            <a:pPr indent="0" marL="0">
              <a:buNone/>
            </a:pPr>
            <a:r>
              <a:rPr lang="en-US" sz="1600" b="1" dirty="0">
                <a:solidFill>
                  <a:srgbClr val="1B1A18"/>
                </a:solidFill>
                <a:latin typeface="Cambria" pitchFamily="34" charset="0"/>
                <a:ea typeface="Cambria" pitchFamily="34" charset="-122"/>
                <a:cs typeface="Cambria" pitchFamily="34" charset="-120"/>
              </a:rPr>
              <a:t>Left behind now</a:t>
            </a:r>
            <a:endParaRPr lang="en-US" sz="1600" dirty="0"/>
          </a:p>
        </p:txBody>
      </p:sp>
      <p:sp>
        <p:nvSpPr>
          <p:cNvPr id="12" name="Text 10"/>
          <p:cNvSpPr txBox="1"/>
          <p:nvPr/>
        </p:nvSpPr>
        <p:spPr>
          <a:xfrm>
            <a:off x="8046720" y="2359152"/>
            <a:ext cx="3383280" cy="859536"/>
          </a:xfrm>
          <a:prstGeom prst="rect">
            <a:avLst/>
          </a:prstGeom>
          <a:noFill/>
          <a:ln/>
        </p:spPr>
        <p:txBody>
          <a:bodyPr wrap="square" lIns="0" tIns="0" rIns="0" bIns="0" rtlCol="0" anchor="t"/>
          <a:lstStyle/>
          <a:p>
            <a:pPr indent="0" marL="0">
              <a:lnSpc>
                <a:spcPts val="1800"/>
              </a:lnSpc>
              <a:buNone/>
            </a:pPr>
            <a:r>
              <a:rPr lang="en-US" sz="1400" dirty="0">
                <a:solidFill>
                  <a:srgbClr val="6D6A64"/>
                </a:solidFill>
                <a:latin typeface="Calibri" pitchFamily="34" charset="0"/>
                <a:ea typeface="Calibri" pitchFamily="34" charset="-122"/>
                <a:cs typeface="Calibri" pitchFamily="34" charset="-120"/>
              </a:rPr>
              <a:t>The control plane keeps a copy. A reinstalled app asks for it back and takes every asset with it — verified on both handsets.</a:t>
            </a:r>
            <a:endParaRPr lang="en-US" sz="1400" dirty="0"/>
          </a:p>
        </p:txBody>
      </p:sp>
      <p:sp>
        <p:nvSpPr>
          <p:cNvPr id="13" name="Shape 11"/>
          <p:cNvSpPr/>
          <p:nvPr/>
        </p:nvSpPr>
        <p:spPr>
          <a:xfrm>
            <a:off x="548640" y="3493008"/>
            <a:ext cx="3447288" cy="1993392"/>
          </a:xfrm>
          <a:prstGeom prst="roundRect">
            <a:avLst>
              <a:gd name="adj" fmla="val 4128"/>
            </a:avLst>
          </a:prstGeom>
          <a:solidFill>
            <a:srgbClr val="E4EEE9"/>
          </a:solidFill>
          <a:ln w="12700">
            <a:solidFill>
              <a:srgbClr val="E4EEE9"/>
            </a:solidFill>
            <a:prstDash val="solid"/>
          </a:ln>
        </p:spPr>
      </p:sp>
      <p:sp>
        <p:nvSpPr>
          <p:cNvPr id="14" name="Text 12"/>
          <p:cNvSpPr txBox="1"/>
          <p:nvPr/>
        </p:nvSpPr>
        <p:spPr>
          <a:xfrm>
            <a:off x="786384" y="3657600"/>
            <a:ext cx="3017520" cy="347472"/>
          </a:xfrm>
          <a:prstGeom prst="rect">
            <a:avLst/>
          </a:prstGeom>
          <a:noFill/>
          <a:ln/>
        </p:spPr>
        <p:txBody>
          <a:bodyPr wrap="square" lIns="0" tIns="0" rIns="0" bIns="0" rtlCol="0" anchor="ctr"/>
          <a:lstStyle/>
          <a:p>
            <a:pPr indent="0" marL="0">
              <a:buNone/>
            </a:pPr>
            <a:r>
              <a:rPr lang="en-US" sz="1600" b="1" dirty="0">
                <a:solidFill>
                  <a:srgbClr val="2F5D50"/>
                </a:solidFill>
                <a:latin typeface="Cambria" pitchFamily="34" charset="0"/>
                <a:ea typeface="Cambria" pitchFamily="34" charset="-122"/>
                <a:cs typeface="Cambria" pitchFamily="34" charset="-120"/>
              </a:rPr>
              <a:t>Deposit</a:t>
            </a:r>
            <a:endParaRPr lang="en-US" sz="1600" dirty="0"/>
          </a:p>
        </p:txBody>
      </p:sp>
      <p:sp>
        <p:nvSpPr>
          <p:cNvPr id="15" name="Text 13"/>
          <p:cNvSpPr txBox="1"/>
          <p:nvPr/>
        </p:nvSpPr>
        <p:spPr>
          <a:xfrm>
            <a:off x="786384" y="4041648"/>
            <a:ext cx="2999232" cy="1316736"/>
          </a:xfrm>
          <a:prstGeom prst="rect">
            <a:avLst/>
          </a:prstGeom>
          <a:noFill/>
          <a:ln/>
        </p:spPr>
        <p:txBody>
          <a:bodyPr wrap="square" lIns="0" tIns="0" rIns="0" bIns="0" rtlCol="0" anchor="t"/>
          <a:lstStyle/>
          <a:p>
            <a:pPr indent="0" marL="0">
              <a:lnSpc>
                <a:spcPts val="1700"/>
              </a:lnSpc>
              <a:buNone/>
            </a:pPr>
            <a:r>
              <a:rPr lang="en-US" sz="1400" dirty="0">
                <a:solidFill>
                  <a:srgbClr val="6D6A64"/>
                </a:solidFill>
                <a:latin typeface="Calibri" pitchFamily="34" charset="0"/>
                <a:ea typeface="Calibri" pitchFamily="34" charset="-122"/>
                <a:cs typeface="Calibri" pitchFamily="34" charset="-120"/>
              </a:rPr>
              <a:t>A loader sends its receipt to the control plane when a fill ends. Best effort throughout: a server that has moved must never fail a fill or block a wipe.</a:t>
            </a:r>
            <a:endParaRPr lang="en-US" sz="1400" dirty="0"/>
          </a:p>
        </p:txBody>
      </p:sp>
      <p:sp>
        <p:nvSpPr>
          <p:cNvPr id="16" name="Shape 14"/>
          <p:cNvSpPr/>
          <p:nvPr/>
        </p:nvSpPr>
        <p:spPr>
          <a:xfrm>
            <a:off x="4361688" y="3493008"/>
            <a:ext cx="3447288" cy="1993392"/>
          </a:xfrm>
          <a:prstGeom prst="roundRect">
            <a:avLst>
              <a:gd name="adj" fmla="val 4128"/>
            </a:avLst>
          </a:prstGeom>
          <a:solidFill>
            <a:srgbClr val="E4EEE9"/>
          </a:solidFill>
          <a:ln w="12700">
            <a:solidFill>
              <a:srgbClr val="E4EEE9"/>
            </a:solidFill>
            <a:prstDash val="solid"/>
          </a:ln>
        </p:spPr>
      </p:sp>
      <p:sp>
        <p:nvSpPr>
          <p:cNvPr id="17" name="Text 15"/>
          <p:cNvSpPr txBox="1"/>
          <p:nvPr/>
        </p:nvSpPr>
        <p:spPr>
          <a:xfrm>
            <a:off x="4599432" y="3657600"/>
            <a:ext cx="3017520" cy="347472"/>
          </a:xfrm>
          <a:prstGeom prst="rect">
            <a:avLst/>
          </a:prstGeom>
          <a:noFill/>
          <a:ln/>
        </p:spPr>
        <p:txBody>
          <a:bodyPr wrap="square" lIns="0" tIns="0" rIns="0" bIns="0" rtlCol="0" anchor="ctr"/>
          <a:lstStyle/>
          <a:p>
            <a:pPr indent="0" marL="0">
              <a:buNone/>
            </a:pPr>
            <a:r>
              <a:rPr lang="en-US" sz="1600" b="1" dirty="0">
                <a:solidFill>
                  <a:srgbClr val="2F5D50"/>
                </a:solidFill>
                <a:latin typeface="Cambria" pitchFamily="34" charset="0"/>
                <a:ea typeface="Cambria" pitchFamily="34" charset="-122"/>
                <a:cs typeface="Cambria" pitchFamily="34" charset="-120"/>
              </a:rPr>
              <a:t>Recover</a:t>
            </a:r>
            <a:endParaRPr lang="en-US" sz="1600" dirty="0"/>
          </a:p>
        </p:txBody>
      </p:sp>
      <p:sp>
        <p:nvSpPr>
          <p:cNvPr id="18" name="Text 16"/>
          <p:cNvSpPr txBox="1"/>
          <p:nvPr/>
        </p:nvSpPr>
        <p:spPr>
          <a:xfrm>
            <a:off x="4599432" y="4041648"/>
            <a:ext cx="2999232" cy="1316736"/>
          </a:xfrm>
          <a:prstGeom prst="rect">
            <a:avLst/>
          </a:prstGeom>
          <a:noFill/>
          <a:ln/>
        </p:spPr>
        <p:txBody>
          <a:bodyPr wrap="square" lIns="0" tIns="0" rIns="0" bIns="0" rtlCol="0" anchor="t"/>
          <a:lstStyle/>
          <a:p>
            <a:pPr indent="0" marL="0">
              <a:lnSpc>
                <a:spcPts val="1700"/>
              </a:lnSpc>
              <a:buNone/>
            </a:pPr>
            <a:r>
              <a:rPr lang="en-US" sz="1400" dirty="0">
                <a:solidFill>
                  <a:srgbClr val="6D6A64"/>
                </a:solidFill>
                <a:latin typeface="Calibri" pitchFamily="34" charset="0"/>
                <a:ea typeface="Calibri" pitchFamily="34" charset="-122"/>
                <a:cs typeface="Calibri" pitchFamily="34" charset="-120"/>
              </a:rPr>
              <a:t>Pairing on a fresh install restores it. This works after a prune too — a reclaimed pack with a full phone attached is exactly the case it exists for.</a:t>
            </a:r>
            <a:endParaRPr lang="en-US" sz="1400" dirty="0"/>
          </a:p>
        </p:txBody>
      </p:sp>
      <p:sp>
        <p:nvSpPr>
          <p:cNvPr id="19" name="Shape 17"/>
          <p:cNvSpPr/>
          <p:nvPr/>
        </p:nvSpPr>
        <p:spPr>
          <a:xfrm>
            <a:off x="8174736" y="3493008"/>
            <a:ext cx="3447288" cy="1993392"/>
          </a:xfrm>
          <a:prstGeom prst="roundRect">
            <a:avLst>
              <a:gd name="adj" fmla="val 4128"/>
            </a:avLst>
          </a:prstGeom>
          <a:solidFill>
            <a:srgbClr val="E4EEE9"/>
          </a:solidFill>
          <a:ln w="12700">
            <a:solidFill>
              <a:srgbClr val="E4EEE9"/>
            </a:solidFill>
            <a:prstDash val="solid"/>
          </a:ln>
        </p:spPr>
      </p:sp>
      <p:sp>
        <p:nvSpPr>
          <p:cNvPr id="20" name="Text 18"/>
          <p:cNvSpPr txBox="1"/>
          <p:nvPr/>
        </p:nvSpPr>
        <p:spPr>
          <a:xfrm>
            <a:off x="8412480" y="3657600"/>
            <a:ext cx="3017520" cy="347472"/>
          </a:xfrm>
          <a:prstGeom prst="rect">
            <a:avLst/>
          </a:prstGeom>
          <a:noFill/>
          <a:ln/>
        </p:spPr>
        <p:txBody>
          <a:bodyPr wrap="square" lIns="0" tIns="0" rIns="0" bIns="0" rtlCol="0" anchor="ctr"/>
          <a:lstStyle/>
          <a:p>
            <a:pPr indent="0" marL="0">
              <a:buNone/>
            </a:pPr>
            <a:r>
              <a:rPr lang="en-US" sz="1600" b="1" dirty="0">
                <a:solidFill>
                  <a:srgbClr val="2F5D50"/>
                </a:solidFill>
                <a:latin typeface="Cambria" pitchFamily="34" charset="0"/>
                <a:ea typeface="Cambria" pitchFamily="34" charset="-122"/>
                <a:cs typeface="Cambria" pitchFamily="34" charset="-120"/>
              </a:rPr>
              <a:t>Withdraw</a:t>
            </a:r>
            <a:endParaRPr lang="en-US" sz="1600" dirty="0"/>
          </a:p>
        </p:txBody>
      </p:sp>
      <p:sp>
        <p:nvSpPr>
          <p:cNvPr id="21" name="Text 19"/>
          <p:cNvSpPr txBox="1"/>
          <p:nvPr/>
        </p:nvSpPr>
        <p:spPr>
          <a:xfrm>
            <a:off x="8412480" y="4041648"/>
            <a:ext cx="2999232" cy="1316736"/>
          </a:xfrm>
          <a:prstGeom prst="rect">
            <a:avLst/>
          </a:prstGeom>
          <a:noFill/>
          <a:ln/>
        </p:spPr>
        <p:txBody>
          <a:bodyPr wrap="square" lIns="0" tIns="0" rIns="0" bIns="0" rtlCol="0" anchor="t"/>
          <a:lstStyle/>
          <a:p>
            <a:pPr indent="0" marL="0">
              <a:lnSpc>
                <a:spcPts val="1700"/>
              </a:lnSpc>
              <a:buNone/>
            </a:pPr>
            <a:r>
              <a:rPr lang="en-US" sz="1400" dirty="0">
                <a:solidFill>
                  <a:srgbClr val="6D6A64"/>
                </a:solidFill>
                <a:latin typeface="Calibri" pitchFamily="34" charset="0"/>
                <a:ea typeface="Calibri" pitchFamily="34" charset="-122"/>
                <a:cs typeface="Calibri" pitchFamily="34" charset="-120"/>
              </a:rPr>
              <a:t>A wipe removes the copy. Deleting a job discards them, so the API refuses that while any device still carries the pack.</a:t>
            </a:r>
            <a:endParaRPr lang="en-US" sz="1400" dirty="0"/>
          </a:p>
        </p:txBody>
      </p:sp>
      <p:sp>
        <p:nvSpPr>
          <p:cNvPr id="22" name="Text 20"/>
          <p:cNvSpPr txBox="1"/>
          <p:nvPr/>
        </p:nvSpPr>
        <p:spPr>
          <a:xfrm>
            <a:off x="548640" y="5650992"/>
            <a:ext cx="11064240" cy="384048"/>
          </a:xfrm>
          <a:prstGeom prst="rect">
            <a:avLst/>
          </a:prstGeom>
          <a:noFill/>
          <a:ln/>
        </p:spPr>
        <p:txBody>
          <a:bodyPr wrap="square" lIns="0" tIns="0" rIns="0" bIns="0" rtlCol="0" anchor="ctr"/>
          <a:lstStyle/>
          <a:p>
            <a:pPr indent="0" marL="0">
              <a:buNone/>
            </a:pPr>
            <a:r>
              <a:rPr lang="en-US" sz="1500" i="1" dirty="0">
                <a:solidFill>
                  <a:srgbClr val="9C4A32"/>
                </a:solidFill>
                <a:latin typeface="Cambria" pitchFamily="34" charset="0"/>
                <a:ea typeface="Cambria" pitchFamily="34" charset="-122"/>
                <a:cs typeface="Cambria" pitchFamily="34" charset="-120"/>
              </a:rPr>
              <a:t>Identity is not authority: Android clears media ownership on uninstall, so recovery names the assets and one system prompt is still needed to remove them. iOS needs no such step.</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TDG — Mobile Test Data Generator</dc:title>
  <dc:subject>PptxGenJS Presentation</dc:subject>
  <dc:creator>TDG</dc:creator>
  <cp:lastModifiedBy>TDG</cp:lastModifiedBy>
  <cp:revision>1</cp:revision>
  <dcterms:created xsi:type="dcterms:W3CDTF">2026-09-01T16:29:41Z</dcterms:created>
  <dcterms:modified xsi:type="dcterms:W3CDTF">2026-09-01T16:29:41Z</dcterms:modified>
</cp:coreProperties>
</file>