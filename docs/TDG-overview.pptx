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TDG generates and loads realistic media libraries onto real devices, so apps that scan the gallery can be tested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not media — it is media with the right metadata, at an exact size, that can be removed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downstream — the loaders, the manifest, the pairing code — follows from this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generator is Python; the control plane imports it directly and runs each build as a subprocess so cancel is a real kill and resume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Exactness, believable metadata, reproducibility, reversibility, format fidelity, and self-verification.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compound: a bigger seed pool, more variation per file, and a perceptual-hash gate that redraws a still landing too close to one already in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found three real bugs on first run, including one in the iOS loader that lost 300 MB of completed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use case is backup and sync, but anything that scans a gallery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of the plan's six conformance devices are covered, including two physical handsets. The S24 and the iPhone 15 Pro are the runs that matter — everything else is a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the one that blocks anything beyond a trusted lab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capability is done, hardening is what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443A"/>
        </a:solidFill>
      </p:bgPr>
    </p:bg>
    <p:spTree>
      <p:nvGrpSpPr>
        <p:cNvPr id="1" name=""/>
        <p:cNvGrpSpPr/>
        <p:nvPr/>
      </p:nvGrpSpPr>
      <p:grpSpPr>
        <a:xfrm>
          <a:off x="0" y="0"/>
          <a:ext cx="0" cy="0"/>
          <a:chOff x="0" y="0"/>
          <a:chExt cx="0" cy="0"/>
        </a:xfrm>
      </p:grpSpPr>
      <p:pic>
        <p:nvPicPr>
          <p:cNvPr id="2" name="Image 0" descr="/Users/pdoran/Documents/Claude/TestDataGenerator/assets/logo-1024.png">    </p:cNvPr>
          <p:cNvPicPr>
            <a:picLocks noChangeAspect="1"/>
          </p:cNvPicPr>
          <p:nvPr/>
        </p:nvPicPr>
        <p:blipFill>
          <a:blip r:embed="rId1"/>
          <a:stretch>
            <a:fillRect/>
          </a:stretch>
        </p:blipFill>
        <p:spPr>
          <a:xfrm>
            <a:off x="548640" y="1417320"/>
            <a:ext cx="1508760" cy="1508760"/>
          </a:xfrm>
          <a:prstGeom prst="rect">
            <a:avLst/>
          </a:prstGeom>
        </p:spPr>
      </p:pic>
      <p:sp>
        <p:nvSpPr>
          <p:cNvPr id="3" name="Text 0"/>
          <p:cNvSpPr txBox="1"/>
          <p:nvPr/>
        </p:nvSpPr>
        <p:spPr>
          <a:xfrm>
            <a:off x="548640" y="3154680"/>
            <a:ext cx="7315200" cy="82296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TDG</a:t>
            </a:r>
            <a:endParaRPr lang="en-US" sz="6000" dirty="0"/>
          </a:p>
        </p:txBody>
      </p:sp>
      <p:sp>
        <p:nvSpPr>
          <p:cNvPr id="4" name="Text 1"/>
          <p:cNvSpPr txBox="1"/>
          <p:nvPr/>
        </p:nvSpPr>
        <p:spPr>
          <a:xfrm>
            <a:off x="548640" y="3977640"/>
            <a:ext cx="8229600" cy="457200"/>
          </a:xfrm>
          <a:prstGeom prst="rect">
            <a:avLst/>
          </a:prstGeom>
          <a:noFill/>
          <a:ln/>
        </p:spPr>
        <p:txBody>
          <a:bodyPr wrap="square" lIns="0" tIns="0" rIns="0" bIns="0" rtlCol="0" anchor="ctr"/>
          <a:lstStyle/>
          <a:p>
            <a:pPr indent="0" marL="0">
              <a:buNone/>
            </a:pPr>
            <a:r>
              <a:rPr lang="en-US" sz="2500" dirty="0">
                <a:solidFill>
                  <a:srgbClr val="AACABD"/>
                </a:solidFill>
                <a:latin typeface="Cambria" pitchFamily="34" charset="0"/>
                <a:ea typeface="Cambria" pitchFamily="34" charset="-122"/>
                <a:cs typeface="Cambria" pitchFamily="34" charset="-120"/>
              </a:rPr>
              <a:t>Mobile Test Data Generator</a:t>
            </a:r>
            <a:endParaRPr lang="en-US" sz="2500" dirty="0"/>
          </a:p>
        </p:txBody>
      </p:sp>
      <p:sp>
        <p:nvSpPr>
          <p:cNvPr id="5" name="Text 2"/>
          <p:cNvSpPr txBox="1"/>
          <p:nvPr/>
        </p:nvSpPr>
        <p:spPr>
          <a:xfrm>
            <a:off x="548640" y="4572000"/>
            <a:ext cx="7863840" cy="822960"/>
          </a:xfrm>
          <a:prstGeom prst="rect">
            <a:avLst/>
          </a:prstGeom>
          <a:noFill/>
          <a:ln/>
        </p:spPr>
        <p:txBody>
          <a:bodyPr wrap="square" lIns="0" tIns="0" rIns="0" bIns="0" rtlCol="0" anchor="ctr"/>
          <a:lstStyle/>
          <a:p>
            <a:pPr indent="0" marL="0">
              <a:lnSpc>
                <a:spcPts val="2200"/>
              </a:lnSpc>
              <a:buNone/>
            </a:pPr>
            <a:r>
              <a:rPr lang="en-US" sz="1450" dirty="0">
                <a:solidFill>
                  <a:srgbClr val="C9DBD3"/>
                </a:solidFill>
                <a:latin typeface="Calibri" pitchFamily="34" charset="0"/>
                <a:ea typeface="Calibri" pitchFamily="34" charset="-122"/>
                <a:cs typeface="Calibri" pitchFamily="34" charset="-120"/>
              </a:rPr>
              <a:t>Fill any iPhone or Android device with N gigabytes of realistic photos and video —</a:t>
            </a:r>
            <a:endParaRPr lang="en-US" sz="1450" dirty="0"/>
          </a:p>
          <a:p>
            <a:pPr indent="0" marL="0">
              <a:lnSpc>
                <a:spcPts val="2200"/>
              </a:lnSpc>
              <a:buNone/>
            </a:pPr>
            <a:r>
              <a:rPr lang="en-US" sz="1450" dirty="0">
                <a:solidFill>
                  <a:srgbClr val="C9DBD3"/>
                </a:solidFill>
                <a:latin typeface="Calibri" pitchFamily="34" charset="0"/>
                <a:ea typeface="Calibri" pitchFamily="34" charset="-122"/>
                <a:cs typeface="Calibri" pitchFamily="34" charset="-120"/>
              </a:rPr>
              <a:t>in the native camera roll, with believable metadata — and wipe it again on demand.</a:t>
            </a:r>
            <a:endParaRPr lang="en-US" sz="1450" dirty="0"/>
          </a:p>
        </p:txBody>
      </p:sp>
      <p:sp>
        <p:nvSpPr>
          <p:cNvPr id="6" name="Text 3"/>
          <p:cNvSpPr txBox="1"/>
          <p:nvPr/>
        </p:nvSpPr>
        <p:spPr>
          <a:xfrm>
            <a:off x="8686800" y="1572768"/>
            <a:ext cx="2926080" cy="566928"/>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7</a:t>
            </a:r>
            <a:endParaRPr lang="en-US" sz="3400" dirty="0"/>
          </a:p>
        </p:txBody>
      </p:sp>
      <p:sp>
        <p:nvSpPr>
          <p:cNvPr id="7" name="Text 4"/>
          <p:cNvSpPr txBox="1"/>
          <p:nvPr/>
        </p:nvSpPr>
        <p:spPr>
          <a:xfrm>
            <a:off x="8686800" y="2121408"/>
            <a:ext cx="292608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phases built</a:t>
            </a:r>
            <a:endParaRPr lang="en-US" sz="1400" dirty="0"/>
          </a:p>
        </p:txBody>
      </p:sp>
      <p:sp>
        <p:nvSpPr>
          <p:cNvPr id="8" name="Text 5"/>
          <p:cNvSpPr txBox="1"/>
          <p:nvPr/>
        </p:nvSpPr>
        <p:spPr>
          <a:xfrm>
            <a:off x="8686800" y="2798064"/>
            <a:ext cx="2926080" cy="566928"/>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4 of 6</a:t>
            </a:r>
            <a:endParaRPr lang="en-US" sz="3400" dirty="0"/>
          </a:p>
        </p:txBody>
      </p:sp>
      <p:sp>
        <p:nvSpPr>
          <p:cNvPr id="9" name="Text 6"/>
          <p:cNvSpPr txBox="1"/>
          <p:nvPr/>
        </p:nvSpPr>
        <p:spPr>
          <a:xfrm>
            <a:off x="8686800" y="3346704"/>
            <a:ext cx="292608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devices verified</a:t>
            </a:r>
            <a:endParaRPr lang="en-US" sz="1400" dirty="0"/>
          </a:p>
        </p:txBody>
      </p:sp>
      <p:sp>
        <p:nvSpPr>
          <p:cNvPr id="10" name="Text 7"/>
          <p:cNvSpPr txBox="1"/>
          <p:nvPr/>
        </p:nvSpPr>
        <p:spPr>
          <a:xfrm>
            <a:off x="8686800" y="4023360"/>
            <a:ext cx="2926080" cy="566928"/>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190</a:t>
            </a:r>
            <a:endParaRPr lang="en-US" sz="3400" dirty="0"/>
          </a:p>
        </p:txBody>
      </p:sp>
      <p:sp>
        <p:nvSpPr>
          <p:cNvPr id="11" name="Text 8"/>
          <p:cNvSpPr txBox="1"/>
          <p:nvPr/>
        </p:nvSpPr>
        <p:spPr>
          <a:xfrm>
            <a:off x="8686800" y="4572000"/>
            <a:ext cx="292608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automated checks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THE PROBLEM</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Testing a gallery app needs a gallery</a:t>
            </a:r>
            <a:endParaRPr lang="en-US" sz="3200" dirty="0"/>
          </a:p>
        </p:txBody>
      </p:sp>
      <p:sp>
        <p:nvSpPr>
          <p:cNvPr id="4" name="Text 2"/>
          <p:cNvSpPr txBox="1"/>
          <p:nvPr/>
        </p:nvSpPr>
        <p:spPr>
          <a:xfrm>
            <a:off x="548640" y="1554480"/>
            <a:ext cx="6309360" cy="3657600"/>
          </a:xfrm>
          <a:prstGeom prst="rect">
            <a:avLst/>
          </a:prstGeom>
          <a:noFill/>
          <a:ln/>
        </p:spPr>
        <p:txBody>
          <a:bodyPr wrap="square" lIns="0" tIns="0" rIns="0" bIns="0" rtlCol="0" anchor="t"/>
          <a:lstStyle/>
          <a:p>
            <a:pPr indent="0" marL="0">
              <a:lnSpc>
                <a:spcPts val="2100"/>
              </a:lnSpc>
              <a:spcAft>
                <a:spcPts val="1000"/>
              </a:spcAft>
              <a:buNone/>
            </a:pPr>
            <a:r>
              <a:rPr lang="en-US" sz="1450" dirty="0">
                <a:solidFill>
                  <a:srgbClr val="1B1A18"/>
                </a:solidFill>
                <a:latin typeface="Calibri" pitchFamily="34" charset="0"/>
                <a:ea typeface="Calibri" pitchFamily="34" charset="-122"/>
                <a:cs typeface="Calibri" pitchFamily="34" charset="-120"/>
              </a:rPr>
              <a:t>Backup clients, dedupe engines, timeline and album grouping, migration tools — all of them are only as good as the library you point them at.</a:t>
            </a:r>
            <a:endParaRPr lang="en-US" sz="1450" dirty="0"/>
          </a:p>
          <a:p>
            <a:pPr indent="0" marL="0">
              <a:lnSpc>
                <a:spcPts val="2100"/>
              </a:lnSpc>
              <a:spcAft>
                <a:spcPts val="1000"/>
              </a:spcAft>
              <a:buNone/>
            </a:pPr>
            <a:r>
              <a:rPr lang="en-US" sz="1450" dirty="0">
                <a:solidFill>
                  <a:srgbClr val="1B1A18"/>
                </a:solidFill>
                <a:latin typeface="Calibri" pitchFamily="34" charset="0"/>
                <a:ea typeface="Calibri" pitchFamily="34" charset="-122"/>
                <a:cs typeface="Calibri" pitchFamily="34" charset="-120"/>
              </a:rPr>
              <a:t>And a realistic library is hard to come by:</a:t>
            </a:r>
            <a:endParaRPr lang="en-US" sz="1450" dirty="0"/>
          </a:p>
          <a:p>
            <a:pPr marL="342900" indent="-342900">
              <a:lnSpc>
                <a:spcPts val="2100"/>
              </a:lnSpc>
              <a:spcAft>
                <a:spcPts val="600"/>
              </a:spcAft>
              <a:buSzPct val="100000"/>
              <a:buChar char="•"/>
            </a:pPr>
            <a:r>
              <a:rPr lang="en-US" sz="1450" dirty="0">
                <a:solidFill>
                  <a:srgbClr val="1B1A18"/>
                </a:solidFill>
                <a:latin typeface="Calibri" pitchFamily="34" charset="0"/>
                <a:ea typeface="Calibri" pitchFamily="34" charset="-122"/>
                <a:cs typeface="Calibri" pitchFamily="34" charset="-120"/>
              </a:rPr>
              <a:t>hand-curating thousands of assets is impractical, and nobody wants to test against real customer photos</a:t>
            </a:r>
            <a:endParaRPr lang="en-US" sz="1450" dirty="0"/>
          </a:p>
          <a:p>
            <a:pPr marL="342900" indent="-342900">
              <a:lnSpc>
                <a:spcPts val="2100"/>
              </a:lnSpc>
              <a:spcAft>
                <a:spcPts val="600"/>
              </a:spcAft>
              <a:buSzPct val="100000"/>
              <a:buChar char="•"/>
            </a:pPr>
            <a:r>
              <a:rPr lang="en-US" sz="1450" dirty="0">
                <a:solidFill>
                  <a:srgbClr val="1B1A18"/>
                </a:solidFill>
                <a:latin typeface="Calibri" pitchFamily="34" charset="0"/>
                <a:ea typeface="Calibri" pitchFamily="34" charset="-122"/>
                <a:cs typeface="Calibri" pitchFamily="34" charset="-120"/>
              </a:rPr>
              <a:t>copied files are not enough — a gallery indexes metadata, not bytes on disk</a:t>
            </a:r>
            <a:endParaRPr lang="en-US" sz="1450" dirty="0"/>
          </a:p>
          <a:p>
            <a:pPr marL="342900" indent="-342900">
              <a:lnSpc>
                <a:spcPts val="2100"/>
              </a:lnSpc>
              <a:spcAft>
                <a:spcPts val="600"/>
              </a:spcAft>
              <a:buSzPct val="100000"/>
              <a:buChar char="•"/>
            </a:pPr>
            <a:r>
              <a:rPr lang="en-US" sz="1450" dirty="0">
                <a:solidFill>
                  <a:srgbClr val="1B1A18"/>
                </a:solidFill>
                <a:latin typeface="Calibri" pitchFamily="34" charset="0"/>
                <a:ea typeface="Calibri" pitchFamily="34" charset="-122"/>
                <a:cs typeface="Calibri" pitchFamily="34" charset="-120"/>
              </a:rPr>
              <a:t>"about 25 GB" is not a test — storage and quota bugs live at exact boundaries</a:t>
            </a:r>
            <a:endParaRPr lang="en-US" sz="1450" dirty="0"/>
          </a:p>
          <a:p>
            <a:pPr marL="342900" indent="-342900">
              <a:lnSpc>
                <a:spcPts val="2100"/>
              </a:lnSpc>
              <a:buSzPct val="100000"/>
              <a:buChar char="•"/>
            </a:pPr>
            <a:r>
              <a:rPr lang="en-US" sz="1450" dirty="0">
                <a:solidFill>
                  <a:srgbClr val="1B1A18"/>
                </a:solidFill>
                <a:latin typeface="Calibri" pitchFamily="34" charset="0"/>
                <a:ea typeface="Calibri" pitchFamily="34" charset="-122"/>
                <a:cs typeface="Calibri" pitchFamily="34" charset="-120"/>
              </a:rPr>
              <a:t>and whatever you put on the device, you have to get back off it</a:t>
            </a:r>
            <a:endParaRPr lang="en-US" sz="1450" dirty="0"/>
          </a:p>
        </p:txBody>
      </p:sp>
      <p:sp>
        <p:nvSpPr>
          <p:cNvPr id="5" name="Shape 3"/>
          <p:cNvSpPr/>
          <p:nvPr/>
        </p:nvSpPr>
        <p:spPr>
          <a:xfrm>
            <a:off x="7223760" y="1572768"/>
            <a:ext cx="4389120" cy="1097280"/>
          </a:xfrm>
          <a:prstGeom prst="roundRect">
            <a:avLst>
              <a:gd name="adj" fmla="val 7500"/>
            </a:avLst>
          </a:prstGeom>
          <a:solidFill>
            <a:srgbClr val="E4EEE9"/>
          </a:solidFill>
          <a:ln w="12700">
            <a:solidFill>
              <a:srgbClr val="E4EEE9"/>
            </a:solidFill>
            <a:prstDash val="solid"/>
          </a:ln>
        </p:spPr>
      </p:sp>
      <p:sp>
        <p:nvSpPr>
          <p:cNvPr id="6" name="Text 4"/>
          <p:cNvSpPr txBox="1"/>
          <p:nvPr/>
        </p:nvSpPr>
        <p:spPr>
          <a:xfrm>
            <a:off x="7498080" y="1709928"/>
            <a:ext cx="3840480" cy="347472"/>
          </a:xfrm>
          <a:prstGeom prst="rect">
            <a:avLst/>
          </a:prstGeom>
          <a:noFill/>
          <a:ln/>
        </p:spPr>
        <p:txBody>
          <a:bodyPr wrap="square" lIns="0" tIns="0" rIns="0" bIns="0" rtlCol="0" anchor="ctr"/>
          <a:lstStyle/>
          <a:p>
            <a:pPr indent="0" marL="0">
              <a:buNone/>
            </a:pPr>
            <a:r>
              <a:rPr lang="en-US" sz="1800" b="1" dirty="0">
                <a:solidFill>
                  <a:srgbClr val="2F5D50"/>
                </a:solidFill>
                <a:latin typeface="Cambria" pitchFamily="34" charset="0"/>
                <a:ea typeface="Cambria" pitchFamily="34" charset="-122"/>
                <a:cs typeface="Cambria" pitchFamily="34" charset="-120"/>
              </a:rPr>
              <a:t>Exact</a:t>
            </a:r>
            <a:endParaRPr lang="en-US" sz="1800" dirty="0"/>
          </a:p>
        </p:txBody>
      </p:sp>
      <p:sp>
        <p:nvSpPr>
          <p:cNvPr id="7" name="Text 5"/>
          <p:cNvSpPr txBox="1"/>
          <p:nvPr/>
        </p:nvSpPr>
        <p:spPr>
          <a:xfrm>
            <a:off x="7498080" y="2084832"/>
            <a:ext cx="3931920" cy="475488"/>
          </a:xfrm>
          <a:prstGeom prst="rect">
            <a:avLst/>
          </a:prstGeom>
          <a:noFill/>
          <a:ln/>
        </p:spPr>
        <p:txBody>
          <a:bodyPr wrap="square" lIns="0" tIns="0" rIns="0" bIns="0" rtlCol="0" anchor="t"/>
          <a:lstStyle/>
          <a:p>
            <a:pPr indent="0" marL="0">
              <a:buNone/>
            </a:pPr>
            <a:r>
              <a:rPr lang="en-US" sz="1400" dirty="0">
                <a:solidFill>
                  <a:srgbClr val="6D6A64"/>
                </a:solidFill>
                <a:latin typeface="Calibri" pitchFamily="34" charset="0"/>
                <a:ea typeface="Calibri" pitchFamily="34" charset="-122"/>
                <a:cs typeface="Calibri" pitchFamily="34" charset="-120"/>
              </a:rPr>
              <a:t>byte-accurate size targets, not estimates</a:t>
            </a:r>
            <a:endParaRPr lang="en-US" sz="1400" dirty="0"/>
          </a:p>
        </p:txBody>
      </p:sp>
      <p:sp>
        <p:nvSpPr>
          <p:cNvPr id="8" name="Shape 6"/>
          <p:cNvSpPr/>
          <p:nvPr/>
        </p:nvSpPr>
        <p:spPr>
          <a:xfrm>
            <a:off x="7223760" y="2852928"/>
            <a:ext cx="4389120" cy="1097280"/>
          </a:xfrm>
          <a:prstGeom prst="roundRect">
            <a:avLst>
              <a:gd name="adj" fmla="val 7500"/>
            </a:avLst>
          </a:prstGeom>
          <a:solidFill>
            <a:srgbClr val="E4EEE9"/>
          </a:solidFill>
          <a:ln w="12700">
            <a:solidFill>
              <a:srgbClr val="E4EEE9"/>
            </a:solidFill>
            <a:prstDash val="solid"/>
          </a:ln>
        </p:spPr>
      </p:sp>
      <p:sp>
        <p:nvSpPr>
          <p:cNvPr id="9" name="Text 7"/>
          <p:cNvSpPr txBox="1"/>
          <p:nvPr/>
        </p:nvSpPr>
        <p:spPr>
          <a:xfrm>
            <a:off x="7498080" y="2990088"/>
            <a:ext cx="3840480" cy="347472"/>
          </a:xfrm>
          <a:prstGeom prst="rect">
            <a:avLst/>
          </a:prstGeom>
          <a:noFill/>
          <a:ln/>
        </p:spPr>
        <p:txBody>
          <a:bodyPr wrap="square" lIns="0" tIns="0" rIns="0" bIns="0" rtlCol="0" anchor="ctr"/>
          <a:lstStyle/>
          <a:p>
            <a:pPr indent="0" marL="0">
              <a:buNone/>
            </a:pPr>
            <a:r>
              <a:rPr lang="en-US" sz="1800" b="1" dirty="0">
                <a:solidFill>
                  <a:srgbClr val="2F5D50"/>
                </a:solidFill>
                <a:latin typeface="Cambria" pitchFamily="34" charset="0"/>
                <a:ea typeface="Cambria" pitchFamily="34" charset="-122"/>
                <a:cs typeface="Cambria" pitchFamily="34" charset="-120"/>
              </a:rPr>
              <a:t>Real</a:t>
            </a:r>
            <a:endParaRPr lang="en-US" sz="1800" dirty="0"/>
          </a:p>
        </p:txBody>
      </p:sp>
      <p:sp>
        <p:nvSpPr>
          <p:cNvPr id="10" name="Text 8"/>
          <p:cNvSpPr txBox="1"/>
          <p:nvPr/>
        </p:nvSpPr>
        <p:spPr>
          <a:xfrm>
            <a:off x="7498080" y="3364992"/>
            <a:ext cx="3931920" cy="475488"/>
          </a:xfrm>
          <a:prstGeom prst="rect">
            <a:avLst/>
          </a:prstGeom>
          <a:noFill/>
          <a:ln/>
        </p:spPr>
        <p:txBody>
          <a:bodyPr wrap="square" lIns="0" tIns="0" rIns="0" bIns="0" rtlCol="0" anchor="t"/>
          <a:lstStyle/>
          <a:p>
            <a:pPr indent="0" marL="0">
              <a:buNone/>
            </a:pPr>
            <a:r>
              <a:rPr lang="en-US" sz="1400" dirty="0">
                <a:solidFill>
                  <a:srgbClr val="6D6A64"/>
                </a:solidFill>
                <a:latin typeface="Calibri" pitchFamily="34" charset="0"/>
                <a:ea typeface="Calibri" pitchFamily="34" charset="-122"/>
                <a:cs typeface="Calibri" pitchFamily="34" charset="-120"/>
              </a:rPr>
              <a:t>metadata a gallery will actually index</a:t>
            </a:r>
            <a:endParaRPr lang="en-US" sz="1400" dirty="0"/>
          </a:p>
        </p:txBody>
      </p:sp>
      <p:sp>
        <p:nvSpPr>
          <p:cNvPr id="11" name="Shape 9"/>
          <p:cNvSpPr/>
          <p:nvPr/>
        </p:nvSpPr>
        <p:spPr>
          <a:xfrm>
            <a:off x="7223760" y="4133088"/>
            <a:ext cx="4389120" cy="1097280"/>
          </a:xfrm>
          <a:prstGeom prst="roundRect">
            <a:avLst>
              <a:gd name="adj" fmla="val 7500"/>
            </a:avLst>
          </a:prstGeom>
          <a:solidFill>
            <a:srgbClr val="E4EEE9"/>
          </a:solidFill>
          <a:ln w="12700">
            <a:solidFill>
              <a:srgbClr val="E4EEE9"/>
            </a:solidFill>
            <a:prstDash val="solid"/>
          </a:ln>
        </p:spPr>
      </p:sp>
      <p:sp>
        <p:nvSpPr>
          <p:cNvPr id="12" name="Text 10"/>
          <p:cNvSpPr txBox="1"/>
          <p:nvPr/>
        </p:nvSpPr>
        <p:spPr>
          <a:xfrm>
            <a:off x="7498080" y="4270248"/>
            <a:ext cx="3840480" cy="347472"/>
          </a:xfrm>
          <a:prstGeom prst="rect">
            <a:avLst/>
          </a:prstGeom>
          <a:noFill/>
          <a:ln/>
        </p:spPr>
        <p:txBody>
          <a:bodyPr wrap="square" lIns="0" tIns="0" rIns="0" bIns="0" rtlCol="0" anchor="ctr"/>
          <a:lstStyle/>
          <a:p>
            <a:pPr indent="0" marL="0">
              <a:buNone/>
            </a:pPr>
            <a:r>
              <a:rPr lang="en-US" sz="1800" b="1" dirty="0">
                <a:solidFill>
                  <a:srgbClr val="2F5D50"/>
                </a:solidFill>
                <a:latin typeface="Cambria" pitchFamily="34" charset="0"/>
                <a:ea typeface="Cambria" pitchFamily="34" charset="-122"/>
                <a:cs typeface="Cambria" pitchFamily="34" charset="-120"/>
              </a:rPr>
              <a:t>Reversible</a:t>
            </a:r>
            <a:endParaRPr lang="en-US" sz="1800" dirty="0"/>
          </a:p>
        </p:txBody>
      </p:sp>
      <p:sp>
        <p:nvSpPr>
          <p:cNvPr id="13" name="Text 11"/>
          <p:cNvSpPr txBox="1"/>
          <p:nvPr/>
        </p:nvSpPr>
        <p:spPr>
          <a:xfrm>
            <a:off x="7498080" y="4645152"/>
            <a:ext cx="3931920" cy="475488"/>
          </a:xfrm>
          <a:prstGeom prst="rect">
            <a:avLst/>
          </a:prstGeom>
          <a:noFill/>
          <a:ln/>
        </p:spPr>
        <p:txBody>
          <a:bodyPr wrap="square" lIns="0" tIns="0" rIns="0" bIns="0" rtlCol="0" anchor="t"/>
          <a:lstStyle/>
          <a:p>
            <a:pPr indent="0" marL="0">
              <a:buNone/>
            </a:pPr>
            <a:r>
              <a:rPr lang="en-US" sz="1400" dirty="0">
                <a:solidFill>
                  <a:srgbClr val="6D6A64"/>
                </a:solidFill>
                <a:latin typeface="Calibri" pitchFamily="34" charset="0"/>
                <a:ea typeface="Calibri" pitchFamily="34" charset="-122"/>
                <a:cs typeface="Calibri" pitchFamily="34" charset="-120"/>
              </a:rPr>
              <a:t>every asset removable on demand</a:t>
            </a:r>
            <a:endParaRPr lang="en-US" sz="1400" dirty="0"/>
          </a:p>
        </p:txBody>
      </p:sp>
      <p:sp>
        <p:nvSpPr>
          <p:cNvPr id="14" name="Text 12"/>
          <p:cNvSpPr txBox="1"/>
          <p:nvPr/>
        </p:nvSpPr>
        <p:spPr>
          <a:xfrm>
            <a:off x="548640" y="5577840"/>
            <a:ext cx="11064240" cy="384048"/>
          </a:xfrm>
          <a:prstGeom prst="rect">
            <a:avLst/>
          </a:prstGeom>
          <a:noFill/>
          <a:ln/>
        </p:spPr>
        <p:txBody>
          <a:bodyPr wrap="square" lIns="0" tIns="0" rIns="0" bIns="0" rtlCol="0" anchor="ctr"/>
          <a:lstStyle/>
          <a:p>
            <a:pPr indent="0" marL="0">
              <a:buNone/>
            </a:pPr>
            <a:r>
              <a:rPr lang="en-US" sz="1600" i="1" dirty="0">
                <a:solidFill>
                  <a:srgbClr val="9C4A32"/>
                </a:solidFill>
                <a:latin typeface="Cambria" pitchFamily="34" charset="0"/>
                <a:ea typeface="Cambria" pitchFamily="34" charset="-122"/>
                <a:cs typeface="Cambria" pitchFamily="34" charset="-120"/>
              </a:rPr>
              <a:t>A test you cannot undo is a test you run once.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THE CONSTRAINT THAT SHAPES EVERYTHING</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A browser cannot write to the camera roll</a:t>
            </a:r>
            <a:endParaRPr lang="en-US" sz="3200" dirty="0"/>
          </a:p>
        </p:txBody>
      </p:sp>
      <p:sp>
        <p:nvSpPr>
          <p:cNvPr id="4" name="Text 2"/>
          <p:cNvSpPr txBox="1"/>
          <p:nvPr/>
        </p:nvSpPr>
        <p:spPr>
          <a:xfrm>
            <a:off x="548640" y="1426464"/>
            <a:ext cx="11064240" cy="329184"/>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This single fact determines the whole architecture. Downloads land in a sandbox, not the gallery.</a:t>
            </a:r>
            <a:endParaRPr lang="en-US" sz="1400" dirty="0"/>
          </a:p>
        </p:txBody>
      </p:sp>
      <p:sp>
        <p:nvSpPr>
          <p:cNvPr id="5" name="Shape 3"/>
          <p:cNvSpPr/>
          <p:nvPr/>
        </p:nvSpPr>
        <p:spPr>
          <a:xfrm>
            <a:off x="548640" y="1938528"/>
            <a:ext cx="11064240" cy="1005840"/>
          </a:xfrm>
          <a:prstGeom prst="roundRect">
            <a:avLst>
              <a:gd name="adj" fmla="val 8182"/>
            </a:avLst>
          </a:prstGeom>
          <a:solidFill>
            <a:srgbClr val="E4EEE9"/>
          </a:solidFill>
          <a:ln w="12700">
            <a:solidFill>
              <a:srgbClr val="E4EEE9"/>
            </a:solidFill>
            <a:prstDash val="solid"/>
          </a:ln>
        </p:spPr>
      </p:sp>
      <p:sp>
        <p:nvSpPr>
          <p:cNvPr id="6" name="Text 4"/>
          <p:cNvSpPr txBox="1"/>
          <p:nvPr/>
        </p:nvSpPr>
        <p:spPr>
          <a:xfrm>
            <a:off x="868680" y="2084832"/>
            <a:ext cx="2011680" cy="71323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Android</a:t>
            </a:r>
            <a:endParaRPr lang="en-US" sz="1700" dirty="0"/>
          </a:p>
        </p:txBody>
      </p:sp>
      <p:sp>
        <p:nvSpPr>
          <p:cNvPr id="7" name="Text 5"/>
          <p:cNvSpPr txBox="1"/>
          <p:nvPr/>
        </p:nvSpPr>
        <p:spPr>
          <a:xfrm>
            <a:off x="2926080" y="2084832"/>
            <a:ext cx="4114800" cy="713232"/>
          </a:xfrm>
          <a:prstGeom prst="rect">
            <a:avLst/>
          </a:prstGeom>
          <a:noFill/>
          <a:ln/>
        </p:spPr>
        <p:txBody>
          <a:bodyPr wrap="square" lIns="0" tIns="0" rIns="0" bIns="0" rtlCol="0" anchor="ctr"/>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Downloads reach /Download. Whether the gallery ever indexes them is the OEM's choice.</a:t>
            </a:r>
            <a:endParaRPr lang="en-US" sz="1400" dirty="0"/>
          </a:p>
        </p:txBody>
      </p:sp>
      <p:sp>
        <p:nvSpPr>
          <p:cNvPr id="8" name="Text 6"/>
          <p:cNvSpPr txBox="1"/>
          <p:nvPr/>
        </p:nvSpPr>
        <p:spPr>
          <a:xfrm>
            <a:off x="7269480" y="2084832"/>
            <a:ext cx="4069080" cy="713232"/>
          </a:xfrm>
          <a:prstGeom prst="rect">
            <a:avLst/>
          </a:prstGeom>
          <a:noFill/>
          <a:ln/>
        </p:spPr>
        <p:txBody>
          <a:bodyPr wrap="square" lIns="0" tIns="0" rIns="0" bIns="0" rtlCol="0" anchor="ctr"/>
          <a:lstStyle/>
          <a:p>
            <a:pPr indent="0" marL="0">
              <a:lnSpc>
                <a:spcPts val="1800"/>
              </a:lnSpc>
              <a:buNone/>
            </a:pPr>
            <a:r>
              <a:rPr lang="en-US" sz="1400" b="1" dirty="0">
                <a:solidFill>
                  <a:srgbClr val="1B1A18"/>
                </a:solidFill>
                <a:latin typeface="Calibri" pitchFamily="34" charset="0"/>
                <a:ea typeface="Calibri" pitchFamily="34" charset="-122"/>
                <a:cs typeface="Calibri" pitchFamily="34" charset="-120"/>
              </a:rPr>
              <a:t>MediaStore.insert() from a native app — no storage permission needed</a:t>
            </a:r>
            <a:endParaRPr lang="en-US" sz="1400" dirty="0"/>
          </a:p>
        </p:txBody>
      </p:sp>
      <p:sp>
        <p:nvSpPr>
          <p:cNvPr id="9" name="Shape 7"/>
          <p:cNvSpPr/>
          <p:nvPr/>
        </p:nvSpPr>
        <p:spPr>
          <a:xfrm>
            <a:off x="548640" y="3108960"/>
            <a:ext cx="11064240" cy="1005840"/>
          </a:xfrm>
          <a:prstGeom prst="roundRect">
            <a:avLst>
              <a:gd name="adj" fmla="val 8182"/>
            </a:avLst>
          </a:prstGeom>
          <a:solidFill>
            <a:srgbClr val="E4EEE9"/>
          </a:solidFill>
          <a:ln w="12700">
            <a:solidFill>
              <a:srgbClr val="E4EEE9"/>
            </a:solidFill>
            <a:prstDash val="solid"/>
          </a:ln>
        </p:spPr>
      </p:sp>
      <p:sp>
        <p:nvSpPr>
          <p:cNvPr id="10" name="Text 8"/>
          <p:cNvSpPr txBox="1"/>
          <p:nvPr/>
        </p:nvSpPr>
        <p:spPr>
          <a:xfrm>
            <a:off x="868680" y="3255264"/>
            <a:ext cx="2011680" cy="71323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iOS</a:t>
            </a:r>
            <a:endParaRPr lang="en-US" sz="1700" dirty="0"/>
          </a:p>
        </p:txBody>
      </p:sp>
      <p:sp>
        <p:nvSpPr>
          <p:cNvPr id="11" name="Text 9"/>
          <p:cNvSpPr txBox="1"/>
          <p:nvPr/>
        </p:nvSpPr>
        <p:spPr>
          <a:xfrm>
            <a:off x="2926080" y="3255264"/>
            <a:ext cx="4114800" cy="713232"/>
          </a:xfrm>
          <a:prstGeom prst="rect">
            <a:avLst/>
          </a:prstGeom>
          <a:noFill/>
          <a:ln/>
        </p:spPr>
        <p:txBody>
          <a:bodyPr wrap="square" lIns="0" tIns="0" rIns="0" bIns="0" rtlCol="0" anchor="ctr"/>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Safari saves to Files. "Save to Photos" is one asset at a time, by hand.</a:t>
            </a:r>
            <a:endParaRPr lang="en-US" sz="1400" dirty="0"/>
          </a:p>
        </p:txBody>
      </p:sp>
      <p:sp>
        <p:nvSpPr>
          <p:cNvPr id="12" name="Text 10"/>
          <p:cNvSpPr txBox="1"/>
          <p:nvPr/>
        </p:nvSpPr>
        <p:spPr>
          <a:xfrm>
            <a:off x="7269480" y="3255264"/>
            <a:ext cx="4069080" cy="713232"/>
          </a:xfrm>
          <a:prstGeom prst="rect">
            <a:avLst/>
          </a:prstGeom>
          <a:noFill/>
          <a:ln/>
        </p:spPr>
        <p:txBody>
          <a:bodyPr wrap="square" lIns="0" tIns="0" rIns="0" bIns="0" rtlCol="0" anchor="ctr"/>
          <a:lstStyle/>
          <a:p>
            <a:pPr indent="0" marL="0">
              <a:lnSpc>
                <a:spcPts val="1800"/>
              </a:lnSpc>
              <a:buNone/>
            </a:pPr>
            <a:r>
              <a:rPr lang="en-US" sz="1400" b="1" dirty="0">
                <a:solidFill>
                  <a:srgbClr val="1B1A18"/>
                </a:solidFill>
                <a:latin typeface="Calibri" pitchFamily="34" charset="0"/>
                <a:ea typeface="Calibri" pitchFamily="34" charset="-122"/>
                <a:cs typeface="Calibri" pitchFamily="34" charset="-120"/>
              </a:rPr>
              <a:t>PHAssetCreationRequest from a native app — add-only permission</a:t>
            </a:r>
            <a:endParaRPr lang="en-US" sz="1400" dirty="0"/>
          </a:p>
        </p:txBody>
      </p:sp>
      <p:sp>
        <p:nvSpPr>
          <p:cNvPr id="13" name="Shape 11"/>
          <p:cNvSpPr/>
          <p:nvPr/>
        </p:nvSpPr>
        <p:spPr>
          <a:xfrm>
            <a:off x="548640" y="4279392"/>
            <a:ext cx="11064240" cy="1005840"/>
          </a:xfrm>
          <a:prstGeom prst="roundRect">
            <a:avLst>
              <a:gd name="adj" fmla="val 8182"/>
            </a:avLst>
          </a:prstGeom>
          <a:solidFill>
            <a:srgbClr val="F3E6E2"/>
          </a:solidFill>
          <a:ln w="12700">
            <a:solidFill>
              <a:srgbClr val="F3E6E2"/>
            </a:solidFill>
            <a:prstDash val="solid"/>
          </a:ln>
        </p:spPr>
      </p:sp>
      <p:sp>
        <p:nvSpPr>
          <p:cNvPr id="14" name="Text 12"/>
          <p:cNvSpPr txBox="1"/>
          <p:nvPr/>
        </p:nvSpPr>
        <p:spPr>
          <a:xfrm>
            <a:off x="868680" y="4425696"/>
            <a:ext cx="2011680" cy="713232"/>
          </a:xfrm>
          <a:prstGeom prst="rect">
            <a:avLst/>
          </a:prstGeom>
          <a:noFill/>
          <a:ln/>
        </p:spPr>
        <p:txBody>
          <a:bodyPr wrap="square" lIns="0" tIns="0" rIns="0" bIns="0" rtlCol="0" anchor="ctr"/>
          <a:lstStyle/>
          <a:p>
            <a:pPr indent="0" marL="0">
              <a:buNone/>
            </a:pPr>
            <a:r>
              <a:rPr lang="en-US" sz="1700" b="1" dirty="0">
                <a:solidFill>
                  <a:srgbClr val="9C4A32"/>
                </a:solidFill>
                <a:latin typeface="Cambria" pitchFamily="34" charset="0"/>
                <a:ea typeface="Cambria" pitchFamily="34" charset="-122"/>
                <a:cs typeface="Cambria" pitchFamily="34" charset="-120"/>
              </a:rPr>
              <a:t>iOS over AFC</a:t>
            </a:r>
            <a:endParaRPr lang="en-US" sz="1700" dirty="0"/>
          </a:p>
        </p:txBody>
      </p:sp>
      <p:sp>
        <p:nvSpPr>
          <p:cNvPr id="15" name="Text 13"/>
          <p:cNvSpPr txBox="1"/>
          <p:nvPr/>
        </p:nvSpPr>
        <p:spPr>
          <a:xfrm>
            <a:off x="2926080" y="4425696"/>
            <a:ext cx="4114800" cy="713232"/>
          </a:xfrm>
          <a:prstGeom prst="rect">
            <a:avLst/>
          </a:prstGeom>
          <a:noFill/>
          <a:ln/>
        </p:spPr>
        <p:txBody>
          <a:bodyPr wrap="square" lIns="0" tIns="0" rIns="0" bIns="0" rtlCol="0" anchor="ctr"/>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Files copied into DCIM are never indexed by the Photos database.</a:t>
            </a:r>
            <a:endParaRPr lang="en-US" sz="1400" dirty="0"/>
          </a:p>
        </p:txBody>
      </p:sp>
      <p:sp>
        <p:nvSpPr>
          <p:cNvPr id="16" name="Text 14"/>
          <p:cNvSpPr txBox="1"/>
          <p:nvPr/>
        </p:nvSpPr>
        <p:spPr>
          <a:xfrm>
            <a:off x="7269480" y="4425696"/>
            <a:ext cx="4069080" cy="713232"/>
          </a:xfrm>
          <a:prstGeom prst="rect">
            <a:avLst/>
          </a:prstGeom>
          <a:noFill/>
          <a:ln/>
        </p:spPr>
        <p:txBody>
          <a:bodyPr wrap="square" lIns="0" tIns="0" rIns="0" bIns="0" rtlCol="0" anchor="ctr"/>
          <a:lstStyle/>
          <a:p>
            <a:pPr indent="0" marL="0">
              <a:lnSpc>
                <a:spcPts val="1800"/>
              </a:lnSpc>
              <a:buNone/>
            </a:pPr>
            <a:r>
              <a:rPr lang="en-US" sz="1400" b="1" dirty="0">
                <a:solidFill>
                  <a:srgbClr val="1B1A18"/>
                </a:solidFill>
                <a:latin typeface="Calibri" pitchFamily="34" charset="0"/>
                <a:ea typeface="Calibri" pitchFamily="34" charset="-122"/>
                <a:cs typeface="Calibri" pitchFamily="34" charset="-120"/>
              </a:rPr>
              <a:t>A known dead end — do not build on it</a:t>
            </a:r>
            <a:endParaRPr lang="en-US" sz="1400" dirty="0"/>
          </a:p>
        </p:txBody>
      </p:sp>
      <p:sp>
        <p:nvSpPr>
          <p:cNvPr id="17" name="Text 15"/>
          <p:cNvSpPr txBox="1"/>
          <p:nvPr/>
        </p:nvSpPr>
        <p:spPr>
          <a:xfrm>
            <a:off x="548640" y="5669280"/>
            <a:ext cx="11064240" cy="384048"/>
          </a:xfrm>
          <a:prstGeom prst="rect">
            <a:avLst/>
          </a:prstGeom>
          <a:noFill/>
          <a:ln/>
        </p:spPr>
        <p:txBody>
          <a:bodyPr wrap="square" lIns="0" tIns="0" rIns="0" bIns="0" rtlCol="0" anchor="ctr"/>
          <a:lstStyle/>
          <a:p>
            <a:pPr indent="0" marL="0">
              <a:buNone/>
            </a:pPr>
            <a:r>
              <a:rPr lang="en-US" sz="1500" i="1" dirty="0">
                <a:solidFill>
                  <a:srgbClr val="2F5D50"/>
                </a:solidFill>
                <a:latin typeface="Cambria" pitchFamily="34" charset="0"/>
                <a:ea typeface="Cambria" pitchFamily="34" charset="-122"/>
                <a:cs typeface="Cambria" pitchFamily="34" charset="-120"/>
              </a:rPr>
              <a:t>So: a web control plane does 95% of the work, and a thin native loader on each platform does the one thing only it can.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ARCHITECTURE</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Control plane, generator, thin loaders</a:t>
            </a:r>
            <a:endParaRPr lang="en-US" sz="3200" dirty="0"/>
          </a:p>
        </p:txBody>
      </p:sp>
      <p:sp>
        <p:nvSpPr>
          <p:cNvPr id="4" name="Shape 2"/>
          <p:cNvSpPr/>
          <p:nvPr/>
        </p:nvSpPr>
        <p:spPr>
          <a:xfrm>
            <a:off x="2651760" y="1417320"/>
            <a:ext cx="6858000" cy="1024128"/>
          </a:xfrm>
          <a:prstGeom prst="roundRect">
            <a:avLst>
              <a:gd name="adj" fmla="val 8036"/>
            </a:avLst>
          </a:prstGeom>
          <a:solidFill>
            <a:srgbClr val="E4EEE9"/>
          </a:solidFill>
          <a:ln w="12700">
            <a:solidFill>
              <a:srgbClr val="E4EEE9"/>
            </a:solidFill>
            <a:prstDash val="solid"/>
          </a:ln>
        </p:spPr>
      </p:sp>
      <p:sp>
        <p:nvSpPr>
          <p:cNvPr id="5" name="Text 3"/>
          <p:cNvSpPr txBox="1"/>
          <p:nvPr/>
        </p:nvSpPr>
        <p:spPr>
          <a:xfrm>
            <a:off x="2834640" y="1517904"/>
            <a:ext cx="6492240" cy="310896"/>
          </a:xfrm>
          <a:prstGeom prst="rect">
            <a:avLst/>
          </a:prstGeom>
          <a:noFill/>
          <a:ln/>
        </p:spPr>
        <p:txBody>
          <a:bodyPr wrap="square" lIns="0" tIns="0" rIns="0" bIns="0" rtlCol="0" anchor="ctr"/>
          <a:lstStyle/>
          <a:p>
            <a:pPr algn="ctr" indent="0" marL="0">
              <a:buNone/>
            </a:pPr>
            <a:r>
              <a:rPr lang="en-US" sz="1600" b="1" dirty="0">
                <a:solidFill>
                  <a:srgbClr val="2F5D50"/>
                </a:solidFill>
                <a:latin typeface="Cambria" pitchFamily="34" charset="0"/>
                <a:ea typeface="Cambria" pitchFamily="34" charset="-122"/>
                <a:cs typeface="Cambria" pitchFamily="34" charset="-120"/>
              </a:rPr>
              <a:t>WEB CONTROL PLANE</a:t>
            </a:r>
            <a:endParaRPr lang="en-US" sz="1600" dirty="0"/>
          </a:p>
        </p:txBody>
      </p:sp>
      <p:sp>
        <p:nvSpPr>
          <p:cNvPr id="6" name="Text 4"/>
          <p:cNvSpPr txBox="1"/>
          <p:nvPr/>
        </p:nvSpPr>
        <p:spPr>
          <a:xfrm>
            <a:off x="2834640" y="1865376"/>
            <a:ext cx="6492240" cy="457200"/>
          </a:xfrm>
          <a:prstGeom prst="rect">
            <a:avLst/>
          </a:prstGeom>
          <a:noFill/>
          <a:ln/>
        </p:spPr>
        <p:txBody>
          <a:bodyPr wrap="square" lIns="0" tIns="0" rIns="0" bIns="0" rtlCol="0" anchor="t"/>
          <a:lstStyle/>
          <a:p>
            <a:pPr algn="ctr" indent="0" marL="0">
              <a:lnSpc>
                <a:spcPts val="1800"/>
              </a:lnSpc>
              <a:buNone/>
            </a:pPr>
            <a:r>
              <a:rPr lang="en-US" sz="1400" dirty="0">
                <a:solidFill>
                  <a:srgbClr val="6D6A64"/>
                </a:solidFill>
                <a:latin typeface="Calibri" pitchFamily="34" charset="0"/>
                <a:ea typeface="Calibri" pitchFamily="34" charset="-122"/>
                <a:cs typeface="Calibri" pitchFamily="34" charset="-120"/>
              </a:rPr>
              <a:t>size · photo/video mix · formats · dates · device persona → a job and a 6-digit code</a:t>
            </a:r>
            <a:endParaRPr lang="en-US" sz="1400" dirty="0"/>
          </a:p>
        </p:txBody>
      </p:sp>
      <p:sp>
        <p:nvSpPr>
          <p:cNvPr id="7" name="Shape 5"/>
          <p:cNvSpPr/>
          <p:nvPr/>
        </p:nvSpPr>
        <p:spPr>
          <a:xfrm>
            <a:off x="6080760" y="2441448"/>
            <a:ext cx="0" cy="274320"/>
          </a:xfrm>
          <a:prstGeom prst="line">
            <a:avLst/>
          </a:prstGeom>
          <a:noFill/>
          <a:ln w="25400">
            <a:solidFill>
              <a:srgbClr val="AACABD"/>
            </a:solidFill>
            <a:prstDash val="solid"/>
          </a:ln>
        </p:spPr>
      </p:sp>
      <p:sp>
        <p:nvSpPr>
          <p:cNvPr id="8" name="Shape 6"/>
          <p:cNvSpPr/>
          <p:nvPr/>
        </p:nvSpPr>
        <p:spPr>
          <a:xfrm>
            <a:off x="1737360" y="2715768"/>
            <a:ext cx="8686800" cy="1216152"/>
          </a:xfrm>
          <a:prstGeom prst="roundRect">
            <a:avLst>
              <a:gd name="adj" fmla="val 6767"/>
            </a:avLst>
          </a:prstGeom>
          <a:solidFill>
            <a:srgbClr val="E4EEE9"/>
          </a:solidFill>
          <a:ln w="12700">
            <a:solidFill>
              <a:srgbClr val="E4EEE9"/>
            </a:solidFill>
            <a:prstDash val="solid"/>
          </a:ln>
        </p:spPr>
      </p:sp>
      <p:sp>
        <p:nvSpPr>
          <p:cNvPr id="9" name="Text 7"/>
          <p:cNvSpPr txBox="1"/>
          <p:nvPr/>
        </p:nvSpPr>
        <p:spPr>
          <a:xfrm>
            <a:off x="1920240" y="2807208"/>
            <a:ext cx="8321040" cy="310896"/>
          </a:xfrm>
          <a:prstGeom prst="rect">
            <a:avLst/>
          </a:prstGeom>
          <a:noFill/>
          <a:ln/>
        </p:spPr>
        <p:txBody>
          <a:bodyPr wrap="square" lIns="0" tIns="0" rIns="0" bIns="0" rtlCol="0" anchor="ctr"/>
          <a:lstStyle/>
          <a:p>
            <a:pPr algn="ctr" indent="0" marL="0">
              <a:buNone/>
            </a:pPr>
            <a:r>
              <a:rPr lang="en-US" sz="1600" b="1" dirty="0">
                <a:solidFill>
                  <a:srgbClr val="2F5D50"/>
                </a:solidFill>
                <a:latin typeface="Cambria" pitchFamily="34" charset="0"/>
                <a:ea typeface="Cambria" pitchFamily="34" charset="-122"/>
                <a:cs typeface="Cambria" pitchFamily="34" charset="-120"/>
              </a:rPr>
              <a:t>GENERATOR</a:t>
            </a:r>
            <a:endParaRPr lang="en-US" sz="1600" dirty="0"/>
          </a:p>
        </p:txBody>
      </p:sp>
      <p:sp>
        <p:nvSpPr>
          <p:cNvPr id="10" name="Text 8"/>
          <p:cNvSpPr txBox="1"/>
          <p:nvPr/>
        </p:nvSpPr>
        <p:spPr>
          <a:xfrm>
            <a:off x="1920240" y="3154680"/>
            <a:ext cx="8321040" cy="310896"/>
          </a:xfrm>
          <a:prstGeom prst="rect">
            <a:avLst/>
          </a:prstGeom>
          <a:noFill/>
          <a:ln/>
        </p:spPr>
        <p:txBody>
          <a:bodyPr wrap="square" lIns="0" tIns="0" rIns="0" bIns="0" rtlCol="0" anchor="ctr"/>
          <a:lstStyle/>
          <a:p>
            <a:pPr algn="ctr" indent="0" marL="0">
              <a:buNone/>
            </a:pPr>
            <a:r>
              <a:rPr lang="en-US" sz="1400" dirty="0">
                <a:solidFill>
                  <a:srgbClr val="1B1A18"/>
                </a:solidFill>
                <a:latin typeface="Calibri" pitchFamily="34" charset="0"/>
                <a:ea typeface="Calibri" pitchFamily="34" charset="-122"/>
                <a:cs typeface="Calibri" pitchFamily="34" charset="-120"/>
              </a:rPr>
              <a:t>seed pool  ·  amplifier (Pillow + ffmpeg)  ·  byte-accurate size planner  ·  manifest</a:t>
            </a:r>
            <a:endParaRPr lang="en-US" sz="1400" dirty="0"/>
          </a:p>
        </p:txBody>
      </p:sp>
      <p:sp>
        <p:nvSpPr>
          <p:cNvPr id="11" name="Text 9"/>
          <p:cNvSpPr txBox="1"/>
          <p:nvPr/>
        </p:nvSpPr>
        <p:spPr>
          <a:xfrm>
            <a:off x="1920240" y="3483864"/>
            <a:ext cx="8321040" cy="310896"/>
          </a:xfrm>
          <a:prstGeom prst="rect">
            <a:avLst/>
          </a:prstGeom>
          <a:noFill/>
          <a:ln/>
        </p:spPr>
        <p:txBody>
          <a:bodyPr wrap="square" lIns="0" tIns="0" rIns="0" bIns="0" rtlCol="0" anchor="ctr"/>
          <a:lstStyle/>
          <a:p>
            <a:pPr algn="ctr" indent="0" marL="0">
              <a:buNone/>
            </a:pPr>
            <a:r>
              <a:rPr lang="en-US" sz="1400" i="1" dirty="0">
                <a:solidFill>
                  <a:srgbClr val="6D6A64"/>
                </a:solidFill>
                <a:latin typeface="Calibri" pitchFamily="34" charset="0"/>
                <a:ea typeface="Calibri" pitchFamily="34" charset="-122"/>
                <a:cs typeface="Calibri" pitchFamily="34" charset="-120"/>
              </a:rPr>
              <a:t>manifest.json is the contract: bytes, sha256, capture time, GPS, and a URL per asset</a:t>
            </a:r>
            <a:endParaRPr lang="en-US" sz="1400" dirty="0"/>
          </a:p>
        </p:txBody>
      </p:sp>
      <p:sp>
        <p:nvSpPr>
          <p:cNvPr id="12" name="Shape 10"/>
          <p:cNvSpPr/>
          <p:nvPr/>
        </p:nvSpPr>
        <p:spPr>
          <a:xfrm>
            <a:off x="2926080" y="3931920"/>
            <a:ext cx="0" cy="457200"/>
          </a:xfrm>
          <a:prstGeom prst="line">
            <a:avLst/>
          </a:prstGeom>
          <a:noFill/>
          <a:ln w="25400">
            <a:solidFill>
              <a:srgbClr val="AACABD"/>
            </a:solidFill>
            <a:prstDash val="solid"/>
          </a:ln>
        </p:spPr>
      </p:sp>
      <p:sp>
        <p:nvSpPr>
          <p:cNvPr id="13" name="Shape 11"/>
          <p:cNvSpPr/>
          <p:nvPr/>
        </p:nvSpPr>
        <p:spPr>
          <a:xfrm>
            <a:off x="6080760" y="3931920"/>
            <a:ext cx="0" cy="457200"/>
          </a:xfrm>
          <a:prstGeom prst="line">
            <a:avLst/>
          </a:prstGeom>
          <a:noFill/>
          <a:ln w="25400">
            <a:solidFill>
              <a:srgbClr val="AACABD"/>
            </a:solidFill>
            <a:prstDash val="solid"/>
          </a:ln>
        </p:spPr>
      </p:sp>
      <p:sp>
        <p:nvSpPr>
          <p:cNvPr id="14" name="Shape 12"/>
          <p:cNvSpPr/>
          <p:nvPr/>
        </p:nvSpPr>
        <p:spPr>
          <a:xfrm>
            <a:off x="9235440" y="3931920"/>
            <a:ext cx="0" cy="457200"/>
          </a:xfrm>
          <a:prstGeom prst="line">
            <a:avLst/>
          </a:prstGeom>
          <a:noFill/>
          <a:ln w="25400">
            <a:solidFill>
              <a:srgbClr val="AACABD"/>
            </a:solidFill>
            <a:prstDash val="solid"/>
          </a:ln>
        </p:spPr>
      </p:sp>
      <p:sp>
        <p:nvSpPr>
          <p:cNvPr id="15" name="Shape 13"/>
          <p:cNvSpPr/>
          <p:nvPr/>
        </p:nvSpPr>
        <p:spPr>
          <a:xfrm>
            <a:off x="548640" y="4389120"/>
            <a:ext cx="3447288" cy="1298448"/>
          </a:xfrm>
          <a:prstGeom prst="roundRect">
            <a:avLst>
              <a:gd name="adj" fmla="val 6338"/>
            </a:avLst>
          </a:prstGeom>
          <a:solidFill>
            <a:srgbClr val="E4EEE9"/>
          </a:solidFill>
          <a:ln w="12700">
            <a:solidFill>
              <a:srgbClr val="E4EEE9"/>
            </a:solidFill>
            <a:prstDash val="solid"/>
          </a:ln>
        </p:spPr>
      </p:sp>
      <p:sp>
        <p:nvSpPr>
          <p:cNvPr id="16" name="Text 14"/>
          <p:cNvSpPr txBox="1"/>
          <p:nvPr/>
        </p:nvSpPr>
        <p:spPr>
          <a:xfrm>
            <a:off x="768096" y="4517136"/>
            <a:ext cx="3017520" cy="310896"/>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CLI  ·  CI</a:t>
            </a:r>
            <a:endParaRPr lang="en-US" sz="1600" dirty="0"/>
          </a:p>
        </p:txBody>
      </p:sp>
      <p:sp>
        <p:nvSpPr>
          <p:cNvPr id="17" name="Text 15"/>
          <p:cNvSpPr txBox="1"/>
          <p:nvPr/>
        </p:nvSpPr>
        <p:spPr>
          <a:xfrm>
            <a:off x="768096" y="4846320"/>
            <a:ext cx="3017520" cy="274320"/>
          </a:xfrm>
          <a:prstGeom prst="rect">
            <a:avLst/>
          </a:prstGeom>
          <a:noFill/>
          <a:ln/>
        </p:spPr>
        <p:txBody>
          <a:bodyPr wrap="square" lIns="0" tIns="0" rIns="0" bIns="0" rtlCol="0" anchor="ctr"/>
          <a:lstStyle/>
          <a:p>
            <a:pPr indent="0" marL="0">
              <a:buNone/>
            </a:pPr>
            <a:r>
              <a:rPr lang="en-US" sz="1400" dirty="0">
                <a:solidFill>
                  <a:srgbClr val="1B1A18"/>
                </a:solidFill>
                <a:latin typeface="Calibri" pitchFamily="34" charset="0"/>
                <a:ea typeface="Calibri" pitchFamily="34" charset="-122"/>
                <a:cs typeface="Calibri" pitchFamily="34" charset="-120"/>
              </a:rPr>
              <a:t>folder, simulator, emulator</a:t>
            </a:r>
            <a:endParaRPr lang="en-US" sz="1400" dirty="0"/>
          </a:p>
        </p:txBody>
      </p:sp>
      <p:sp>
        <p:nvSpPr>
          <p:cNvPr id="18" name="Text 16"/>
          <p:cNvSpPr txBox="1"/>
          <p:nvPr/>
        </p:nvSpPr>
        <p:spPr>
          <a:xfrm>
            <a:off x="768096" y="5138928"/>
            <a:ext cx="3017520" cy="4572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simctl / adb + MediaStore scan</a:t>
            </a:r>
            <a:endParaRPr lang="en-US" sz="1400" dirty="0"/>
          </a:p>
        </p:txBody>
      </p:sp>
      <p:sp>
        <p:nvSpPr>
          <p:cNvPr id="19" name="Shape 17"/>
          <p:cNvSpPr/>
          <p:nvPr/>
        </p:nvSpPr>
        <p:spPr>
          <a:xfrm>
            <a:off x="4361688" y="4389120"/>
            <a:ext cx="3447288" cy="1298448"/>
          </a:xfrm>
          <a:prstGeom prst="roundRect">
            <a:avLst>
              <a:gd name="adj" fmla="val 6338"/>
            </a:avLst>
          </a:prstGeom>
          <a:solidFill>
            <a:srgbClr val="E4EEE9"/>
          </a:solidFill>
          <a:ln w="12700">
            <a:solidFill>
              <a:srgbClr val="E4EEE9"/>
            </a:solidFill>
            <a:prstDash val="solid"/>
          </a:ln>
        </p:spPr>
      </p:sp>
      <p:sp>
        <p:nvSpPr>
          <p:cNvPr id="20" name="Text 18"/>
          <p:cNvSpPr txBox="1"/>
          <p:nvPr/>
        </p:nvSpPr>
        <p:spPr>
          <a:xfrm>
            <a:off x="4581144" y="4517136"/>
            <a:ext cx="3017520" cy="310896"/>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Android app</a:t>
            </a:r>
            <a:endParaRPr lang="en-US" sz="1600" dirty="0"/>
          </a:p>
        </p:txBody>
      </p:sp>
      <p:sp>
        <p:nvSpPr>
          <p:cNvPr id="21" name="Text 19"/>
          <p:cNvSpPr txBox="1"/>
          <p:nvPr/>
        </p:nvSpPr>
        <p:spPr>
          <a:xfrm>
            <a:off x="4581144" y="4846320"/>
            <a:ext cx="3017520" cy="274320"/>
          </a:xfrm>
          <a:prstGeom prst="rect">
            <a:avLst/>
          </a:prstGeom>
          <a:noFill/>
          <a:ln/>
        </p:spPr>
        <p:txBody>
          <a:bodyPr wrap="square" lIns="0" tIns="0" rIns="0" bIns="0" rtlCol="0" anchor="ctr"/>
          <a:lstStyle/>
          <a:p>
            <a:pPr indent="0" marL="0">
              <a:buNone/>
            </a:pPr>
            <a:r>
              <a:rPr lang="en-US" sz="1400" dirty="0">
                <a:solidFill>
                  <a:srgbClr val="1B1A18"/>
                </a:solidFill>
                <a:latin typeface="Calibri" pitchFamily="34" charset="0"/>
                <a:ea typeface="Calibri" pitchFamily="34" charset="-122"/>
                <a:cs typeface="Calibri" pitchFamily="34" charset="-120"/>
              </a:rPr>
              <a:t>Kotlin, minSdk 30</a:t>
            </a:r>
            <a:endParaRPr lang="en-US" sz="1400" dirty="0"/>
          </a:p>
        </p:txBody>
      </p:sp>
      <p:sp>
        <p:nvSpPr>
          <p:cNvPr id="22" name="Text 20"/>
          <p:cNvSpPr txBox="1"/>
          <p:nvPr/>
        </p:nvSpPr>
        <p:spPr>
          <a:xfrm>
            <a:off x="4581144" y="5138928"/>
            <a:ext cx="3017520" cy="4572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MediaStore.insert, foreground service</a:t>
            </a:r>
            <a:endParaRPr lang="en-US" sz="1400" dirty="0"/>
          </a:p>
        </p:txBody>
      </p:sp>
      <p:sp>
        <p:nvSpPr>
          <p:cNvPr id="23" name="Shape 21"/>
          <p:cNvSpPr/>
          <p:nvPr/>
        </p:nvSpPr>
        <p:spPr>
          <a:xfrm>
            <a:off x="8174736" y="4389120"/>
            <a:ext cx="3447288" cy="1298448"/>
          </a:xfrm>
          <a:prstGeom prst="roundRect">
            <a:avLst>
              <a:gd name="adj" fmla="val 6338"/>
            </a:avLst>
          </a:prstGeom>
          <a:solidFill>
            <a:srgbClr val="E4EEE9"/>
          </a:solidFill>
          <a:ln w="12700">
            <a:solidFill>
              <a:srgbClr val="E4EEE9"/>
            </a:solidFill>
            <a:prstDash val="solid"/>
          </a:ln>
        </p:spPr>
      </p:sp>
      <p:sp>
        <p:nvSpPr>
          <p:cNvPr id="24" name="Text 22"/>
          <p:cNvSpPr txBox="1"/>
          <p:nvPr/>
        </p:nvSpPr>
        <p:spPr>
          <a:xfrm>
            <a:off x="8394192" y="4517136"/>
            <a:ext cx="3017520" cy="310896"/>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iOS app</a:t>
            </a:r>
            <a:endParaRPr lang="en-US" sz="1600" dirty="0"/>
          </a:p>
        </p:txBody>
      </p:sp>
      <p:sp>
        <p:nvSpPr>
          <p:cNvPr id="25" name="Text 23"/>
          <p:cNvSpPr txBox="1"/>
          <p:nvPr/>
        </p:nvSpPr>
        <p:spPr>
          <a:xfrm>
            <a:off x="8394192" y="4846320"/>
            <a:ext cx="3017520" cy="274320"/>
          </a:xfrm>
          <a:prstGeom prst="rect">
            <a:avLst/>
          </a:prstGeom>
          <a:noFill/>
          <a:ln/>
        </p:spPr>
        <p:txBody>
          <a:bodyPr wrap="square" lIns="0" tIns="0" rIns="0" bIns="0" rtlCol="0" anchor="ctr"/>
          <a:lstStyle/>
          <a:p>
            <a:pPr indent="0" marL="0">
              <a:buNone/>
            </a:pPr>
            <a:r>
              <a:rPr lang="en-US" sz="1400" dirty="0">
                <a:solidFill>
                  <a:srgbClr val="1B1A18"/>
                </a:solidFill>
                <a:latin typeface="Calibri" pitchFamily="34" charset="0"/>
                <a:ea typeface="Calibri" pitchFamily="34" charset="-122"/>
                <a:cs typeface="Calibri" pitchFamily="34" charset="-120"/>
              </a:rPr>
              <a:t>SwiftUI, iOS 17 floor</a:t>
            </a:r>
            <a:endParaRPr lang="en-US" sz="1400" dirty="0"/>
          </a:p>
        </p:txBody>
      </p:sp>
      <p:sp>
        <p:nvSpPr>
          <p:cNvPr id="26" name="Text 24"/>
          <p:cNvSpPr txBox="1"/>
          <p:nvPr/>
        </p:nvSpPr>
        <p:spPr>
          <a:xfrm>
            <a:off x="8394192" y="5138928"/>
            <a:ext cx="3017520" cy="4572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PHAssetCreationRequest, batched</a:t>
            </a:r>
            <a:endParaRPr lang="en-US" sz="1400" dirty="0"/>
          </a:p>
        </p:txBody>
      </p:sp>
      <p:sp>
        <p:nvSpPr>
          <p:cNvPr id="27" name="Text 25"/>
          <p:cNvSpPr txBox="1"/>
          <p:nvPr/>
        </p:nvSpPr>
        <p:spPr>
          <a:xfrm>
            <a:off x="548640" y="5870448"/>
            <a:ext cx="11064240" cy="384048"/>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Every loader keeps a receipt outside the pack — which is what makes a fill resumable and a wipe exact.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MAJOR FEATURES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What makes it more than a file copier</a:t>
            </a:r>
            <a:endParaRPr lang="en-US" sz="3200" dirty="0"/>
          </a:p>
        </p:txBody>
      </p:sp>
      <p:sp>
        <p:nvSpPr>
          <p:cNvPr id="4" name="Shape 2"/>
          <p:cNvSpPr/>
          <p:nvPr/>
        </p:nvSpPr>
        <p:spPr>
          <a:xfrm>
            <a:off x="548640" y="1563624"/>
            <a:ext cx="402336" cy="402336"/>
          </a:xfrm>
          <a:prstGeom prst="ellipse">
            <a:avLst/>
          </a:prstGeom>
          <a:solidFill>
            <a:srgbClr val="2F5D50"/>
          </a:solidFill>
          <a:ln w="12700">
            <a:solidFill>
              <a:srgbClr val="2F5D50"/>
            </a:solidFill>
            <a:prstDash val="solid"/>
          </a:ln>
        </p:spPr>
      </p:sp>
      <p:sp>
        <p:nvSpPr>
          <p:cNvPr id="5" name="Text 3"/>
          <p:cNvSpPr txBox="1"/>
          <p:nvPr/>
        </p:nvSpPr>
        <p:spPr>
          <a:xfrm>
            <a:off x="548640" y="15636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15568" y="153619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Exact to the byte</a:t>
            </a:r>
            <a:endParaRPr lang="en-US" sz="1600" dirty="0"/>
          </a:p>
        </p:txBody>
      </p:sp>
      <p:sp>
        <p:nvSpPr>
          <p:cNvPr id="7" name="Text 5"/>
          <p:cNvSpPr txBox="1"/>
          <p:nvPr/>
        </p:nvSpPr>
        <p:spPr>
          <a:xfrm>
            <a:off x="1115568" y="188366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Ask for 25 GB and get 25 GB, delta zero. JPEG size is content-dependent, so nothing is estimated twice — video duration and comment padding close the gap.</a:t>
            </a:r>
            <a:endParaRPr lang="en-US" sz="1400" dirty="0"/>
          </a:p>
        </p:txBody>
      </p:sp>
      <p:sp>
        <p:nvSpPr>
          <p:cNvPr id="8" name="Shape 6"/>
          <p:cNvSpPr/>
          <p:nvPr/>
        </p:nvSpPr>
        <p:spPr>
          <a:xfrm>
            <a:off x="6263640" y="1563624"/>
            <a:ext cx="402336" cy="402336"/>
          </a:xfrm>
          <a:prstGeom prst="ellipse">
            <a:avLst/>
          </a:prstGeom>
          <a:solidFill>
            <a:srgbClr val="2F5D50"/>
          </a:solidFill>
          <a:ln w="12700">
            <a:solidFill>
              <a:srgbClr val="2F5D50"/>
            </a:solidFill>
            <a:prstDash val="solid"/>
          </a:ln>
        </p:spPr>
      </p:sp>
      <p:sp>
        <p:nvSpPr>
          <p:cNvPr id="9" name="Text 7"/>
          <p:cNvSpPr txBox="1"/>
          <p:nvPr/>
        </p:nvSpPr>
        <p:spPr>
          <a:xfrm>
            <a:off x="6263640" y="15636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6830568" y="153619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Metadata a gallery believes</a:t>
            </a:r>
            <a:endParaRPr lang="en-US" sz="1600" dirty="0"/>
          </a:p>
        </p:txBody>
      </p:sp>
      <p:sp>
        <p:nvSpPr>
          <p:cNvPr id="11" name="Text 9"/>
          <p:cNvSpPr txBox="1"/>
          <p:nvPr/>
        </p:nvSpPr>
        <p:spPr>
          <a:xfrm>
            <a:off x="6830568" y="188366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Hand-rolled EXIF: make, model, lens, ISO, GPS. Capture times anchored to a city's timezone, so a pack lands at the same instant everywhere.</a:t>
            </a:r>
            <a:endParaRPr lang="en-US" sz="1400" dirty="0"/>
          </a:p>
        </p:txBody>
      </p:sp>
      <p:sp>
        <p:nvSpPr>
          <p:cNvPr id="12" name="Shape 10"/>
          <p:cNvSpPr/>
          <p:nvPr/>
        </p:nvSpPr>
        <p:spPr>
          <a:xfrm>
            <a:off x="548640" y="3026664"/>
            <a:ext cx="402336" cy="402336"/>
          </a:xfrm>
          <a:prstGeom prst="ellipse">
            <a:avLst/>
          </a:prstGeom>
          <a:solidFill>
            <a:srgbClr val="2F5D50"/>
          </a:solidFill>
          <a:ln w="12700">
            <a:solidFill>
              <a:srgbClr val="2F5D50"/>
            </a:solidFill>
            <a:prstDash val="solid"/>
          </a:ln>
        </p:spPr>
      </p:sp>
      <p:sp>
        <p:nvSpPr>
          <p:cNvPr id="13" name="Text 11"/>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15568" y="299923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Reproducible and resumable</a:t>
            </a:r>
            <a:endParaRPr lang="en-US" sz="1600" dirty="0"/>
          </a:p>
        </p:txBody>
      </p:sp>
      <p:sp>
        <p:nvSpPr>
          <p:cNvPr id="15" name="Text 13"/>
          <p:cNvSpPr txBox="1"/>
          <p:nvPr/>
        </p:nvSpPr>
        <p:spPr>
          <a:xfrm>
            <a:off x="1115568" y="334670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Same job and seed rebuild a pack byte for byte. A killed build resumes from its checkpoint rather than restarting a two-hour job.</a:t>
            </a:r>
            <a:endParaRPr lang="en-US" sz="1400" dirty="0"/>
          </a:p>
        </p:txBody>
      </p:sp>
      <p:sp>
        <p:nvSpPr>
          <p:cNvPr id="16" name="Shape 14"/>
          <p:cNvSpPr/>
          <p:nvPr/>
        </p:nvSpPr>
        <p:spPr>
          <a:xfrm>
            <a:off x="6263640" y="3026664"/>
            <a:ext cx="402336" cy="402336"/>
          </a:xfrm>
          <a:prstGeom prst="ellipse">
            <a:avLst/>
          </a:prstGeom>
          <a:solidFill>
            <a:srgbClr val="2F5D50"/>
          </a:solidFill>
          <a:ln w="12700">
            <a:solidFill>
              <a:srgbClr val="2F5D50"/>
            </a:solidFill>
            <a:prstDash val="solid"/>
          </a:ln>
        </p:spPr>
      </p:sp>
      <p:sp>
        <p:nvSpPr>
          <p:cNvPr id="17" name="Text 15"/>
          <p:cNvSpPr txBox="1"/>
          <p:nvPr/>
        </p:nvSpPr>
        <p:spPr>
          <a:xfrm>
            <a:off x="6263640" y="302666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830568" y="299923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Wipe is a first-class verb</a:t>
            </a:r>
            <a:endParaRPr lang="en-US" sz="1600" dirty="0"/>
          </a:p>
        </p:txBody>
      </p:sp>
      <p:sp>
        <p:nvSpPr>
          <p:cNvPr id="19" name="Text 17"/>
          <p:cNvSpPr txBox="1"/>
          <p:nvPr/>
        </p:nvSpPr>
        <p:spPr>
          <a:xfrm>
            <a:off x="6830568" y="334670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Deletion keys off a recorded receipt, never filenames — iOS renames every import. Nothing outside that receipt is ever touched.</a:t>
            </a:r>
            <a:endParaRPr lang="en-US" sz="1400" dirty="0"/>
          </a:p>
        </p:txBody>
      </p:sp>
      <p:sp>
        <p:nvSpPr>
          <p:cNvPr id="20" name="Shape 18"/>
          <p:cNvSpPr/>
          <p:nvPr/>
        </p:nvSpPr>
        <p:spPr>
          <a:xfrm>
            <a:off x="548640" y="4489704"/>
            <a:ext cx="402336" cy="402336"/>
          </a:xfrm>
          <a:prstGeom prst="ellipse">
            <a:avLst/>
          </a:prstGeom>
          <a:solidFill>
            <a:srgbClr val="2F5D50"/>
          </a:solidFill>
          <a:ln w="12700">
            <a:solidFill>
              <a:srgbClr val="2F5D50"/>
            </a:solidFill>
            <a:prstDash val="solid"/>
          </a:ln>
        </p:spPr>
      </p:sp>
      <p:sp>
        <p:nvSpPr>
          <p:cNvPr id="21" name="Text 19"/>
          <p:cNvSpPr txBox="1"/>
          <p:nvPr/>
        </p:nvSpPr>
        <p:spPr>
          <a:xfrm>
            <a:off x="548640" y="44897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15568" y="446227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Formats that match the hardware</a:t>
            </a:r>
            <a:endParaRPr lang="en-US" sz="1600" dirty="0"/>
          </a:p>
        </p:txBody>
      </p:sp>
      <p:sp>
        <p:nvSpPr>
          <p:cNvPr id="23" name="Text 21"/>
          <p:cNvSpPr txBox="1"/>
          <p:nvPr/>
        </p:nvSpPr>
        <p:spPr>
          <a:xfrm>
            <a:off x="1115568" y="480974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HEIC and HEVC, or mixed libraries. Verified: Android assigns image/heic correctly; iOS keeps creationDate exact.</a:t>
            </a:r>
            <a:endParaRPr lang="en-US" sz="1400" dirty="0"/>
          </a:p>
        </p:txBody>
      </p:sp>
      <p:sp>
        <p:nvSpPr>
          <p:cNvPr id="24" name="Shape 22"/>
          <p:cNvSpPr/>
          <p:nvPr/>
        </p:nvSpPr>
        <p:spPr>
          <a:xfrm>
            <a:off x="6263640" y="4489704"/>
            <a:ext cx="402336" cy="402336"/>
          </a:xfrm>
          <a:prstGeom prst="ellipse">
            <a:avLst/>
          </a:prstGeom>
          <a:solidFill>
            <a:srgbClr val="2F5D50"/>
          </a:solidFill>
          <a:ln w="12700">
            <a:solidFill>
              <a:srgbClr val="2F5D50"/>
            </a:solidFill>
            <a:prstDash val="solid"/>
          </a:ln>
        </p:spPr>
      </p:sp>
      <p:sp>
        <p:nvSpPr>
          <p:cNvPr id="25" name="Text 23"/>
          <p:cNvSpPr txBox="1"/>
          <p:nvPr/>
        </p:nvSpPr>
        <p:spPr>
          <a:xfrm>
            <a:off x="6263640" y="44897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830568" y="446227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It checks its own work</a:t>
            </a:r>
            <a:endParaRPr lang="en-US" sz="1600" dirty="0"/>
          </a:p>
        </p:txBody>
      </p:sp>
      <p:sp>
        <p:nvSpPr>
          <p:cNvPr id="27" name="Text 25"/>
          <p:cNvSpPr txBox="1"/>
          <p:nvPr/>
        </p:nvSpPr>
        <p:spPr>
          <a:xfrm>
            <a:off x="6830568" y="480974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tdg verify asks the device what the gallery actually indexed — count, capture time, album — and fails CI when they disagree.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UNIQUENESS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Every still is a different picture</a:t>
            </a:r>
            <a:endParaRPr lang="en-US" sz="3200" dirty="0"/>
          </a:p>
        </p:txBody>
      </p:sp>
      <p:sp>
        <p:nvSpPr>
          <p:cNvPr id="4" name="Text 2"/>
          <p:cNvSpPr txBox="1"/>
          <p:nvPr/>
        </p:nvSpPr>
        <p:spPr>
          <a:xfrm>
            <a:off x="548640" y="1389888"/>
            <a:ext cx="11064240" cy="365760"/>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Different EXIF alone guarantees distinct checksums. The real question is whether two files are the same photograph.</a:t>
            </a:r>
            <a:endParaRPr lang="en-US" sz="1400" dirty="0"/>
          </a:p>
        </p:txBody>
      </p:sp>
      <p:sp>
        <p:nvSpPr>
          <p:cNvPr id="5" name="Shape 3"/>
          <p:cNvSpPr/>
          <p:nvPr/>
        </p:nvSpPr>
        <p:spPr>
          <a:xfrm>
            <a:off x="548640" y="1847088"/>
            <a:ext cx="5349240" cy="1463040"/>
          </a:xfrm>
          <a:prstGeom prst="roundRect">
            <a:avLst>
              <a:gd name="adj" fmla="val 5625"/>
            </a:avLst>
          </a:prstGeom>
          <a:solidFill>
            <a:srgbClr val="F3E6E2"/>
          </a:solidFill>
          <a:ln w="12700">
            <a:solidFill>
              <a:srgbClr val="F3E6E2"/>
            </a:solidFill>
            <a:prstDash val="solid"/>
          </a:ln>
        </p:spPr>
      </p:sp>
      <p:sp>
        <p:nvSpPr>
          <p:cNvPr id="6" name="Text 4"/>
          <p:cNvSpPr txBox="1"/>
          <p:nvPr/>
        </p:nvSpPr>
        <p:spPr>
          <a:xfrm>
            <a:off x="822960" y="2194560"/>
            <a:ext cx="1417320" cy="658368"/>
          </a:xfrm>
          <a:prstGeom prst="rect">
            <a:avLst/>
          </a:prstGeom>
          <a:noFill/>
          <a:ln/>
        </p:spPr>
        <p:txBody>
          <a:bodyPr wrap="square" lIns="0" tIns="0" rIns="0" bIns="0" rtlCol="0" anchor="ctr"/>
          <a:lstStyle/>
          <a:p>
            <a:pPr indent="0" marL="0">
              <a:buNone/>
            </a:pPr>
            <a:r>
              <a:rPr lang="en-US" sz="4000" b="1" dirty="0">
                <a:solidFill>
                  <a:srgbClr val="9C4A32"/>
                </a:solidFill>
                <a:latin typeface="Cambria" pitchFamily="34" charset="0"/>
                <a:ea typeface="Cambria" pitchFamily="34" charset="-122"/>
                <a:cs typeface="Cambria" pitchFamily="34" charset="-120"/>
              </a:rPr>
              <a:t>268</a:t>
            </a:r>
            <a:endParaRPr lang="en-US" sz="4000" dirty="0"/>
          </a:p>
        </p:txBody>
      </p:sp>
      <p:sp>
        <p:nvSpPr>
          <p:cNvPr id="7" name="Text 5"/>
          <p:cNvSpPr txBox="1"/>
          <p:nvPr/>
        </p:nvSpPr>
        <p:spPr>
          <a:xfrm>
            <a:off x="2331720" y="2029968"/>
            <a:ext cx="3383280" cy="310896"/>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12 synthetic seeds</a:t>
            </a:r>
            <a:endParaRPr lang="en-US" sz="1600" dirty="0"/>
          </a:p>
        </p:txBody>
      </p:sp>
      <p:sp>
        <p:nvSpPr>
          <p:cNvPr id="8" name="Text 6"/>
          <p:cNvSpPr txBox="1"/>
          <p:nvPr/>
        </p:nvSpPr>
        <p:spPr>
          <a:xfrm>
            <a:off x="2331720" y="2359152"/>
            <a:ext cx="3383280" cy="859536"/>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identical pairs in a 2,227-photo pack. At 186 crops per seed, overlapping windows are arithmetic rather than bad luck.</a:t>
            </a:r>
            <a:endParaRPr lang="en-US" sz="1400" dirty="0"/>
          </a:p>
        </p:txBody>
      </p:sp>
      <p:sp>
        <p:nvSpPr>
          <p:cNvPr id="9" name="Shape 7"/>
          <p:cNvSpPr/>
          <p:nvPr/>
        </p:nvSpPr>
        <p:spPr>
          <a:xfrm>
            <a:off x="6263640" y="1847088"/>
            <a:ext cx="5349240" cy="1463040"/>
          </a:xfrm>
          <a:prstGeom prst="roundRect">
            <a:avLst>
              <a:gd name="adj" fmla="val 5625"/>
            </a:avLst>
          </a:prstGeom>
          <a:solidFill>
            <a:srgbClr val="E4EEE9"/>
          </a:solidFill>
          <a:ln w="12700">
            <a:solidFill>
              <a:srgbClr val="E4EEE9"/>
            </a:solidFill>
            <a:prstDash val="solid"/>
          </a:ln>
        </p:spPr>
      </p:sp>
      <p:sp>
        <p:nvSpPr>
          <p:cNvPr id="10" name="Text 8"/>
          <p:cNvSpPr txBox="1"/>
          <p:nvPr/>
        </p:nvSpPr>
        <p:spPr>
          <a:xfrm>
            <a:off x="6537960" y="2194560"/>
            <a:ext cx="1417320" cy="658368"/>
          </a:xfrm>
          <a:prstGeom prst="rect">
            <a:avLst/>
          </a:prstGeom>
          <a:noFill/>
          <a:ln/>
        </p:spPr>
        <p:txBody>
          <a:bodyPr wrap="square" lIns="0" tIns="0" rIns="0" bIns="0" rtlCol="0" anchor="ctr"/>
          <a:lstStyle/>
          <a:p>
            <a:pPr indent="0" marL="0">
              <a:buNone/>
            </a:pPr>
            <a:r>
              <a:rPr lang="en-US" sz="4000" b="1" dirty="0">
                <a:solidFill>
                  <a:srgbClr val="2F5D50"/>
                </a:solidFill>
                <a:latin typeface="Cambria" pitchFamily="34" charset="0"/>
                <a:ea typeface="Cambria" pitchFamily="34" charset="-122"/>
                <a:cs typeface="Cambria" pitchFamily="34" charset="-120"/>
              </a:rPr>
              <a:t>0</a:t>
            </a:r>
            <a:endParaRPr lang="en-US" sz="4000" dirty="0"/>
          </a:p>
        </p:txBody>
      </p:sp>
      <p:sp>
        <p:nvSpPr>
          <p:cNvPr id="11" name="Text 9"/>
          <p:cNvSpPr txBox="1"/>
          <p:nvPr/>
        </p:nvSpPr>
        <p:spPr>
          <a:xfrm>
            <a:off x="8046720" y="2029968"/>
            <a:ext cx="3383280" cy="310896"/>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212 harvested seeds</a:t>
            </a:r>
            <a:endParaRPr lang="en-US" sz="1600" dirty="0"/>
          </a:p>
        </p:txBody>
      </p:sp>
      <p:sp>
        <p:nvSpPr>
          <p:cNvPr id="12" name="Text 10"/>
          <p:cNvSpPr txBox="1"/>
          <p:nvPr/>
        </p:nvSpPr>
        <p:spPr>
          <a:xfrm>
            <a:off x="8046720" y="2359152"/>
            <a:ext cx="3383280" cy="859536"/>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identical pairs in the same measurement, once the pool, the variation and the gate are all in place.</a:t>
            </a:r>
            <a:endParaRPr lang="en-US" sz="1400" dirty="0"/>
          </a:p>
        </p:txBody>
      </p:sp>
      <p:sp>
        <p:nvSpPr>
          <p:cNvPr id="13" name="Shape 11"/>
          <p:cNvSpPr/>
          <p:nvPr/>
        </p:nvSpPr>
        <p:spPr>
          <a:xfrm>
            <a:off x="548640" y="3493008"/>
            <a:ext cx="3447288" cy="1993392"/>
          </a:xfrm>
          <a:prstGeom prst="roundRect">
            <a:avLst>
              <a:gd name="adj" fmla="val 4128"/>
            </a:avLst>
          </a:prstGeom>
          <a:solidFill>
            <a:srgbClr val="E4EEE9"/>
          </a:solidFill>
          <a:ln w="12700">
            <a:solidFill>
              <a:srgbClr val="E4EEE9"/>
            </a:solidFill>
            <a:prstDash val="solid"/>
          </a:ln>
        </p:spPr>
      </p:sp>
      <p:sp>
        <p:nvSpPr>
          <p:cNvPr id="14" name="Text 12"/>
          <p:cNvSpPr txBox="1"/>
          <p:nvPr/>
        </p:nvSpPr>
        <p:spPr>
          <a:xfrm>
            <a:off x="786384" y="3657600"/>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The pool</a:t>
            </a:r>
            <a:endParaRPr lang="en-US" sz="1600" dirty="0"/>
          </a:p>
        </p:txBody>
      </p:sp>
      <p:sp>
        <p:nvSpPr>
          <p:cNvPr id="15" name="Text 13"/>
          <p:cNvSpPr txBox="1"/>
          <p:nvPr/>
        </p:nvSpPr>
        <p:spPr>
          <a:xfrm>
            <a:off x="786384" y="4041648"/>
            <a:ext cx="2999232" cy="1316736"/>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More seeds, fewer crops each. tdg harvest fetches real open-license media once and caches it — stock APIs forbid bulk downloading, so one polite harvest serves every pack thereafter.</a:t>
            </a:r>
            <a:endParaRPr lang="en-US" sz="1400" dirty="0"/>
          </a:p>
        </p:txBody>
      </p:sp>
      <p:sp>
        <p:nvSpPr>
          <p:cNvPr id="16" name="Shape 14"/>
          <p:cNvSpPr/>
          <p:nvPr/>
        </p:nvSpPr>
        <p:spPr>
          <a:xfrm>
            <a:off x="4361688" y="3493008"/>
            <a:ext cx="3447288" cy="1993392"/>
          </a:xfrm>
          <a:prstGeom prst="roundRect">
            <a:avLst>
              <a:gd name="adj" fmla="val 4128"/>
            </a:avLst>
          </a:prstGeom>
          <a:solidFill>
            <a:srgbClr val="E4EEE9"/>
          </a:solidFill>
          <a:ln w="12700">
            <a:solidFill>
              <a:srgbClr val="E4EEE9"/>
            </a:solidFill>
            <a:prstDash val="solid"/>
          </a:ln>
        </p:spPr>
      </p:sp>
      <p:sp>
        <p:nvSpPr>
          <p:cNvPr id="17" name="Text 15"/>
          <p:cNvSpPr txBox="1"/>
          <p:nvPr/>
        </p:nvSpPr>
        <p:spPr>
          <a:xfrm>
            <a:off x="4599432" y="3657600"/>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Variation per file</a:t>
            </a:r>
            <a:endParaRPr lang="en-US" sz="1600" dirty="0"/>
          </a:p>
        </p:txBody>
      </p:sp>
      <p:sp>
        <p:nvSpPr>
          <p:cNvPr id="18" name="Text 16"/>
          <p:cNvSpPr txBox="1"/>
          <p:nvPr/>
        </p:nvSpPr>
        <p:spPr>
          <a:xfrm>
            <a:off x="4599432" y="4041648"/>
            <a:ext cx="2999232" cy="1316736"/>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A random crop window and scale, a horizontal flip, a slight rotation, and jitter on colour, brightness and contrast. Geometry alone was not enough: two overlapping crops diverge once their tone does.</a:t>
            </a:r>
            <a:endParaRPr lang="en-US" sz="1400" dirty="0"/>
          </a:p>
        </p:txBody>
      </p:sp>
      <p:sp>
        <p:nvSpPr>
          <p:cNvPr id="19" name="Shape 17"/>
          <p:cNvSpPr/>
          <p:nvPr/>
        </p:nvSpPr>
        <p:spPr>
          <a:xfrm>
            <a:off x="8174736" y="3493008"/>
            <a:ext cx="3447288" cy="1993392"/>
          </a:xfrm>
          <a:prstGeom prst="roundRect">
            <a:avLst>
              <a:gd name="adj" fmla="val 4128"/>
            </a:avLst>
          </a:prstGeom>
          <a:solidFill>
            <a:srgbClr val="E4EEE9"/>
          </a:solidFill>
          <a:ln w="12700">
            <a:solidFill>
              <a:srgbClr val="E4EEE9"/>
            </a:solidFill>
            <a:prstDash val="solid"/>
          </a:ln>
        </p:spPr>
      </p:sp>
      <p:sp>
        <p:nvSpPr>
          <p:cNvPr id="20" name="Text 18"/>
          <p:cNvSpPr txBox="1"/>
          <p:nvPr/>
        </p:nvSpPr>
        <p:spPr>
          <a:xfrm>
            <a:off x="8412480" y="3657600"/>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A uniqueness gate</a:t>
            </a:r>
            <a:endParaRPr lang="en-US" sz="1600" dirty="0"/>
          </a:p>
        </p:txBody>
      </p:sp>
      <p:sp>
        <p:nvSpPr>
          <p:cNvPr id="21" name="Text 19"/>
          <p:cNvSpPr txBox="1"/>
          <p:nvPr/>
        </p:nvSpPr>
        <p:spPr>
          <a:xfrm>
            <a:off x="8412480" y="4041648"/>
            <a:ext cx="2999232" cy="1316736"/>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Each still is perceptually hashed as it is rendered, and redrawn if it lands within 6 bits of one already in the pack. If the pool is too small to satisfy it, the build says so rather than spinning.</a:t>
            </a:r>
            <a:endParaRPr lang="en-US" sz="1400" dirty="0"/>
          </a:p>
        </p:txBody>
      </p:sp>
      <p:sp>
        <p:nvSpPr>
          <p:cNvPr id="22" name="Text 20"/>
          <p:cNvSpPr txBox="1"/>
          <p:nvPr/>
        </p:nvSpPr>
        <p:spPr>
          <a:xfrm>
            <a:off x="548640" y="5650992"/>
            <a:ext cx="11064240" cy="384048"/>
          </a:xfrm>
          <a:prstGeom prst="rect">
            <a:avLst/>
          </a:prstGeom>
          <a:noFill/>
          <a:ln/>
        </p:spPr>
        <p:txBody>
          <a:bodyPr wrap="square" lIns="0" tIns="0" rIns="0" bIns="0" rtlCol="0" anchor="ctr"/>
          <a:lstStyle/>
          <a:p>
            <a:pPr indent="0" marL="0">
              <a:buNone/>
            </a:pPr>
            <a:r>
              <a:rPr lang="en-US" sz="1500" i="1" dirty="0">
                <a:solidFill>
                  <a:srgbClr val="9C4A32"/>
                </a:solidFill>
                <a:latin typeface="Cambria" pitchFamily="34" charset="0"/>
                <a:ea typeface="Cambria" pitchFamily="34" charset="-122"/>
                <a:cs typeface="Cambria" pitchFamily="34" charset="-120"/>
              </a:rPr>
              <a:t>The duplicates a pack is supposed to contain — the byte-identical copy and the burst run — come from --edge-cases and never enter the gate.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WHAT IT FINDS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The awkward files, on purpose</a:t>
            </a:r>
            <a:endParaRPr lang="en-US" sz="3200" dirty="0"/>
          </a:p>
        </p:txBody>
      </p:sp>
      <p:sp>
        <p:nvSpPr>
          <p:cNvPr id="4" name="Text 2"/>
          <p:cNvSpPr txBox="1"/>
          <p:nvPr/>
        </p:nvSpPr>
        <p:spPr>
          <a:xfrm>
            <a:off x="548640" y="1426464"/>
            <a:ext cx="11064240" cy="329184"/>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A pack can carry the assets that break naive gallery code. Each one has found a real bug already.</a:t>
            </a:r>
            <a:endParaRPr lang="en-US" sz="1400" dirty="0"/>
          </a:p>
        </p:txBody>
      </p:sp>
      <p:sp>
        <p:nvSpPr>
          <p:cNvPr id="5" name="Shape 3"/>
          <p:cNvSpPr/>
          <p:nvPr/>
        </p:nvSpPr>
        <p:spPr>
          <a:xfrm>
            <a:off x="548640" y="1901952"/>
            <a:ext cx="3447288" cy="1664208"/>
          </a:xfrm>
          <a:prstGeom prst="roundRect">
            <a:avLst>
              <a:gd name="adj" fmla="val 4945"/>
            </a:avLst>
          </a:prstGeom>
          <a:solidFill>
            <a:srgbClr val="E4EEE9"/>
          </a:solidFill>
          <a:ln w="12700">
            <a:solidFill>
              <a:srgbClr val="E4EEE9"/>
            </a:solidFill>
            <a:prstDash val="solid"/>
          </a:ln>
        </p:spPr>
      </p:sp>
      <p:sp>
        <p:nvSpPr>
          <p:cNvPr id="6" name="Text 4"/>
          <p:cNvSpPr txBox="1"/>
          <p:nvPr/>
        </p:nvSpPr>
        <p:spPr>
          <a:xfrm>
            <a:off x="786384" y="2066544"/>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Zero-byte file</a:t>
            </a:r>
            <a:endParaRPr lang="en-US" sz="1600" dirty="0"/>
          </a:p>
        </p:txBody>
      </p:sp>
      <p:sp>
        <p:nvSpPr>
          <p:cNvPr id="7" name="Text 5"/>
          <p:cNvSpPr txBox="1"/>
          <p:nvPr/>
        </p:nvSpPr>
        <p:spPr>
          <a:xfrm>
            <a:off x="786384" y="2450592"/>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iOS refuses it; Android indexes it happily — the same pack becomes a different library on each platform.</a:t>
            </a:r>
            <a:endParaRPr lang="en-US" sz="1400" dirty="0"/>
          </a:p>
        </p:txBody>
      </p:sp>
      <p:sp>
        <p:nvSpPr>
          <p:cNvPr id="8" name="Shape 6"/>
          <p:cNvSpPr/>
          <p:nvPr/>
        </p:nvSpPr>
        <p:spPr>
          <a:xfrm>
            <a:off x="4361688" y="1901952"/>
            <a:ext cx="3447288" cy="1664208"/>
          </a:xfrm>
          <a:prstGeom prst="roundRect">
            <a:avLst>
              <a:gd name="adj" fmla="val 4945"/>
            </a:avLst>
          </a:prstGeom>
          <a:solidFill>
            <a:srgbClr val="E4EEE9"/>
          </a:solidFill>
          <a:ln w="12700">
            <a:solidFill>
              <a:srgbClr val="E4EEE9"/>
            </a:solidFill>
            <a:prstDash val="solid"/>
          </a:ln>
        </p:spPr>
      </p:sp>
      <p:sp>
        <p:nvSpPr>
          <p:cNvPr id="9" name="Text 7"/>
          <p:cNvSpPr txBox="1"/>
          <p:nvPr/>
        </p:nvSpPr>
        <p:spPr>
          <a:xfrm>
            <a:off x="4599432" y="2066544"/>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Screenshot, no EXIF</a:t>
            </a:r>
            <a:endParaRPr lang="en-US" sz="1600" dirty="0"/>
          </a:p>
        </p:txBody>
      </p:sp>
      <p:sp>
        <p:nvSpPr>
          <p:cNvPr id="10" name="Text 8"/>
          <p:cNvSpPr txBox="1"/>
          <p:nvPr/>
        </p:nvSpPr>
        <p:spPr>
          <a:xfrm>
            <a:off x="4599432" y="2450592"/>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No DATE_TAKEN, so Samsung files it under "Today" — and it becomes the album cover.</a:t>
            </a:r>
            <a:endParaRPr lang="en-US" sz="1400" dirty="0"/>
          </a:p>
        </p:txBody>
      </p:sp>
      <p:sp>
        <p:nvSpPr>
          <p:cNvPr id="11" name="Shape 9"/>
          <p:cNvSpPr/>
          <p:nvPr/>
        </p:nvSpPr>
        <p:spPr>
          <a:xfrm>
            <a:off x="8174736" y="1901952"/>
            <a:ext cx="3447288" cy="1664208"/>
          </a:xfrm>
          <a:prstGeom prst="roundRect">
            <a:avLst>
              <a:gd name="adj" fmla="val 4945"/>
            </a:avLst>
          </a:prstGeom>
          <a:solidFill>
            <a:srgbClr val="E4EEE9"/>
          </a:solidFill>
          <a:ln w="12700">
            <a:solidFill>
              <a:srgbClr val="E4EEE9"/>
            </a:solidFill>
            <a:prstDash val="solid"/>
          </a:ln>
        </p:spPr>
      </p:sp>
      <p:sp>
        <p:nvSpPr>
          <p:cNvPr id="12" name="Text 10"/>
          <p:cNvSpPr txBox="1"/>
          <p:nvPr/>
        </p:nvSpPr>
        <p:spPr>
          <a:xfrm>
            <a:off x="8412480" y="2066544"/>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Exact duplicate</a:t>
            </a:r>
            <a:endParaRPr lang="en-US" sz="1600" dirty="0"/>
          </a:p>
        </p:txBody>
      </p:sp>
      <p:sp>
        <p:nvSpPr>
          <p:cNvPr id="13" name="Text 11"/>
          <p:cNvSpPr txBox="1"/>
          <p:nvPr/>
        </p:nvSpPr>
        <p:spPr>
          <a:xfrm>
            <a:off x="8412480" y="2450592"/>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The only one in the pack — every other still is held apart by the uniqueness gate. This one exists for a dedupe engine to find.</a:t>
            </a:r>
            <a:endParaRPr lang="en-US" sz="1400" dirty="0"/>
          </a:p>
        </p:txBody>
      </p:sp>
      <p:sp>
        <p:nvSpPr>
          <p:cNvPr id="14" name="Shape 12"/>
          <p:cNvSpPr/>
          <p:nvPr/>
        </p:nvSpPr>
        <p:spPr>
          <a:xfrm>
            <a:off x="548640" y="3712464"/>
            <a:ext cx="3447288" cy="1664208"/>
          </a:xfrm>
          <a:prstGeom prst="roundRect">
            <a:avLst>
              <a:gd name="adj" fmla="val 4945"/>
            </a:avLst>
          </a:prstGeom>
          <a:solidFill>
            <a:srgbClr val="E4EEE9"/>
          </a:solidFill>
          <a:ln w="12700">
            <a:solidFill>
              <a:srgbClr val="E4EEE9"/>
            </a:solidFill>
            <a:prstDash val="solid"/>
          </a:ln>
        </p:spPr>
      </p:sp>
      <p:sp>
        <p:nvSpPr>
          <p:cNvPr id="15" name="Text 13"/>
          <p:cNvSpPr txBox="1"/>
          <p:nvPr/>
        </p:nvSpPr>
        <p:spPr>
          <a:xfrm>
            <a:off x="786384" y="3877056"/>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Burst of five</a:t>
            </a:r>
            <a:endParaRPr lang="en-US" sz="1600" dirty="0"/>
          </a:p>
        </p:txBody>
      </p:sp>
      <p:sp>
        <p:nvSpPr>
          <p:cNvPr id="16" name="Text 14"/>
          <p:cNvSpPr txBox="1"/>
          <p:nvPr/>
        </p:nvSpPr>
        <p:spPr>
          <a:xfrm>
            <a:off x="786384" y="4261104"/>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The same scene 380 ms apart — timeline and "best of" grouping.</a:t>
            </a:r>
            <a:endParaRPr lang="en-US" sz="1400" dirty="0"/>
          </a:p>
        </p:txBody>
      </p:sp>
      <p:sp>
        <p:nvSpPr>
          <p:cNvPr id="17" name="Shape 15"/>
          <p:cNvSpPr/>
          <p:nvPr/>
        </p:nvSpPr>
        <p:spPr>
          <a:xfrm>
            <a:off x="4361688" y="3712464"/>
            <a:ext cx="3447288" cy="1664208"/>
          </a:xfrm>
          <a:prstGeom prst="roundRect">
            <a:avLst>
              <a:gd name="adj" fmla="val 4945"/>
            </a:avLst>
          </a:prstGeom>
          <a:solidFill>
            <a:srgbClr val="E4EEE9"/>
          </a:solidFill>
          <a:ln w="12700">
            <a:solidFill>
              <a:srgbClr val="E4EEE9"/>
            </a:solidFill>
            <a:prstDash val="solid"/>
          </a:ln>
        </p:spPr>
      </p:sp>
      <p:sp>
        <p:nvSpPr>
          <p:cNvPr id="18" name="Text 16"/>
          <p:cNvSpPr txBox="1"/>
          <p:nvPr/>
        </p:nvSpPr>
        <p:spPr>
          <a:xfrm>
            <a:off x="4599432" y="3877056"/>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Truncated JPEG</a:t>
            </a:r>
            <a:endParaRPr lang="en-US" sz="1600" dirty="0"/>
          </a:p>
        </p:txBody>
      </p:sp>
      <p:sp>
        <p:nvSpPr>
          <p:cNvPr id="19" name="Text 17"/>
          <p:cNvSpPr txBox="1"/>
          <p:nvPr/>
        </p:nvSpPr>
        <p:spPr>
          <a:xfrm>
            <a:off x="4599432" y="4261104"/>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Valid header, body cut short. Decoders should fail gracefully, not hang.</a:t>
            </a:r>
            <a:endParaRPr lang="en-US" sz="1400" dirty="0"/>
          </a:p>
        </p:txBody>
      </p:sp>
      <p:sp>
        <p:nvSpPr>
          <p:cNvPr id="20" name="Shape 18"/>
          <p:cNvSpPr/>
          <p:nvPr/>
        </p:nvSpPr>
        <p:spPr>
          <a:xfrm>
            <a:off x="8174736" y="3712464"/>
            <a:ext cx="3447288" cy="1664208"/>
          </a:xfrm>
          <a:prstGeom prst="roundRect">
            <a:avLst>
              <a:gd name="adj" fmla="val 4945"/>
            </a:avLst>
          </a:prstGeom>
          <a:solidFill>
            <a:srgbClr val="E4EEE9"/>
          </a:solidFill>
          <a:ln w="12700">
            <a:solidFill>
              <a:srgbClr val="E4EEE9"/>
            </a:solidFill>
            <a:prstDash val="solid"/>
          </a:ln>
        </p:spPr>
      </p:sp>
      <p:sp>
        <p:nvSpPr>
          <p:cNvPr id="21" name="Text 19"/>
          <p:cNvSpPr txBox="1"/>
          <p:nvPr/>
        </p:nvSpPr>
        <p:spPr>
          <a:xfrm>
            <a:off x="8412480" y="3877056"/>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Non-ASCII filename</a:t>
            </a:r>
            <a:endParaRPr lang="en-US" sz="1600" dirty="0"/>
          </a:p>
        </p:txBody>
      </p:sp>
      <p:sp>
        <p:nvSpPr>
          <p:cNvPr id="22" name="Text 20"/>
          <p:cNvSpPr txBox="1"/>
          <p:nvPr/>
        </p:nvSpPr>
        <p:spPr>
          <a:xfrm>
            <a:off x="8412480" y="4261104"/>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Accented and CJK characters. Every layer that shells out or builds a URL gets a vote — two failed.</a:t>
            </a:r>
            <a:endParaRPr lang="en-US" sz="1400" dirty="0"/>
          </a:p>
        </p:txBody>
      </p:sp>
      <p:sp>
        <p:nvSpPr>
          <p:cNvPr id="23" name="Text 21"/>
          <p:cNvSpPr txBox="1"/>
          <p:nvPr/>
        </p:nvSpPr>
        <p:spPr>
          <a:xfrm>
            <a:off x="548640" y="5687568"/>
            <a:ext cx="11064240" cy="384048"/>
          </a:xfrm>
          <a:prstGeom prst="rect">
            <a:avLst/>
          </a:prstGeom>
          <a:noFill/>
          <a:ln/>
        </p:spPr>
        <p:txBody>
          <a:bodyPr wrap="square" lIns="0" tIns="0" rIns="0" bIns="0" rtlCol="0" anchor="ctr"/>
          <a:lstStyle/>
          <a:p>
            <a:pPr indent="0" marL="0">
              <a:buNone/>
            </a:pPr>
            <a:r>
              <a:rPr lang="en-US" sz="1500" i="1" dirty="0">
                <a:solidFill>
                  <a:srgbClr val="9C4A32"/>
                </a:solidFill>
                <a:latin typeface="Cambria" pitchFamily="34" charset="0"/>
                <a:ea typeface="Cambria" pitchFamily="34" charset="-122"/>
                <a:cs typeface="Cambria" pitchFamily="34" charset="-120"/>
              </a:rPr>
              <a:t>Three of these found real bugs on their first run — including one that made the iOS loader discard 300 MB of completed transfer.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USE CASES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Who it is for</a:t>
            </a:r>
            <a:endParaRPr lang="en-US" sz="3200" dirty="0"/>
          </a:p>
        </p:txBody>
      </p:sp>
      <p:sp>
        <p:nvSpPr>
          <p:cNvPr id="4" name="Shape 2"/>
          <p:cNvSpPr/>
          <p:nvPr/>
        </p:nvSpPr>
        <p:spPr>
          <a:xfrm>
            <a:off x="548640" y="1645920"/>
            <a:ext cx="164592" cy="164592"/>
          </a:xfrm>
          <a:prstGeom prst="ellipse">
            <a:avLst/>
          </a:prstGeom>
          <a:solidFill>
            <a:srgbClr val="AACABD"/>
          </a:solidFill>
          <a:ln w="12700">
            <a:solidFill>
              <a:srgbClr val="AACABD"/>
            </a:solidFill>
            <a:prstDash val="solid"/>
          </a:ln>
        </p:spPr>
      </p:sp>
      <p:sp>
        <p:nvSpPr>
          <p:cNvPr id="5" name="Text 3"/>
          <p:cNvSpPr txBox="1"/>
          <p:nvPr/>
        </p:nvSpPr>
        <p:spPr>
          <a:xfrm>
            <a:off x="877824" y="1572768"/>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Backup and sync clients</a:t>
            </a:r>
            <a:endParaRPr lang="en-US" sz="1600" dirty="0"/>
          </a:p>
        </p:txBody>
      </p:sp>
      <p:sp>
        <p:nvSpPr>
          <p:cNvPr id="6" name="Text 4"/>
          <p:cNvSpPr txBox="1"/>
          <p:nvPr/>
        </p:nvSpPr>
        <p:spPr>
          <a:xfrm>
            <a:off x="877824" y="1920240"/>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Does a 64 GB library upload completely, resume after a drop, and not re-upload what it already has?</a:t>
            </a:r>
            <a:endParaRPr lang="en-US" sz="1400" dirty="0"/>
          </a:p>
        </p:txBody>
      </p:sp>
      <p:sp>
        <p:nvSpPr>
          <p:cNvPr id="7" name="Shape 5"/>
          <p:cNvSpPr/>
          <p:nvPr/>
        </p:nvSpPr>
        <p:spPr>
          <a:xfrm>
            <a:off x="6263640" y="1645920"/>
            <a:ext cx="164592" cy="164592"/>
          </a:xfrm>
          <a:prstGeom prst="ellipse">
            <a:avLst/>
          </a:prstGeom>
          <a:solidFill>
            <a:srgbClr val="AACABD"/>
          </a:solidFill>
          <a:ln w="12700">
            <a:solidFill>
              <a:srgbClr val="AACABD"/>
            </a:solidFill>
            <a:prstDash val="solid"/>
          </a:ln>
        </p:spPr>
      </p:sp>
      <p:sp>
        <p:nvSpPr>
          <p:cNvPr id="8" name="Text 6"/>
          <p:cNvSpPr txBox="1"/>
          <p:nvPr/>
        </p:nvSpPr>
        <p:spPr>
          <a:xfrm>
            <a:off x="6592824" y="1572768"/>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Dedupe engines</a:t>
            </a:r>
            <a:endParaRPr lang="en-US" sz="1600" dirty="0"/>
          </a:p>
        </p:txBody>
      </p:sp>
      <p:sp>
        <p:nvSpPr>
          <p:cNvPr id="9" name="Text 7"/>
          <p:cNvSpPr txBox="1"/>
          <p:nvPr/>
        </p:nvSpPr>
        <p:spPr>
          <a:xfrm>
            <a:off x="6592824" y="1920240"/>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Byte-identical duplicates and near-identical burst frames, deliberately planted.</a:t>
            </a:r>
            <a:endParaRPr lang="en-US" sz="1400" dirty="0"/>
          </a:p>
        </p:txBody>
      </p:sp>
      <p:sp>
        <p:nvSpPr>
          <p:cNvPr id="10" name="Shape 8"/>
          <p:cNvSpPr/>
          <p:nvPr/>
        </p:nvSpPr>
        <p:spPr>
          <a:xfrm>
            <a:off x="548640" y="3163824"/>
            <a:ext cx="164592" cy="164592"/>
          </a:xfrm>
          <a:prstGeom prst="ellipse">
            <a:avLst/>
          </a:prstGeom>
          <a:solidFill>
            <a:srgbClr val="AACABD"/>
          </a:solidFill>
          <a:ln w="12700">
            <a:solidFill>
              <a:srgbClr val="AACABD"/>
            </a:solidFill>
            <a:prstDash val="solid"/>
          </a:ln>
        </p:spPr>
      </p:sp>
      <p:sp>
        <p:nvSpPr>
          <p:cNvPr id="11" name="Text 9"/>
          <p:cNvSpPr txBox="1"/>
          <p:nvPr/>
        </p:nvSpPr>
        <p:spPr>
          <a:xfrm>
            <a:off x="877824" y="3090672"/>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Timeline and album grouping</a:t>
            </a:r>
            <a:endParaRPr lang="en-US" sz="1600" dirty="0"/>
          </a:p>
        </p:txBody>
      </p:sp>
      <p:sp>
        <p:nvSpPr>
          <p:cNvPr id="12" name="Text 10"/>
          <p:cNvSpPr txBox="1"/>
          <p:nvPr/>
        </p:nvSpPr>
        <p:spPr>
          <a:xfrm>
            <a:off x="877824" y="3438144"/>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Capture dates clustered into bursts with sparse months between — a uniform sprinkle makes every grouping feature look identical.</a:t>
            </a:r>
            <a:endParaRPr lang="en-US" sz="1400" dirty="0"/>
          </a:p>
        </p:txBody>
      </p:sp>
      <p:sp>
        <p:nvSpPr>
          <p:cNvPr id="13" name="Shape 11"/>
          <p:cNvSpPr/>
          <p:nvPr/>
        </p:nvSpPr>
        <p:spPr>
          <a:xfrm>
            <a:off x="6263640" y="3163824"/>
            <a:ext cx="164592" cy="164592"/>
          </a:xfrm>
          <a:prstGeom prst="ellipse">
            <a:avLst/>
          </a:prstGeom>
          <a:solidFill>
            <a:srgbClr val="AACABD"/>
          </a:solidFill>
          <a:ln w="12700">
            <a:solidFill>
              <a:srgbClr val="AACABD"/>
            </a:solidFill>
            <a:prstDash val="solid"/>
          </a:ln>
        </p:spPr>
      </p:sp>
      <p:sp>
        <p:nvSpPr>
          <p:cNvPr id="14" name="Text 12"/>
          <p:cNvSpPr txBox="1"/>
          <p:nvPr/>
        </p:nvSpPr>
        <p:spPr>
          <a:xfrm>
            <a:off x="6592824" y="3090672"/>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Migration and device transfer</a:t>
            </a:r>
            <a:endParaRPr lang="en-US" sz="1600" dirty="0"/>
          </a:p>
        </p:txBody>
      </p:sp>
      <p:sp>
        <p:nvSpPr>
          <p:cNvPr id="15" name="Text 13"/>
          <p:cNvSpPr txBox="1"/>
          <p:nvPr/>
        </p:nvSpPr>
        <p:spPr>
          <a:xfrm>
            <a:off x="6592824" y="3438144"/>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Fill the old phone, run the transfer, verify what landed on the new one.</a:t>
            </a:r>
            <a:endParaRPr lang="en-US" sz="1400" dirty="0"/>
          </a:p>
        </p:txBody>
      </p:sp>
      <p:sp>
        <p:nvSpPr>
          <p:cNvPr id="16" name="Shape 14"/>
          <p:cNvSpPr/>
          <p:nvPr/>
        </p:nvSpPr>
        <p:spPr>
          <a:xfrm>
            <a:off x="548640" y="4681728"/>
            <a:ext cx="164592" cy="164592"/>
          </a:xfrm>
          <a:prstGeom prst="ellipse">
            <a:avLst/>
          </a:prstGeom>
          <a:solidFill>
            <a:srgbClr val="AACABD"/>
          </a:solidFill>
          <a:ln w="12700">
            <a:solidFill>
              <a:srgbClr val="AACABD"/>
            </a:solidFill>
            <a:prstDash val="solid"/>
          </a:ln>
        </p:spPr>
      </p:sp>
      <p:sp>
        <p:nvSpPr>
          <p:cNvPr id="17" name="Text 15"/>
          <p:cNvSpPr txBox="1"/>
          <p:nvPr/>
        </p:nvSpPr>
        <p:spPr>
          <a:xfrm>
            <a:off x="877824" y="4608576"/>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Storage and quota edges</a:t>
            </a:r>
            <a:endParaRPr lang="en-US" sz="1600" dirty="0"/>
          </a:p>
        </p:txBody>
      </p:sp>
      <p:sp>
        <p:nvSpPr>
          <p:cNvPr id="18" name="Text 16"/>
          <p:cNvSpPr txBox="1"/>
          <p:nvPr/>
        </p:nvSpPr>
        <p:spPr>
          <a:xfrm>
            <a:off x="877824" y="4956048"/>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Exact byte targets put the device precisely at the boundary where the bugs live.</a:t>
            </a:r>
            <a:endParaRPr lang="en-US" sz="1400" dirty="0"/>
          </a:p>
        </p:txBody>
      </p:sp>
      <p:sp>
        <p:nvSpPr>
          <p:cNvPr id="19" name="Shape 17"/>
          <p:cNvSpPr/>
          <p:nvPr/>
        </p:nvSpPr>
        <p:spPr>
          <a:xfrm>
            <a:off x="6263640" y="4681728"/>
            <a:ext cx="164592" cy="164592"/>
          </a:xfrm>
          <a:prstGeom prst="ellipse">
            <a:avLst/>
          </a:prstGeom>
          <a:solidFill>
            <a:srgbClr val="AACABD"/>
          </a:solidFill>
          <a:ln w="12700">
            <a:solidFill>
              <a:srgbClr val="AACABD"/>
            </a:solidFill>
            <a:prstDash val="solid"/>
          </a:ln>
        </p:spPr>
      </p:sp>
      <p:sp>
        <p:nvSpPr>
          <p:cNvPr id="20" name="Text 18"/>
          <p:cNvSpPr txBox="1"/>
          <p:nvPr/>
        </p:nvSpPr>
        <p:spPr>
          <a:xfrm>
            <a:off x="6592824" y="4608576"/>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CI and regression</a:t>
            </a:r>
            <a:endParaRPr lang="en-US" sz="1600" dirty="0"/>
          </a:p>
        </p:txBody>
      </p:sp>
      <p:sp>
        <p:nvSpPr>
          <p:cNvPr id="21" name="Text 19"/>
          <p:cNvSpPr txBox="1"/>
          <p:nvPr/>
        </p:nvSpPr>
        <p:spPr>
          <a:xfrm>
            <a:off x="6592824" y="4956048"/>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A failing pack is reproducible from its job id and seed, and tdg verify fails the build.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EVIDENCE</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Proven on real hardware, not just emulators</a:t>
            </a:r>
            <a:endParaRPr lang="en-US" sz="3200" dirty="0"/>
          </a:p>
        </p:txBody>
      </p:sp>
      <p:sp>
        <p:nvSpPr>
          <p:cNvPr id="4" name="Shape 2"/>
          <p:cNvSpPr/>
          <p:nvPr/>
        </p:nvSpPr>
        <p:spPr>
          <a:xfrm>
            <a:off x="548640" y="1426464"/>
            <a:ext cx="5486400" cy="2724912"/>
          </a:xfrm>
          <a:prstGeom prst="roundRect">
            <a:avLst>
              <a:gd name="adj" fmla="val 3020"/>
            </a:avLst>
          </a:prstGeom>
          <a:solidFill>
            <a:srgbClr val="E4EEE9"/>
          </a:solidFill>
          <a:ln w="12700">
            <a:solidFill>
              <a:srgbClr val="E4EEE9"/>
            </a:solidFill>
            <a:prstDash val="solid"/>
          </a:ln>
        </p:spPr>
      </p:sp>
      <p:sp>
        <p:nvSpPr>
          <p:cNvPr id="5" name="Shape 3"/>
          <p:cNvSpPr/>
          <p:nvPr/>
        </p:nvSpPr>
        <p:spPr>
          <a:xfrm>
            <a:off x="896112" y="1700784"/>
            <a:ext cx="1051560" cy="2155698"/>
          </a:xfrm>
          <a:prstGeom prst="roundRect">
            <a:avLst>
              <a:gd name="adj" fmla="val 9565"/>
            </a:avLst>
          </a:prstGeom>
          <a:solidFill>
            <a:srgbClr val="222E38"/>
          </a:solidFill>
          <a:ln w="12700">
            <a:solidFill>
              <a:srgbClr val="222E38"/>
            </a:solidFill>
            <a:prstDash val="solid"/>
          </a:ln>
        </p:spPr>
      </p:sp>
      <p:sp>
        <p:nvSpPr>
          <p:cNvPr id="6" name="Shape 4"/>
          <p:cNvSpPr/>
          <p:nvPr/>
        </p:nvSpPr>
        <p:spPr>
          <a:xfrm>
            <a:off x="959206" y="1763878"/>
            <a:ext cx="925373" cy="2029511"/>
          </a:xfrm>
          <a:prstGeom prst="roundRect">
            <a:avLst>
              <a:gd name="adj" fmla="val 7905"/>
            </a:avLst>
          </a:prstGeom>
          <a:solidFill>
            <a:srgbClr val="F4F8F6"/>
          </a:solidFill>
          <a:ln w="12700">
            <a:solidFill>
              <a:srgbClr val="F4F8F6"/>
            </a:solidFill>
            <a:prstDash val="solid"/>
          </a:ln>
        </p:spPr>
      </p:sp>
      <p:sp>
        <p:nvSpPr>
          <p:cNvPr id="7" name="Shape 5"/>
          <p:cNvSpPr/>
          <p:nvPr/>
        </p:nvSpPr>
        <p:spPr>
          <a:xfrm>
            <a:off x="1385316" y="1814170"/>
            <a:ext cx="73152" cy="73152"/>
          </a:xfrm>
          <a:prstGeom prst="ellipse">
            <a:avLst/>
          </a:prstGeom>
          <a:solidFill>
            <a:srgbClr val="222E38"/>
          </a:solidFill>
          <a:ln w="12700">
            <a:solidFill>
              <a:srgbClr val="222E38"/>
            </a:solidFill>
            <a:prstDash val="solid"/>
          </a:ln>
        </p:spPr>
      </p:sp>
      <p:sp>
        <p:nvSpPr>
          <p:cNvPr id="8" name="Shape 6"/>
          <p:cNvSpPr/>
          <p:nvPr/>
        </p:nvSpPr>
        <p:spPr>
          <a:xfrm>
            <a:off x="1023214" y="1965046"/>
            <a:ext cx="244450" cy="244450"/>
          </a:xfrm>
          <a:prstGeom prst="roundRect">
            <a:avLst>
              <a:gd name="adj" fmla="val 7481"/>
            </a:avLst>
          </a:prstGeom>
          <a:solidFill>
            <a:srgbClr val="AACABD"/>
          </a:solidFill>
          <a:ln w="12700">
            <a:solidFill>
              <a:srgbClr val="AACABD"/>
            </a:solidFill>
            <a:prstDash val="solid"/>
          </a:ln>
        </p:spPr>
      </p:sp>
      <p:sp>
        <p:nvSpPr>
          <p:cNvPr id="9" name="Shape 7"/>
          <p:cNvSpPr/>
          <p:nvPr/>
        </p:nvSpPr>
        <p:spPr>
          <a:xfrm>
            <a:off x="1299667" y="1965046"/>
            <a:ext cx="244450" cy="244450"/>
          </a:xfrm>
          <a:prstGeom prst="roundRect">
            <a:avLst>
              <a:gd name="adj" fmla="val 7481"/>
            </a:avLst>
          </a:prstGeom>
          <a:solidFill>
            <a:srgbClr val="8FB6A6"/>
          </a:solidFill>
          <a:ln w="12700">
            <a:solidFill>
              <a:srgbClr val="8FB6A6"/>
            </a:solidFill>
            <a:prstDash val="solid"/>
          </a:ln>
        </p:spPr>
      </p:sp>
      <p:sp>
        <p:nvSpPr>
          <p:cNvPr id="10" name="Shape 8"/>
          <p:cNvSpPr/>
          <p:nvPr/>
        </p:nvSpPr>
        <p:spPr>
          <a:xfrm>
            <a:off x="1576121" y="1965046"/>
            <a:ext cx="244450" cy="244450"/>
          </a:xfrm>
          <a:prstGeom prst="roundRect">
            <a:avLst>
              <a:gd name="adj" fmla="val 7481"/>
            </a:avLst>
          </a:prstGeom>
          <a:solidFill>
            <a:srgbClr val="B4D0C4"/>
          </a:solidFill>
          <a:ln w="12700">
            <a:solidFill>
              <a:srgbClr val="B4D0C4"/>
            </a:solidFill>
            <a:prstDash val="solid"/>
          </a:ln>
        </p:spPr>
      </p:sp>
      <p:sp>
        <p:nvSpPr>
          <p:cNvPr id="11" name="Shape 9"/>
          <p:cNvSpPr/>
          <p:nvPr/>
        </p:nvSpPr>
        <p:spPr>
          <a:xfrm>
            <a:off x="1023214" y="2241499"/>
            <a:ext cx="244450" cy="244450"/>
          </a:xfrm>
          <a:prstGeom prst="roundRect">
            <a:avLst>
              <a:gd name="adj" fmla="val 7481"/>
            </a:avLst>
          </a:prstGeom>
          <a:solidFill>
            <a:srgbClr val="7FAE9C"/>
          </a:solidFill>
          <a:ln w="12700">
            <a:solidFill>
              <a:srgbClr val="7FAE9C"/>
            </a:solidFill>
            <a:prstDash val="solid"/>
          </a:ln>
        </p:spPr>
      </p:sp>
      <p:sp>
        <p:nvSpPr>
          <p:cNvPr id="12" name="Shape 10"/>
          <p:cNvSpPr/>
          <p:nvPr/>
        </p:nvSpPr>
        <p:spPr>
          <a:xfrm>
            <a:off x="1299667" y="2241499"/>
            <a:ext cx="244450" cy="244450"/>
          </a:xfrm>
          <a:prstGeom prst="roundRect">
            <a:avLst>
              <a:gd name="adj" fmla="val 7481"/>
            </a:avLst>
          </a:prstGeom>
          <a:solidFill>
            <a:srgbClr val="9FC3B3"/>
          </a:solidFill>
          <a:ln w="12700">
            <a:solidFill>
              <a:srgbClr val="9FC3B3"/>
            </a:solidFill>
            <a:prstDash val="solid"/>
          </a:ln>
        </p:spPr>
      </p:sp>
      <p:sp>
        <p:nvSpPr>
          <p:cNvPr id="13" name="Shape 11"/>
          <p:cNvSpPr/>
          <p:nvPr/>
        </p:nvSpPr>
        <p:spPr>
          <a:xfrm>
            <a:off x="1576121" y="2241499"/>
            <a:ext cx="244450" cy="244450"/>
          </a:xfrm>
          <a:prstGeom prst="roundRect">
            <a:avLst>
              <a:gd name="adj" fmla="val 7481"/>
            </a:avLst>
          </a:prstGeom>
          <a:solidFill>
            <a:srgbClr val="A5C7B8"/>
          </a:solidFill>
          <a:ln w="12700">
            <a:solidFill>
              <a:srgbClr val="A5C7B8"/>
            </a:solidFill>
            <a:prstDash val="solid"/>
          </a:ln>
        </p:spPr>
      </p:sp>
      <p:sp>
        <p:nvSpPr>
          <p:cNvPr id="14" name="Shape 12"/>
          <p:cNvSpPr/>
          <p:nvPr/>
        </p:nvSpPr>
        <p:spPr>
          <a:xfrm>
            <a:off x="1023214" y="2517953"/>
            <a:ext cx="244450" cy="244450"/>
          </a:xfrm>
          <a:prstGeom prst="roundRect">
            <a:avLst>
              <a:gd name="adj" fmla="val 7481"/>
            </a:avLst>
          </a:prstGeom>
          <a:solidFill>
            <a:srgbClr val="AACABD"/>
          </a:solidFill>
          <a:ln w="12700">
            <a:solidFill>
              <a:srgbClr val="AACABD"/>
            </a:solidFill>
            <a:prstDash val="solid"/>
          </a:ln>
        </p:spPr>
      </p:sp>
      <p:sp>
        <p:nvSpPr>
          <p:cNvPr id="15" name="Shape 13"/>
          <p:cNvSpPr/>
          <p:nvPr/>
        </p:nvSpPr>
        <p:spPr>
          <a:xfrm>
            <a:off x="1299667" y="2517953"/>
            <a:ext cx="244450" cy="244450"/>
          </a:xfrm>
          <a:prstGeom prst="roundRect">
            <a:avLst>
              <a:gd name="adj" fmla="val 7481"/>
            </a:avLst>
          </a:prstGeom>
          <a:solidFill>
            <a:srgbClr val="8FB6A6"/>
          </a:solidFill>
          <a:ln w="12700">
            <a:solidFill>
              <a:srgbClr val="8FB6A6"/>
            </a:solidFill>
            <a:prstDash val="solid"/>
          </a:ln>
        </p:spPr>
      </p:sp>
      <p:sp>
        <p:nvSpPr>
          <p:cNvPr id="16" name="Shape 14"/>
          <p:cNvSpPr/>
          <p:nvPr/>
        </p:nvSpPr>
        <p:spPr>
          <a:xfrm>
            <a:off x="1576121" y="2517953"/>
            <a:ext cx="244450" cy="244450"/>
          </a:xfrm>
          <a:prstGeom prst="roundRect">
            <a:avLst>
              <a:gd name="adj" fmla="val 7481"/>
            </a:avLst>
          </a:prstGeom>
          <a:solidFill>
            <a:srgbClr val="B4D0C4"/>
          </a:solidFill>
          <a:ln w="12700">
            <a:solidFill>
              <a:srgbClr val="B4D0C4"/>
            </a:solidFill>
            <a:prstDash val="solid"/>
          </a:ln>
        </p:spPr>
      </p:sp>
      <p:sp>
        <p:nvSpPr>
          <p:cNvPr id="17" name="Shape 15"/>
          <p:cNvSpPr/>
          <p:nvPr/>
        </p:nvSpPr>
        <p:spPr>
          <a:xfrm>
            <a:off x="1023214" y="2794406"/>
            <a:ext cx="244450" cy="244450"/>
          </a:xfrm>
          <a:prstGeom prst="roundRect">
            <a:avLst>
              <a:gd name="adj" fmla="val 7481"/>
            </a:avLst>
          </a:prstGeom>
          <a:solidFill>
            <a:srgbClr val="7FAE9C"/>
          </a:solidFill>
          <a:ln w="12700">
            <a:solidFill>
              <a:srgbClr val="7FAE9C"/>
            </a:solidFill>
            <a:prstDash val="solid"/>
          </a:ln>
        </p:spPr>
      </p:sp>
      <p:sp>
        <p:nvSpPr>
          <p:cNvPr id="18" name="Shape 16"/>
          <p:cNvSpPr/>
          <p:nvPr/>
        </p:nvSpPr>
        <p:spPr>
          <a:xfrm>
            <a:off x="1299667" y="2794406"/>
            <a:ext cx="244450" cy="244450"/>
          </a:xfrm>
          <a:prstGeom prst="roundRect">
            <a:avLst>
              <a:gd name="adj" fmla="val 7481"/>
            </a:avLst>
          </a:prstGeom>
          <a:solidFill>
            <a:srgbClr val="9FC3B3"/>
          </a:solidFill>
          <a:ln w="12700">
            <a:solidFill>
              <a:srgbClr val="9FC3B3"/>
            </a:solidFill>
            <a:prstDash val="solid"/>
          </a:ln>
        </p:spPr>
      </p:sp>
      <p:sp>
        <p:nvSpPr>
          <p:cNvPr id="19" name="Shape 17"/>
          <p:cNvSpPr/>
          <p:nvPr/>
        </p:nvSpPr>
        <p:spPr>
          <a:xfrm>
            <a:off x="1576121" y="2794406"/>
            <a:ext cx="244450" cy="244450"/>
          </a:xfrm>
          <a:prstGeom prst="roundRect">
            <a:avLst>
              <a:gd name="adj" fmla="val 7481"/>
            </a:avLst>
          </a:prstGeom>
          <a:solidFill>
            <a:srgbClr val="A5C7B8"/>
          </a:solidFill>
          <a:ln w="12700">
            <a:solidFill>
              <a:srgbClr val="A5C7B8"/>
            </a:solidFill>
            <a:prstDash val="solid"/>
          </a:ln>
        </p:spPr>
      </p:sp>
      <p:sp>
        <p:nvSpPr>
          <p:cNvPr id="20" name="Shape 18"/>
          <p:cNvSpPr/>
          <p:nvPr/>
        </p:nvSpPr>
        <p:spPr>
          <a:xfrm>
            <a:off x="1023214" y="3070860"/>
            <a:ext cx="244450" cy="244450"/>
          </a:xfrm>
          <a:prstGeom prst="roundRect">
            <a:avLst>
              <a:gd name="adj" fmla="val 7481"/>
            </a:avLst>
          </a:prstGeom>
          <a:solidFill>
            <a:srgbClr val="AACABD"/>
          </a:solidFill>
          <a:ln w="12700">
            <a:solidFill>
              <a:srgbClr val="AACABD"/>
            </a:solidFill>
            <a:prstDash val="solid"/>
          </a:ln>
        </p:spPr>
      </p:sp>
      <p:sp>
        <p:nvSpPr>
          <p:cNvPr id="21" name="Shape 19"/>
          <p:cNvSpPr/>
          <p:nvPr/>
        </p:nvSpPr>
        <p:spPr>
          <a:xfrm>
            <a:off x="1299667" y="3070860"/>
            <a:ext cx="244450" cy="244450"/>
          </a:xfrm>
          <a:prstGeom prst="roundRect">
            <a:avLst>
              <a:gd name="adj" fmla="val 7481"/>
            </a:avLst>
          </a:prstGeom>
          <a:solidFill>
            <a:srgbClr val="8FB6A6"/>
          </a:solidFill>
          <a:ln w="12700">
            <a:solidFill>
              <a:srgbClr val="8FB6A6"/>
            </a:solidFill>
            <a:prstDash val="solid"/>
          </a:ln>
        </p:spPr>
      </p:sp>
      <p:sp>
        <p:nvSpPr>
          <p:cNvPr id="22" name="Shape 20"/>
          <p:cNvSpPr/>
          <p:nvPr/>
        </p:nvSpPr>
        <p:spPr>
          <a:xfrm>
            <a:off x="1576121" y="3070860"/>
            <a:ext cx="244450" cy="244450"/>
          </a:xfrm>
          <a:prstGeom prst="roundRect">
            <a:avLst>
              <a:gd name="adj" fmla="val 7481"/>
            </a:avLst>
          </a:prstGeom>
          <a:solidFill>
            <a:srgbClr val="B4D0C4"/>
          </a:solidFill>
          <a:ln w="12700">
            <a:solidFill>
              <a:srgbClr val="B4D0C4"/>
            </a:solidFill>
            <a:prstDash val="solid"/>
          </a:ln>
        </p:spPr>
      </p:sp>
      <p:sp>
        <p:nvSpPr>
          <p:cNvPr id="23" name="Shape 21"/>
          <p:cNvSpPr/>
          <p:nvPr/>
        </p:nvSpPr>
        <p:spPr>
          <a:xfrm>
            <a:off x="1023214" y="3347314"/>
            <a:ext cx="244450" cy="244450"/>
          </a:xfrm>
          <a:prstGeom prst="roundRect">
            <a:avLst>
              <a:gd name="adj" fmla="val 7481"/>
            </a:avLst>
          </a:prstGeom>
          <a:solidFill>
            <a:srgbClr val="7FAE9C"/>
          </a:solidFill>
          <a:ln w="12700">
            <a:solidFill>
              <a:srgbClr val="7FAE9C"/>
            </a:solidFill>
            <a:prstDash val="solid"/>
          </a:ln>
        </p:spPr>
      </p:sp>
      <p:sp>
        <p:nvSpPr>
          <p:cNvPr id="24" name="Shape 22"/>
          <p:cNvSpPr/>
          <p:nvPr/>
        </p:nvSpPr>
        <p:spPr>
          <a:xfrm>
            <a:off x="1299667" y="3347314"/>
            <a:ext cx="244450" cy="244450"/>
          </a:xfrm>
          <a:prstGeom prst="roundRect">
            <a:avLst>
              <a:gd name="adj" fmla="val 7481"/>
            </a:avLst>
          </a:prstGeom>
          <a:solidFill>
            <a:srgbClr val="9FC3B3"/>
          </a:solidFill>
          <a:ln w="12700">
            <a:solidFill>
              <a:srgbClr val="9FC3B3"/>
            </a:solidFill>
            <a:prstDash val="solid"/>
          </a:ln>
        </p:spPr>
      </p:sp>
      <p:sp>
        <p:nvSpPr>
          <p:cNvPr id="25" name="Shape 23"/>
          <p:cNvSpPr/>
          <p:nvPr/>
        </p:nvSpPr>
        <p:spPr>
          <a:xfrm>
            <a:off x="1576121" y="3347314"/>
            <a:ext cx="244450" cy="244450"/>
          </a:xfrm>
          <a:prstGeom prst="roundRect">
            <a:avLst>
              <a:gd name="adj" fmla="val 7481"/>
            </a:avLst>
          </a:prstGeom>
          <a:solidFill>
            <a:srgbClr val="A5C7B8"/>
          </a:solidFill>
          <a:ln w="12700">
            <a:solidFill>
              <a:srgbClr val="A5C7B8"/>
            </a:solidFill>
            <a:prstDash val="solid"/>
          </a:ln>
        </p:spPr>
      </p:sp>
      <p:sp>
        <p:nvSpPr>
          <p:cNvPr id="26" name="Text 24"/>
          <p:cNvSpPr txBox="1"/>
          <p:nvPr/>
        </p:nvSpPr>
        <p:spPr>
          <a:xfrm>
            <a:off x="2240280" y="1755648"/>
            <a:ext cx="3566160" cy="384048"/>
          </a:xfrm>
          <a:prstGeom prst="rect">
            <a:avLst/>
          </a:prstGeom>
          <a:noFill/>
          <a:ln/>
        </p:spPr>
        <p:txBody>
          <a:bodyPr wrap="square" lIns="0" tIns="0" rIns="0" bIns="0" rtlCol="0" anchor="ctr"/>
          <a:lstStyle/>
          <a:p>
            <a:pPr indent="0" marL="0">
              <a:buNone/>
            </a:pPr>
            <a:r>
              <a:rPr lang="en-US" sz="2000" b="1" dirty="0">
                <a:solidFill>
                  <a:srgbClr val="2F5D50"/>
                </a:solidFill>
                <a:latin typeface="Cambria" pitchFamily="34" charset="0"/>
                <a:ea typeface="Cambria" pitchFamily="34" charset="-122"/>
                <a:cs typeface="Cambria" pitchFamily="34" charset="-120"/>
              </a:rPr>
              <a:t>Galaxy S24</a:t>
            </a:r>
            <a:endParaRPr lang="en-US" sz="2000" dirty="0"/>
          </a:p>
        </p:txBody>
      </p:sp>
      <p:sp>
        <p:nvSpPr>
          <p:cNvPr id="27" name="Text 25"/>
          <p:cNvSpPr txBox="1"/>
          <p:nvPr/>
        </p:nvSpPr>
        <p:spPr>
          <a:xfrm>
            <a:off x="2240280" y="2139696"/>
            <a:ext cx="3566160" cy="292608"/>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Android 16</a:t>
            </a:r>
            <a:endParaRPr lang="en-US" sz="1400" dirty="0"/>
          </a:p>
        </p:txBody>
      </p:sp>
      <p:sp>
        <p:nvSpPr>
          <p:cNvPr id="28" name="Text 26"/>
          <p:cNvSpPr txBox="1"/>
          <p:nvPr/>
        </p:nvSpPr>
        <p:spPr>
          <a:xfrm>
            <a:off x="2240280" y="2523744"/>
            <a:ext cx="3566160" cy="347472"/>
          </a:xfrm>
          <a:prstGeom prst="rect">
            <a:avLst/>
          </a:prstGeom>
          <a:noFill/>
          <a:ln/>
        </p:spPr>
        <p:txBody>
          <a:bodyPr wrap="square" lIns="0" tIns="0" rIns="0" bIns="0" rtlCol="0" anchor="ctr"/>
          <a:lstStyle/>
          <a:p>
            <a:pPr indent="0" marL="0">
              <a:buNone/>
            </a:pPr>
            <a:r>
              <a:rPr lang="en-US" sz="1600" b="1" dirty="0">
                <a:solidFill>
                  <a:srgbClr val="1B1A18"/>
                </a:solidFill>
                <a:latin typeface="Calibri" pitchFamily="34" charset="0"/>
                <a:ea typeface="Calibri" pitchFamily="34" charset="-122"/>
                <a:cs typeface="Calibri" pitchFamily="34" charset="-120"/>
              </a:rPr>
              <a:t>3,466 assets · 10 GB</a:t>
            </a:r>
            <a:endParaRPr lang="en-US" sz="1600" dirty="0"/>
          </a:p>
        </p:txBody>
      </p:sp>
      <p:sp>
        <p:nvSpPr>
          <p:cNvPr id="29" name="Text 27"/>
          <p:cNvSpPr txBox="1"/>
          <p:nvPr/>
        </p:nvSpPr>
        <p:spPr>
          <a:xfrm>
            <a:off x="2240280" y="2926080"/>
            <a:ext cx="356616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15 min unplugged, screen off — the foreground service was never suspended</a:t>
            </a:r>
            <a:endParaRPr lang="en-US" sz="1400" dirty="0"/>
          </a:p>
        </p:txBody>
      </p:sp>
      <p:sp>
        <p:nvSpPr>
          <p:cNvPr id="30" name="Shape 28"/>
          <p:cNvSpPr/>
          <p:nvPr/>
        </p:nvSpPr>
        <p:spPr>
          <a:xfrm>
            <a:off x="6309360" y="1426464"/>
            <a:ext cx="5486400" cy="2724912"/>
          </a:xfrm>
          <a:prstGeom prst="roundRect">
            <a:avLst>
              <a:gd name="adj" fmla="val 3020"/>
            </a:avLst>
          </a:prstGeom>
          <a:solidFill>
            <a:srgbClr val="E4EEE9"/>
          </a:solidFill>
          <a:ln w="12700">
            <a:solidFill>
              <a:srgbClr val="E4EEE9"/>
            </a:solidFill>
            <a:prstDash val="solid"/>
          </a:ln>
        </p:spPr>
      </p:sp>
      <p:sp>
        <p:nvSpPr>
          <p:cNvPr id="31" name="Shape 29"/>
          <p:cNvSpPr/>
          <p:nvPr/>
        </p:nvSpPr>
        <p:spPr>
          <a:xfrm>
            <a:off x="6656832" y="1700784"/>
            <a:ext cx="1051560" cy="2155698"/>
          </a:xfrm>
          <a:prstGeom prst="roundRect">
            <a:avLst>
              <a:gd name="adj" fmla="val 13043"/>
            </a:avLst>
          </a:prstGeom>
          <a:solidFill>
            <a:srgbClr val="34343A"/>
          </a:solidFill>
          <a:ln w="12700">
            <a:solidFill>
              <a:srgbClr val="34343A"/>
            </a:solidFill>
            <a:prstDash val="solid"/>
          </a:ln>
        </p:spPr>
      </p:sp>
      <p:sp>
        <p:nvSpPr>
          <p:cNvPr id="32" name="Shape 30"/>
          <p:cNvSpPr/>
          <p:nvPr/>
        </p:nvSpPr>
        <p:spPr>
          <a:xfrm>
            <a:off x="6719926" y="1763878"/>
            <a:ext cx="925373" cy="2029511"/>
          </a:xfrm>
          <a:prstGeom prst="roundRect">
            <a:avLst>
              <a:gd name="adj" fmla="val 11858"/>
            </a:avLst>
          </a:prstGeom>
          <a:solidFill>
            <a:srgbClr val="F4F8F6"/>
          </a:solidFill>
          <a:ln w="12700">
            <a:solidFill>
              <a:srgbClr val="F4F8F6"/>
            </a:solidFill>
            <a:prstDash val="solid"/>
          </a:ln>
        </p:spPr>
      </p:sp>
      <p:sp>
        <p:nvSpPr>
          <p:cNvPr id="33" name="Shape 31"/>
          <p:cNvSpPr/>
          <p:nvPr/>
        </p:nvSpPr>
        <p:spPr>
          <a:xfrm>
            <a:off x="7063740" y="1809598"/>
            <a:ext cx="237744" cy="77724"/>
          </a:xfrm>
          <a:prstGeom prst="roundRect">
            <a:avLst>
              <a:gd name="adj" fmla="val 49412"/>
            </a:avLst>
          </a:prstGeom>
          <a:solidFill>
            <a:srgbClr val="34343A"/>
          </a:solidFill>
          <a:ln w="12700">
            <a:solidFill>
              <a:srgbClr val="34343A"/>
            </a:solidFill>
            <a:prstDash val="solid"/>
          </a:ln>
        </p:spPr>
      </p:sp>
      <p:sp>
        <p:nvSpPr>
          <p:cNvPr id="34" name="Shape 32"/>
          <p:cNvSpPr/>
          <p:nvPr/>
        </p:nvSpPr>
        <p:spPr>
          <a:xfrm>
            <a:off x="6783934" y="1965046"/>
            <a:ext cx="244450" cy="244450"/>
          </a:xfrm>
          <a:prstGeom prst="roundRect">
            <a:avLst>
              <a:gd name="adj" fmla="val 7481"/>
            </a:avLst>
          </a:prstGeom>
          <a:solidFill>
            <a:srgbClr val="AACABD"/>
          </a:solidFill>
          <a:ln w="12700">
            <a:solidFill>
              <a:srgbClr val="AACABD"/>
            </a:solidFill>
            <a:prstDash val="solid"/>
          </a:ln>
        </p:spPr>
      </p:sp>
      <p:sp>
        <p:nvSpPr>
          <p:cNvPr id="35" name="Shape 33"/>
          <p:cNvSpPr/>
          <p:nvPr/>
        </p:nvSpPr>
        <p:spPr>
          <a:xfrm>
            <a:off x="7060387" y="1965046"/>
            <a:ext cx="244450" cy="244450"/>
          </a:xfrm>
          <a:prstGeom prst="roundRect">
            <a:avLst>
              <a:gd name="adj" fmla="val 7481"/>
            </a:avLst>
          </a:prstGeom>
          <a:solidFill>
            <a:srgbClr val="8FB6A6"/>
          </a:solidFill>
          <a:ln w="12700">
            <a:solidFill>
              <a:srgbClr val="8FB6A6"/>
            </a:solidFill>
            <a:prstDash val="solid"/>
          </a:ln>
        </p:spPr>
      </p:sp>
      <p:sp>
        <p:nvSpPr>
          <p:cNvPr id="36" name="Shape 34"/>
          <p:cNvSpPr/>
          <p:nvPr/>
        </p:nvSpPr>
        <p:spPr>
          <a:xfrm>
            <a:off x="7336841" y="1965046"/>
            <a:ext cx="244450" cy="244450"/>
          </a:xfrm>
          <a:prstGeom prst="roundRect">
            <a:avLst>
              <a:gd name="adj" fmla="val 7481"/>
            </a:avLst>
          </a:prstGeom>
          <a:solidFill>
            <a:srgbClr val="B4D0C4"/>
          </a:solidFill>
          <a:ln w="12700">
            <a:solidFill>
              <a:srgbClr val="B4D0C4"/>
            </a:solidFill>
            <a:prstDash val="solid"/>
          </a:ln>
        </p:spPr>
      </p:sp>
      <p:sp>
        <p:nvSpPr>
          <p:cNvPr id="37" name="Shape 35"/>
          <p:cNvSpPr/>
          <p:nvPr/>
        </p:nvSpPr>
        <p:spPr>
          <a:xfrm>
            <a:off x="6783934" y="2241499"/>
            <a:ext cx="244450" cy="244450"/>
          </a:xfrm>
          <a:prstGeom prst="roundRect">
            <a:avLst>
              <a:gd name="adj" fmla="val 7481"/>
            </a:avLst>
          </a:prstGeom>
          <a:solidFill>
            <a:srgbClr val="7FAE9C"/>
          </a:solidFill>
          <a:ln w="12700">
            <a:solidFill>
              <a:srgbClr val="7FAE9C"/>
            </a:solidFill>
            <a:prstDash val="solid"/>
          </a:ln>
        </p:spPr>
      </p:sp>
      <p:sp>
        <p:nvSpPr>
          <p:cNvPr id="38" name="Shape 36"/>
          <p:cNvSpPr/>
          <p:nvPr/>
        </p:nvSpPr>
        <p:spPr>
          <a:xfrm>
            <a:off x="7060387" y="2241499"/>
            <a:ext cx="244450" cy="244450"/>
          </a:xfrm>
          <a:prstGeom prst="roundRect">
            <a:avLst>
              <a:gd name="adj" fmla="val 7481"/>
            </a:avLst>
          </a:prstGeom>
          <a:solidFill>
            <a:srgbClr val="9FC3B3"/>
          </a:solidFill>
          <a:ln w="12700">
            <a:solidFill>
              <a:srgbClr val="9FC3B3"/>
            </a:solidFill>
            <a:prstDash val="solid"/>
          </a:ln>
        </p:spPr>
      </p:sp>
      <p:sp>
        <p:nvSpPr>
          <p:cNvPr id="39" name="Shape 37"/>
          <p:cNvSpPr/>
          <p:nvPr/>
        </p:nvSpPr>
        <p:spPr>
          <a:xfrm>
            <a:off x="7336841" y="2241499"/>
            <a:ext cx="244450" cy="244450"/>
          </a:xfrm>
          <a:prstGeom prst="roundRect">
            <a:avLst>
              <a:gd name="adj" fmla="val 7481"/>
            </a:avLst>
          </a:prstGeom>
          <a:solidFill>
            <a:srgbClr val="A5C7B8"/>
          </a:solidFill>
          <a:ln w="12700">
            <a:solidFill>
              <a:srgbClr val="A5C7B8"/>
            </a:solidFill>
            <a:prstDash val="solid"/>
          </a:ln>
        </p:spPr>
      </p:sp>
      <p:sp>
        <p:nvSpPr>
          <p:cNvPr id="40" name="Shape 38"/>
          <p:cNvSpPr/>
          <p:nvPr/>
        </p:nvSpPr>
        <p:spPr>
          <a:xfrm>
            <a:off x="6783934" y="2517953"/>
            <a:ext cx="244450" cy="244450"/>
          </a:xfrm>
          <a:prstGeom prst="roundRect">
            <a:avLst>
              <a:gd name="adj" fmla="val 7481"/>
            </a:avLst>
          </a:prstGeom>
          <a:solidFill>
            <a:srgbClr val="AACABD"/>
          </a:solidFill>
          <a:ln w="12700">
            <a:solidFill>
              <a:srgbClr val="AACABD"/>
            </a:solidFill>
            <a:prstDash val="solid"/>
          </a:ln>
        </p:spPr>
      </p:sp>
      <p:sp>
        <p:nvSpPr>
          <p:cNvPr id="41" name="Shape 39"/>
          <p:cNvSpPr/>
          <p:nvPr/>
        </p:nvSpPr>
        <p:spPr>
          <a:xfrm>
            <a:off x="7060387" y="2517953"/>
            <a:ext cx="244450" cy="244450"/>
          </a:xfrm>
          <a:prstGeom prst="roundRect">
            <a:avLst>
              <a:gd name="adj" fmla="val 7481"/>
            </a:avLst>
          </a:prstGeom>
          <a:solidFill>
            <a:srgbClr val="8FB6A6"/>
          </a:solidFill>
          <a:ln w="12700">
            <a:solidFill>
              <a:srgbClr val="8FB6A6"/>
            </a:solidFill>
            <a:prstDash val="solid"/>
          </a:ln>
        </p:spPr>
      </p:sp>
      <p:sp>
        <p:nvSpPr>
          <p:cNvPr id="42" name="Shape 40"/>
          <p:cNvSpPr/>
          <p:nvPr/>
        </p:nvSpPr>
        <p:spPr>
          <a:xfrm>
            <a:off x="7336841" y="2517953"/>
            <a:ext cx="244450" cy="244450"/>
          </a:xfrm>
          <a:prstGeom prst="roundRect">
            <a:avLst>
              <a:gd name="adj" fmla="val 7481"/>
            </a:avLst>
          </a:prstGeom>
          <a:solidFill>
            <a:srgbClr val="B4D0C4"/>
          </a:solidFill>
          <a:ln w="12700">
            <a:solidFill>
              <a:srgbClr val="B4D0C4"/>
            </a:solidFill>
            <a:prstDash val="solid"/>
          </a:ln>
        </p:spPr>
      </p:sp>
      <p:sp>
        <p:nvSpPr>
          <p:cNvPr id="43" name="Shape 41"/>
          <p:cNvSpPr/>
          <p:nvPr/>
        </p:nvSpPr>
        <p:spPr>
          <a:xfrm>
            <a:off x="6783934" y="2794406"/>
            <a:ext cx="244450" cy="244450"/>
          </a:xfrm>
          <a:prstGeom prst="roundRect">
            <a:avLst>
              <a:gd name="adj" fmla="val 7481"/>
            </a:avLst>
          </a:prstGeom>
          <a:solidFill>
            <a:srgbClr val="7FAE9C"/>
          </a:solidFill>
          <a:ln w="12700">
            <a:solidFill>
              <a:srgbClr val="7FAE9C"/>
            </a:solidFill>
            <a:prstDash val="solid"/>
          </a:ln>
        </p:spPr>
      </p:sp>
      <p:sp>
        <p:nvSpPr>
          <p:cNvPr id="44" name="Shape 42"/>
          <p:cNvSpPr/>
          <p:nvPr/>
        </p:nvSpPr>
        <p:spPr>
          <a:xfrm>
            <a:off x="7060387" y="2794406"/>
            <a:ext cx="244450" cy="244450"/>
          </a:xfrm>
          <a:prstGeom prst="roundRect">
            <a:avLst>
              <a:gd name="adj" fmla="val 7481"/>
            </a:avLst>
          </a:prstGeom>
          <a:solidFill>
            <a:srgbClr val="9FC3B3"/>
          </a:solidFill>
          <a:ln w="12700">
            <a:solidFill>
              <a:srgbClr val="9FC3B3"/>
            </a:solidFill>
            <a:prstDash val="solid"/>
          </a:ln>
        </p:spPr>
      </p:sp>
      <p:sp>
        <p:nvSpPr>
          <p:cNvPr id="45" name="Shape 43"/>
          <p:cNvSpPr/>
          <p:nvPr/>
        </p:nvSpPr>
        <p:spPr>
          <a:xfrm>
            <a:off x="7336841" y="2794406"/>
            <a:ext cx="244450" cy="244450"/>
          </a:xfrm>
          <a:prstGeom prst="roundRect">
            <a:avLst>
              <a:gd name="adj" fmla="val 7481"/>
            </a:avLst>
          </a:prstGeom>
          <a:solidFill>
            <a:srgbClr val="A5C7B8"/>
          </a:solidFill>
          <a:ln w="12700">
            <a:solidFill>
              <a:srgbClr val="A5C7B8"/>
            </a:solidFill>
            <a:prstDash val="solid"/>
          </a:ln>
        </p:spPr>
      </p:sp>
      <p:sp>
        <p:nvSpPr>
          <p:cNvPr id="46" name="Shape 44"/>
          <p:cNvSpPr/>
          <p:nvPr/>
        </p:nvSpPr>
        <p:spPr>
          <a:xfrm>
            <a:off x="6783934" y="3070860"/>
            <a:ext cx="244450" cy="244450"/>
          </a:xfrm>
          <a:prstGeom prst="roundRect">
            <a:avLst>
              <a:gd name="adj" fmla="val 7481"/>
            </a:avLst>
          </a:prstGeom>
          <a:solidFill>
            <a:srgbClr val="AACABD"/>
          </a:solidFill>
          <a:ln w="12700">
            <a:solidFill>
              <a:srgbClr val="AACABD"/>
            </a:solidFill>
            <a:prstDash val="solid"/>
          </a:ln>
        </p:spPr>
      </p:sp>
      <p:sp>
        <p:nvSpPr>
          <p:cNvPr id="47" name="Shape 45"/>
          <p:cNvSpPr/>
          <p:nvPr/>
        </p:nvSpPr>
        <p:spPr>
          <a:xfrm>
            <a:off x="7060387" y="3070860"/>
            <a:ext cx="244450" cy="244450"/>
          </a:xfrm>
          <a:prstGeom prst="roundRect">
            <a:avLst>
              <a:gd name="adj" fmla="val 7481"/>
            </a:avLst>
          </a:prstGeom>
          <a:solidFill>
            <a:srgbClr val="8FB6A6"/>
          </a:solidFill>
          <a:ln w="12700">
            <a:solidFill>
              <a:srgbClr val="8FB6A6"/>
            </a:solidFill>
            <a:prstDash val="solid"/>
          </a:ln>
        </p:spPr>
      </p:sp>
      <p:sp>
        <p:nvSpPr>
          <p:cNvPr id="48" name="Shape 46"/>
          <p:cNvSpPr/>
          <p:nvPr/>
        </p:nvSpPr>
        <p:spPr>
          <a:xfrm>
            <a:off x="7336841" y="3070860"/>
            <a:ext cx="244450" cy="244450"/>
          </a:xfrm>
          <a:prstGeom prst="roundRect">
            <a:avLst>
              <a:gd name="adj" fmla="val 7481"/>
            </a:avLst>
          </a:prstGeom>
          <a:solidFill>
            <a:srgbClr val="B4D0C4"/>
          </a:solidFill>
          <a:ln w="12700">
            <a:solidFill>
              <a:srgbClr val="B4D0C4"/>
            </a:solidFill>
            <a:prstDash val="solid"/>
          </a:ln>
        </p:spPr>
      </p:sp>
      <p:sp>
        <p:nvSpPr>
          <p:cNvPr id="49" name="Shape 47"/>
          <p:cNvSpPr/>
          <p:nvPr/>
        </p:nvSpPr>
        <p:spPr>
          <a:xfrm>
            <a:off x="6783934" y="3347314"/>
            <a:ext cx="244450" cy="244450"/>
          </a:xfrm>
          <a:prstGeom prst="roundRect">
            <a:avLst>
              <a:gd name="adj" fmla="val 7481"/>
            </a:avLst>
          </a:prstGeom>
          <a:solidFill>
            <a:srgbClr val="7FAE9C"/>
          </a:solidFill>
          <a:ln w="12700">
            <a:solidFill>
              <a:srgbClr val="7FAE9C"/>
            </a:solidFill>
            <a:prstDash val="solid"/>
          </a:ln>
        </p:spPr>
      </p:sp>
      <p:sp>
        <p:nvSpPr>
          <p:cNvPr id="50" name="Shape 48"/>
          <p:cNvSpPr/>
          <p:nvPr/>
        </p:nvSpPr>
        <p:spPr>
          <a:xfrm>
            <a:off x="7060387" y="3347314"/>
            <a:ext cx="244450" cy="244450"/>
          </a:xfrm>
          <a:prstGeom prst="roundRect">
            <a:avLst>
              <a:gd name="adj" fmla="val 7481"/>
            </a:avLst>
          </a:prstGeom>
          <a:solidFill>
            <a:srgbClr val="9FC3B3"/>
          </a:solidFill>
          <a:ln w="12700">
            <a:solidFill>
              <a:srgbClr val="9FC3B3"/>
            </a:solidFill>
            <a:prstDash val="solid"/>
          </a:ln>
        </p:spPr>
      </p:sp>
      <p:sp>
        <p:nvSpPr>
          <p:cNvPr id="51" name="Shape 49"/>
          <p:cNvSpPr/>
          <p:nvPr/>
        </p:nvSpPr>
        <p:spPr>
          <a:xfrm>
            <a:off x="7336841" y="3347314"/>
            <a:ext cx="244450" cy="244450"/>
          </a:xfrm>
          <a:prstGeom prst="roundRect">
            <a:avLst>
              <a:gd name="adj" fmla="val 7481"/>
            </a:avLst>
          </a:prstGeom>
          <a:solidFill>
            <a:srgbClr val="A5C7B8"/>
          </a:solidFill>
          <a:ln w="12700">
            <a:solidFill>
              <a:srgbClr val="A5C7B8"/>
            </a:solidFill>
            <a:prstDash val="solid"/>
          </a:ln>
        </p:spPr>
      </p:sp>
      <p:sp>
        <p:nvSpPr>
          <p:cNvPr id="52" name="Text 50"/>
          <p:cNvSpPr txBox="1"/>
          <p:nvPr/>
        </p:nvSpPr>
        <p:spPr>
          <a:xfrm>
            <a:off x="8001000" y="1755648"/>
            <a:ext cx="3566160" cy="384048"/>
          </a:xfrm>
          <a:prstGeom prst="rect">
            <a:avLst/>
          </a:prstGeom>
          <a:noFill/>
          <a:ln/>
        </p:spPr>
        <p:txBody>
          <a:bodyPr wrap="square" lIns="0" tIns="0" rIns="0" bIns="0" rtlCol="0" anchor="ctr"/>
          <a:lstStyle/>
          <a:p>
            <a:pPr indent="0" marL="0">
              <a:buNone/>
            </a:pPr>
            <a:r>
              <a:rPr lang="en-US" sz="2000" b="1" dirty="0">
                <a:solidFill>
                  <a:srgbClr val="2F5D50"/>
                </a:solidFill>
                <a:latin typeface="Cambria" pitchFamily="34" charset="0"/>
                <a:ea typeface="Cambria" pitchFamily="34" charset="-122"/>
                <a:cs typeface="Cambria" pitchFamily="34" charset="-120"/>
              </a:rPr>
              <a:t>iPhone 15 Pro</a:t>
            </a:r>
            <a:endParaRPr lang="en-US" sz="2000" dirty="0"/>
          </a:p>
        </p:txBody>
      </p:sp>
      <p:sp>
        <p:nvSpPr>
          <p:cNvPr id="53" name="Text 51"/>
          <p:cNvSpPr txBox="1"/>
          <p:nvPr/>
        </p:nvSpPr>
        <p:spPr>
          <a:xfrm>
            <a:off x="8001000" y="2139696"/>
            <a:ext cx="3566160" cy="292608"/>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iOS 26.6.1</a:t>
            </a:r>
            <a:endParaRPr lang="en-US" sz="1400" dirty="0"/>
          </a:p>
        </p:txBody>
      </p:sp>
      <p:sp>
        <p:nvSpPr>
          <p:cNvPr id="54" name="Text 52"/>
          <p:cNvSpPr txBox="1"/>
          <p:nvPr/>
        </p:nvSpPr>
        <p:spPr>
          <a:xfrm>
            <a:off x="8001000" y="2523744"/>
            <a:ext cx="3566160" cy="347472"/>
          </a:xfrm>
          <a:prstGeom prst="rect">
            <a:avLst/>
          </a:prstGeom>
          <a:noFill/>
          <a:ln/>
        </p:spPr>
        <p:txBody>
          <a:bodyPr wrap="square" lIns="0" tIns="0" rIns="0" bIns="0" rtlCol="0" anchor="ctr"/>
          <a:lstStyle/>
          <a:p>
            <a:pPr indent="0" marL="0">
              <a:buNone/>
            </a:pPr>
            <a:r>
              <a:rPr lang="en-US" sz="1600" b="1" dirty="0">
                <a:solidFill>
                  <a:srgbClr val="1B1A18"/>
                </a:solidFill>
                <a:latin typeface="Calibri" pitchFamily="34" charset="0"/>
                <a:ea typeface="Calibri" pitchFamily="34" charset="-122"/>
                <a:cs typeface="Calibri" pitchFamily="34" charset="-120"/>
              </a:rPr>
              <a:t>71 of 72 accepted</a:t>
            </a:r>
            <a:endParaRPr lang="en-US" sz="1600" dirty="0"/>
          </a:p>
        </p:txBody>
      </p:sp>
      <p:sp>
        <p:nvSpPr>
          <p:cNvPr id="55" name="Text 53"/>
          <p:cNvSpPr txBox="1"/>
          <p:nvPr/>
        </p:nvSpPr>
        <p:spPr>
          <a:xfrm>
            <a:off x="8001000" y="2926080"/>
            <a:ext cx="356616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the one refusal is a zero-byte file, which is correct</a:t>
            </a:r>
            <a:endParaRPr lang="en-US" sz="1400" dirty="0"/>
          </a:p>
        </p:txBody>
      </p:sp>
      <p:sp>
        <p:nvSpPr>
          <p:cNvPr id="56" name="Shape 54"/>
          <p:cNvSpPr/>
          <p:nvPr/>
        </p:nvSpPr>
        <p:spPr>
          <a:xfrm>
            <a:off x="548640" y="4334256"/>
            <a:ext cx="5486400" cy="1152144"/>
          </a:xfrm>
          <a:prstGeom prst="roundRect">
            <a:avLst>
              <a:gd name="adj" fmla="val 7143"/>
            </a:avLst>
          </a:prstGeom>
          <a:solidFill>
            <a:srgbClr val="E4EEE9"/>
          </a:solidFill>
          <a:ln w="12700">
            <a:solidFill>
              <a:srgbClr val="E4EEE9"/>
            </a:solidFill>
            <a:prstDash val="solid"/>
          </a:ln>
        </p:spPr>
      </p:sp>
      <p:sp>
        <p:nvSpPr>
          <p:cNvPr id="57" name="Text 55"/>
          <p:cNvSpPr txBox="1"/>
          <p:nvPr/>
        </p:nvSpPr>
        <p:spPr>
          <a:xfrm>
            <a:off x="822960" y="4480560"/>
            <a:ext cx="5029200" cy="329184"/>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Pixel 9 emulator · Android 17</a:t>
            </a:r>
            <a:endParaRPr lang="en-US" sz="1600" dirty="0"/>
          </a:p>
        </p:txBody>
      </p:sp>
      <p:sp>
        <p:nvSpPr>
          <p:cNvPr id="58" name="Text 56"/>
          <p:cNvSpPr txBox="1"/>
          <p:nvPr/>
        </p:nvSpPr>
        <p:spPr>
          <a:xfrm>
            <a:off x="822960" y="4846320"/>
            <a:ext cx="4983480" cy="54864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all assets indexed — DATE_TAKEN matched the manifest to under a second</a:t>
            </a:r>
            <a:endParaRPr lang="en-US" sz="1400" dirty="0"/>
          </a:p>
        </p:txBody>
      </p:sp>
      <p:sp>
        <p:nvSpPr>
          <p:cNvPr id="59" name="Shape 57"/>
          <p:cNvSpPr/>
          <p:nvPr/>
        </p:nvSpPr>
        <p:spPr>
          <a:xfrm>
            <a:off x="6309360" y="4334256"/>
            <a:ext cx="5486400" cy="1152144"/>
          </a:xfrm>
          <a:prstGeom prst="roundRect">
            <a:avLst>
              <a:gd name="adj" fmla="val 7143"/>
            </a:avLst>
          </a:prstGeom>
          <a:solidFill>
            <a:srgbClr val="E4EEE9"/>
          </a:solidFill>
          <a:ln w="12700">
            <a:solidFill>
              <a:srgbClr val="E4EEE9"/>
            </a:solidFill>
            <a:prstDash val="solid"/>
          </a:ln>
        </p:spPr>
      </p:sp>
      <p:sp>
        <p:nvSpPr>
          <p:cNvPr id="60" name="Text 58"/>
          <p:cNvSpPr txBox="1"/>
          <p:nvPr/>
        </p:nvSpPr>
        <p:spPr>
          <a:xfrm>
            <a:off x="6583680" y="4480560"/>
            <a:ext cx="5029200" cy="329184"/>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iPhone 17 Pro simulator · iOS 26.5</a:t>
            </a:r>
            <a:endParaRPr lang="en-US" sz="1600" dirty="0"/>
          </a:p>
        </p:txBody>
      </p:sp>
      <p:sp>
        <p:nvSpPr>
          <p:cNvPr id="61" name="Text 59"/>
          <p:cNvSpPr txBox="1"/>
          <p:nvPr/>
        </p:nvSpPr>
        <p:spPr>
          <a:xfrm>
            <a:off x="6583680" y="4846320"/>
            <a:ext cx="4983480" cy="54864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HEIC + HEVC — creationDate exact, 0.000 s delta</a:t>
            </a:r>
            <a:endParaRPr lang="en-US" sz="1400" dirty="0"/>
          </a:p>
        </p:txBody>
      </p:sp>
      <p:sp>
        <p:nvSpPr>
          <p:cNvPr id="62" name="Text 60"/>
          <p:cNvSpPr txBox="1"/>
          <p:nvPr/>
        </p:nvSpPr>
        <p:spPr>
          <a:xfrm>
            <a:off x="548640" y="5687568"/>
            <a:ext cx="11064240" cy="384048"/>
          </a:xfrm>
          <a:prstGeom prst="rect">
            <a:avLst/>
          </a:prstGeom>
          <a:noFill/>
          <a:ln/>
        </p:spPr>
        <p:txBody>
          <a:bodyPr wrap="square" lIns="0" tIns="0" rIns="0" bIns="0" rtlCol="0" anchor="ctr"/>
          <a:lstStyle/>
          <a:p>
            <a:pPr indent="0" marL="0">
              <a:buNone/>
            </a:pPr>
            <a:r>
              <a:rPr lang="en-US" sz="1500" i="1" dirty="0">
                <a:solidFill>
                  <a:srgbClr val="9C4A32"/>
                </a:solidFill>
                <a:latin typeface="Cambria" pitchFamily="34" charset="0"/>
                <a:ea typeface="Cambria" pitchFamily="34" charset="-122"/>
                <a:cs typeface="Cambria" pitchFamily="34" charset="-120"/>
              </a:rPr>
              <a:t>Two iOS loader bugs were found by the first physical run that no simulator had surfaced.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NEXT STEPS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What it needs before production</a:t>
            </a:r>
            <a:endParaRPr lang="en-US" sz="3200" dirty="0"/>
          </a:p>
        </p:txBody>
      </p:sp>
      <p:sp>
        <p:nvSpPr>
          <p:cNvPr id="4" name="Shape 2"/>
          <p:cNvSpPr/>
          <p:nvPr/>
        </p:nvSpPr>
        <p:spPr>
          <a:xfrm>
            <a:off x="548640" y="1444752"/>
            <a:ext cx="5349240" cy="1901952"/>
          </a:xfrm>
          <a:prstGeom prst="roundRect">
            <a:avLst>
              <a:gd name="adj" fmla="val 4327"/>
            </a:avLst>
          </a:prstGeom>
          <a:solidFill>
            <a:srgbClr val="F3E6E2"/>
          </a:solidFill>
          <a:ln w="12700">
            <a:solidFill>
              <a:srgbClr val="F3E6E2"/>
            </a:solidFill>
            <a:prstDash val="solid"/>
          </a:ln>
        </p:spPr>
      </p:sp>
      <p:sp>
        <p:nvSpPr>
          <p:cNvPr id="5" name="Text 3"/>
          <p:cNvSpPr txBox="1"/>
          <p:nvPr/>
        </p:nvSpPr>
        <p:spPr>
          <a:xfrm>
            <a:off x="822960" y="1591056"/>
            <a:ext cx="4754880" cy="347472"/>
          </a:xfrm>
          <a:prstGeom prst="rect">
            <a:avLst/>
          </a:prstGeom>
          <a:noFill/>
          <a:ln/>
        </p:spPr>
        <p:txBody>
          <a:bodyPr wrap="square" lIns="0" tIns="0" rIns="0" bIns="0" rtlCol="0" anchor="ctr"/>
          <a:lstStyle/>
          <a:p>
            <a:pPr indent="0" marL="0">
              <a:buNone/>
            </a:pPr>
            <a:r>
              <a:rPr lang="en-US" sz="1700" b="1" dirty="0">
                <a:solidFill>
                  <a:srgbClr val="9C4A32"/>
                </a:solidFill>
                <a:latin typeface="Cambria" pitchFamily="34" charset="0"/>
                <a:ea typeface="Cambria" pitchFamily="34" charset="-122"/>
                <a:cs typeface="Cambria" pitchFamily="34" charset="-120"/>
              </a:rPr>
              <a:t>Security</a:t>
            </a:r>
            <a:endParaRPr lang="en-US" sz="1700" dirty="0"/>
          </a:p>
        </p:txBody>
      </p:sp>
      <p:sp>
        <p:nvSpPr>
          <p:cNvPr id="6" name="Text 4"/>
          <p:cNvSpPr txBox="1"/>
          <p:nvPr/>
        </p:nvSpPr>
        <p:spPr>
          <a:xfrm>
            <a:off x="822960" y="1993392"/>
            <a:ext cx="4846320" cy="12344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The pairing code is a speed bump, not authentication</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No TLS — plain HTTP on an assumed-trusted LAN</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Anyone on the network can create a job</a:t>
            </a:r>
            <a:endParaRPr lang="en-US" sz="1400" dirty="0"/>
          </a:p>
        </p:txBody>
      </p:sp>
      <p:sp>
        <p:nvSpPr>
          <p:cNvPr id="7" name="Shape 5"/>
          <p:cNvSpPr/>
          <p:nvPr/>
        </p:nvSpPr>
        <p:spPr>
          <a:xfrm>
            <a:off x="6263640" y="1444752"/>
            <a:ext cx="5349240" cy="1901952"/>
          </a:xfrm>
          <a:prstGeom prst="roundRect">
            <a:avLst>
              <a:gd name="adj" fmla="val 4327"/>
            </a:avLst>
          </a:prstGeom>
          <a:solidFill>
            <a:srgbClr val="E4EEE9"/>
          </a:solidFill>
          <a:ln w="12700">
            <a:solidFill>
              <a:srgbClr val="E4EEE9"/>
            </a:solidFill>
            <a:prstDash val="solid"/>
          </a:ln>
        </p:spPr>
      </p:sp>
      <p:sp>
        <p:nvSpPr>
          <p:cNvPr id="8" name="Text 6"/>
          <p:cNvSpPr txBox="1"/>
          <p:nvPr/>
        </p:nvSpPr>
        <p:spPr>
          <a:xfrm>
            <a:off x="6537960" y="1591056"/>
            <a:ext cx="4754880" cy="34747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Operations</a:t>
            </a:r>
            <a:endParaRPr lang="en-US" sz="1700" dirty="0"/>
          </a:p>
        </p:txBody>
      </p:sp>
      <p:sp>
        <p:nvSpPr>
          <p:cNvPr id="9" name="Text 7"/>
          <p:cNvSpPr txBox="1"/>
          <p:nvPr/>
        </p:nvSpPr>
        <p:spPr>
          <a:xfrm>
            <a:off x="6537960" y="1993392"/>
            <a:ext cx="4846320" cy="12344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No job queue — two large builds compete for cores</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Reclaiming disk is a deliberate act — no expiry, no disk watermark</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No Docker image yet, so no one-command lab box</a:t>
            </a:r>
            <a:endParaRPr lang="en-US" sz="1400" dirty="0"/>
          </a:p>
        </p:txBody>
      </p:sp>
      <p:sp>
        <p:nvSpPr>
          <p:cNvPr id="10" name="Shape 8"/>
          <p:cNvSpPr/>
          <p:nvPr/>
        </p:nvSpPr>
        <p:spPr>
          <a:xfrm>
            <a:off x="548640" y="3529584"/>
            <a:ext cx="5349240" cy="1901952"/>
          </a:xfrm>
          <a:prstGeom prst="roundRect">
            <a:avLst>
              <a:gd name="adj" fmla="val 4327"/>
            </a:avLst>
          </a:prstGeom>
          <a:solidFill>
            <a:srgbClr val="E4EEE9"/>
          </a:solidFill>
          <a:ln w="12700">
            <a:solidFill>
              <a:srgbClr val="E4EEE9"/>
            </a:solidFill>
            <a:prstDash val="solid"/>
          </a:ln>
        </p:spPr>
      </p:sp>
      <p:sp>
        <p:nvSpPr>
          <p:cNvPr id="11" name="Text 9"/>
          <p:cNvSpPr txBox="1"/>
          <p:nvPr/>
        </p:nvSpPr>
        <p:spPr>
          <a:xfrm>
            <a:off x="822960" y="3675888"/>
            <a:ext cx="4754880" cy="34747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Coverage</a:t>
            </a:r>
            <a:endParaRPr lang="en-US" sz="1700" dirty="0"/>
          </a:p>
        </p:txBody>
      </p:sp>
      <p:sp>
        <p:nvSpPr>
          <p:cNvPr id="12" name="Text 10"/>
          <p:cNvSpPr txBox="1"/>
          <p:nvPr/>
        </p:nvSpPr>
        <p:spPr>
          <a:xfrm>
            <a:off x="822960" y="4078224"/>
            <a:ext cx="4846320" cy="12344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Galaxy A-series and both OS floors untested</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Multi-hour fills untested — batteries learn over days</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TestFlight and signed APK distribution not set up</a:t>
            </a:r>
            <a:endParaRPr lang="en-US" sz="1400" dirty="0"/>
          </a:p>
        </p:txBody>
      </p:sp>
      <p:sp>
        <p:nvSpPr>
          <p:cNvPr id="13" name="Shape 11"/>
          <p:cNvSpPr/>
          <p:nvPr/>
        </p:nvSpPr>
        <p:spPr>
          <a:xfrm>
            <a:off x="6263640" y="3529584"/>
            <a:ext cx="5349240" cy="1901952"/>
          </a:xfrm>
          <a:prstGeom prst="roundRect">
            <a:avLst>
              <a:gd name="adj" fmla="val 4327"/>
            </a:avLst>
          </a:prstGeom>
          <a:solidFill>
            <a:srgbClr val="E4EEE9"/>
          </a:solidFill>
          <a:ln w="12700">
            <a:solidFill>
              <a:srgbClr val="E4EEE9"/>
            </a:solidFill>
            <a:prstDash val="solid"/>
          </a:ln>
        </p:spPr>
      </p:sp>
      <p:sp>
        <p:nvSpPr>
          <p:cNvPr id="14" name="Text 12"/>
          <p:cNvSpPr txBox="1"/>
          <p:nvPr/>
        </p:nvSpPr>
        <p:spPr>
          <a:xfrm>
            <a:off x="6537960" y="3675888"/>
            <a:ext cx="4754880" cy="34747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Robustness</a:t>
            </a:r>
            <a:endParaRPr lang="en-US" sz="1700" dirty="0"/>
          </a:p>
        </p:txBody>
      </p:sp>
      <p:sp>
        <p:nvSpPr>
          <p:cNvPr id="15" name="Text 13"/>
          <p:cNvSpPr txBox="1"/>
          <p:nvPr/>
        </p:nvSpPr>
        <p:spPr>
          <a:xfrm>
            <a:off x="6537960" y="4078224"/>
            <a:ext cx="4846320" cy="12344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Resume is per-file, not per-byte, on both loaders</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Physical iPhones cannot be verified by tdg verify</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Live Photos and the 4 GB single file not built</a:t>
            </a:r>
            <a:endParaRPr lang="en-US" sz="1400" dirty="0"/>
          </a:p>
        </p:txBody>
      </p:sp>
      <p:sp>
        <p:nvSpPr>
          <p:cNvPr id="16" name="Text 14"/>
          <p:cNvSpPr txBox="1"/>
          <p:nvPr/>
        </p:nvSpPr>
        <p:spPr>
          <a:xfrm>
            <a:off x="548640" y="5669280"/>
            <a:ext cx="11064240" cy="384048"/>
          </a:xfrm>
          <a:prstGeom prst="rect">
            <a:avLst/>
          </a:prstGeom>
          <a:noFill/>
          <a:ln/>
        </p:spPr>
        <p:txBody>
          <a:bodyPr wrap="square" lIns="0" tIns="0" rIns="0" bIns="0" rtlCol="0" anchor="ctr"/>
          <a:lstStyle/>
          <a:p>
            <a:pPr indent="0" marL="0">
              <a:buNone/>
            </a:pPr>
            <a:r>
              <a:rPr lang="en-US" sz="1500" i="1" dirty="0">
                <a:solidFill>
                  <a:srgbClr val="9C4A32"/>
                </a:solidFill>
                <a:latin typeface="Cambria" pitchFamily="34" charset="0"/>
                <a:ea typeface="Cambria" pitchFamily="34" charset="-122"/>
                <a:cs typeface="Cambria" pitchFamily="34" charset="-120"/>
              </a:rPr>
              <a:t>Security is the only group that blocks use beyond a trusted lab network. The rest is packaging and coverage.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1443A"/>
        </a:solidFill>
      </p:bgPr>
    </p:bg>
    <p:spTree>
      <p:nvGrpSpPr>
        <p:cNvPr id="1" name=""/>
        <p:cNvGrpSpPr/>
        <p:nvPr/>
      </p:nvGrpSpPr>
      <p:grpSpPr>
        <a:xfrm>
          <a:off x="0" y="0"/>
          <a:ext cx="0" cy="0"/>
          <a:chOff x="0" y="0"/>
          <a:chExt cx="0" cy="0"/>
        </a:xfrm>
      </p:grpSpPr>
      <p:pic>
        <p:nvPicPr>
          <p:cNvPr id="2" name="Image 0" descr="/Users/pdoran/Documents/Claude/TestDataGenerator/assets/logo-1024.png">    </p:cNvPr>
          <p:cNvPicPr>
            <a:picLocks noChangeAspect="1"/>
          </p:cNvPicPr>
          <p:nvPr/>
        </p:nvPicPr>
        <p:blipFill>
          <a:blip r:embed="rId1"/>
          <a:stretch>
            <a:fillRect/>
          </a:stretch>
        </p:blipFill>
        <p:spPr>
          <a:xfrm>
            <a:off x="548640" y="1371600"/>
            <a:ext cx="1188720" cy="1188720"/>
          </a:xfrm>
          <a:prstGeom prst="rect">
            <a:avLst/>
          </a:prstGeom>
        </p:spPr>
      </p:pic>
      <p:sp>
        <p:nvSpPr>
          <p:cNvPr id="3" name="Text 0"/>
          <p:cNvSpPr txBox="1"/>
          <p:nvPr/>
        </p:nvSpPr>
        <p:spPr>
          <a:xfrm>
            <a:off x="548640" y="2788920"/>
            <a:ext cx="7772400" cy="594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Where it stands</a:t>
            </a:r>
            <a:endParaRPr lang="en-US" sz="4000" dirty="0"/>
          </a:p>
        </p:txBody>
      </p:sp>
      <p:sp>
        <p:nvSpPr>
          <p:cNvPr id="4" name="Text 1"/>
          <p:cNvSpPr txBox="1"/>
          <p:nvPr/>
        </p:nvSpPr>
        <p:spPr>
          <a:xfrm>
            <a:off x="548640" y="3520440"/>
            <a:ext cx="6949440" cy="1097280"/>
          </a:xfrm>
          <a:prstGeom prst="rect">
            <a:avLst/>
          </a:prstGeom>
          <a:noFill/>
          <a:ln/>
        </p:spPr>
        <p:txBody>
          <a:bodyPr wrap="square" lIns="0" tIns="0" rIns="0" bIns="0" rtlCol="0" anchor="t"/>
          <a:lstStyle/>
          <a:p>
            <a:pPr indent="0" marL="0">
              <a:lnSpc>
                <a:spcPts val="2200"/>
              </a:lnSpc>
              <a:buNone/>
            </a:pPr>
            <a:r>
              <a:rPr lang="en-US" sz="1450" dirty="0">
                <a:solidFill>
                  <a:srgbClr val="C9DBD3"/>
                </a:solidFill>
                <a:latin typeface="Calibri" pitchFamily="34" charset="0"/>
                <a:ea typeface="Calibri" pitchFamily="34" charset="-122"/>
                <a:cs typeface="Calibri" pitchFamily="34" charset="-120"/>
              </a:rPr>
              <a:t>All seven planned phases are built and pushed. The generator, the control plane and both mobile loaders work end to end on real hardware, with 190 automated checks and conformance results committed per device.</a:t>
            </a:r>
            <a:endParaRPr lang="en-US" sz="1450" dirty="0"/>
          </a:p>
        </p:txBody>
      </p:sp>
      <p:sp>
        <p:nvSpPr>
          <p:cNvPr id="5" name="Text 2"/>
          <p:cNvSpPr txBox="1"/>
          <p:nvPr/>
        </p:nvSpPr>
        <p:spPr>
          <a:xfrm>
            <a:off x="548640" y="4754880"/>
            <a:ext cx="6949440" cy="731520"/>
          </a:xfrm>
          <a:prstGeom prst="rect">
            <a:avLst/>
          </a:prstGeom>
          <a:noFill/>
          <a:ln/>
        </p:spPr>
        <p:txBody>
          <a:bodyPr wrap="square" lIns="0" tIns="0" rIns="0" bIns="0" rtlCol="0" anchor="t"/>
          <a:lstStyle/>
          <a:p>
            <a:pPr indent="0" marL="0">
              <a:lnSpc>
                <a:spcPts val="2100"/>
              </a:lnSpc>
              <a:buNone/>
            </a:pPr>
            <a:r>
              <a:rPr lang="en-US" sz="1500" i="1" dirty="0">
                <a:solidFill>
                  <a:srgbClr val="AACABD"/>
                </a:solidFill>
                <a:latin typeface="Cambria" pitchFamily="34" charset="0"/>
                <a:ea typeface="Cambria" pitchFamily="34" charset="-122"/>
                <a:cs typeface="Cambria" pitchFamily="34" charset="-120"/>
              </a:rPr>
              <a:t>The remaining work is hardening — authentication, packaging and the last of the device matrix — not new capability.</a:t>
            </a:r>
            <a:endParaRPr lang="en-US" sz="1500" dirty="0"/>
          </a:p>
        </p:txBody>
      </p:sp>
      <p:sp>
        <p:nvSpPr>
          <p:cNvPr id="6" name="Text 3"/>
          <p:cNvSpPr txBox="1"/>
          <p:nvPr/>
        </p:nvSpPr>
        <p:spPr>
          <a:xfrm>
            <a:off x="8138160" y="1572768"/>
            <a:ext cx="3474720"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Exact size</a:t>
            </a:r>
            <a:endParaRPr lang="en-US" sz="1800" dirty="0"/>
          </a:p>
        </p:txBody>
      </p:sp>
      <p:sp>
        <p:nvSpPr>
          <p:cNvPr id="7" name="Text 4"/>
          <p:cNvSpPr txBox="1"/>
          <p:nvPr/>
        </p:nvSpPr>
        <p:spPr>
          <a:xfrm>
            <a:off x="8138160" y="1938528"/>
            <a:ext cx="347472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delta 0 bytes</a:t>
            </a:r>
            <a:endParaRPr lang="en-US" sz="1400" dirty="0"/>
          </a:p>
        </p:txBody>
      </p:sp>
      <p:sp>
        <p:nvSpPr>
          <p:cNvPr id="8" name="Text 5"/>
          <p:cNvSpPr txBox="1"/>
          <p:nvPr/>
        </p:nvSpPr>
        <p:spPr>
          <a:xfrm>
            <a:off x="8138160" y="2816352"/>
            <a:ext cx="3474720"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Both platforms</a:t>
            </a:r>
            <a:endParaRPr lang="en-US" sz="1800" dirty="0"/>
          </a:p>
        </p:txBody>
      </p:sp>
      <p:sp>
        <p:nvSpPr>
          <p:cNvPr id="9" name="Text 6"/>
          <p:cNvSpPr txBox="1"/>
          <p:nvPr/>
        </p:nvSpPr>
        <p:spPr>
          <a:xfrm>
            <a:off x="8138160" y="3182112"/>
            <a:ext cx="347472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iOS and Android</a:t>
            </a:r>
            <a:endParaRPr lang="en-US" sz="1400" dirty="0"/>
          </a:p>
        </p:txBody>
      </p:sp>
      <p:sp>
        <p:nvSpPr>
          <p:cNvPr id="10" name="Text 7"/>
          <p:cNvSpPr txBox="1"/>
          <p:nvPr/>
        </p:nvSpPr>
        <p:spPr>
          <a:xfrm>
            <a:off x="8138160" y="4059936"/>
            <a:ext cx="3474720"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Reversible</a:t>
            </a:r>
            <a:endParaRPr lang="en-US" sz="1800" dirty="0"/>
          </a:p>
        </p:txBody>
      </p:sp>
      <p:sp>
        <p:nvSpPr>
          <p:cNvPr id="11" name="Text 8"/>
          <p:cNvSpPr txBox="1"/>
          <p:nvPr/>
        </p:nvSpPr>
        <p:spPr>
          <a:xfrm>
            <a:off x="8138160" y="4425696"/>
            <a:ext cx="347472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wipe from a receipt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TDG — Mobile Test Data Generator</dc:title>
  <dc:subject>PptxGenJS Presentation</dc:subject>
  <dc:creator>TDG</dc:creator>
  <cp:lastModifiedBy>TDG</cp:lastModifiedBy>
  <cp:revision>1</cp:revision>
  <dcterms:created xsi:type="dcterms:W3CDTF">2026-09-01T16:29:41Z</dcterms:created>
  <dcterms:modified xsi:type="dcterms:W3CDTF">2026-09-01T16:29:41Z</dcterms:modified>
</cp:coreProperties>
</file>